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第二章是全书最关键的一章：上下文决定 Agent 的能力上限。主线是显式管理信息——上下文等于静态前缀加动态轨迹：System Prompt 与 Tools 字节级不动，user、assistant、tool 消息持续追加在末尾；守住「前缀不改、追加末尾、标准格式」三条铁律，KV Cache 命中就能把单次请求成本降到约十分之一。机制层讲五要素、无状态 API 与缓存即架构约束；内容层讲结构化提示、注入攻防与 Skills 渐进披露；状态层讲状态栏、压缩三动机与隔离优于压缩。核心论断：上下文学习是检索而非推理，状态栏与压缩都是在给它补上提炼层。收尾钩子：仓库实验 1-1 实测双 canonical 缓存命中率 Ollama 80.6%、Kimi 48.0%，欢迎对照 docs/guide 学习路径复现。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076" y="-128587"/>
            <a:ext cx="2227924" cy="132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75"/>
              </a:lnSpc>
              <a:buNone/>
            </a:pPr>
            <a:r>
              <a:rPr lang="en-US" sz="9675" b="1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675" dirty="0"/>
          </a:p>
        </p:txBody>
      </p:sp>
      <p:sp>
        <p:nvSpPr>
          <p:cNvPr id="3" name="Shape 1"/>
          <p:cNvSpPr/>
          <p:nvPr/>
        </p:nvSpPr>
        <p:spPr>
          <a:xfrm>
            <a:off x="342900" y="1303734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1615" y="1300163"/>
            <a:ext cx="0" cy="2671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3968353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3616" y="1300163"/>
            <a:ext cx="0" cy="2671763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1488" y="2062423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488" y="2522860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488" y="2983297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488" y="3443734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0912" y="1303734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9628" y="1300163"/>
            <a:ext cx="0" cy="2671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0912" y="3968353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1628" y="1300163"/>
            <a:ext cx="0" cy="2671763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500" y="2053828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500" y="2516386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500" y="2978944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500" y="3441502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8924" y="1303734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7640" y="1300163"/>
            <a:ext cx="0" cy="267176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8924" y="3968353"/>
            <a:ext cx="276228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9640" y="1300163"/>
            <a:ext cx="0" cy="2671763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7512" y="2053828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7512" y="2516386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7512" y="2978944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7512" y="3441502"/>
            <a:ext cx="25194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8418" y="4421981"/>
            <a:ext cx="0" cy="400050"/>
          </a:xfrm>
          <a:prstGeom prst="line">
            <a:avLst/>
          </a:prstGeom>
          <a:noFill/>
          <a:ln w="7144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8983" y="4421981"/>
            <a:ext cx="0" cy="400050"/>
          </a:xfrm>
          <a:prstGeom prst="line">
            <a:avLst/>
          </a:prstGeom>
          <a:noFill/>
          <a:ln w="7144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" y="39290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4344" y="361652"/>
            <a:ext cx="2440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· CONTEXT ENGINEERING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57016" y="361652"/>
            <a:ext cx="175912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95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李博杰《深入理解 </a:t>
            </a:r>
            <a:pPr algn="l" indent="0" marL="0">
              <a:lnSpc>
                <a:spcPts val="886"/>
              </a:lnSpc>
              <a:buNone/>
            </a:pPr>
            <a:r>
              <a:rPr lang="en-US" sz="700" spc="95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886"/>
              </a:lnSpc>
              <a:buNone/>
            </a:pPr>
            <a:r>
              <a:rPr lang="en-US" sz="700" spc="95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700" spc="95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886"/>
              </a:lnSpc>
              <a:buNone/>
            </a:pPr>
            <a:r>
              <a:rPr lang="en-US" sz="700" spc="95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2900" y="528638"/>
            <a:ext cx="3951353" cy="2146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spc="15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 —— 决定 </a:t>
            </a:r>
            <a:pPr algn="l" indent="0" marL="0">
              <a:lnSpc>
                <a:spcPts val="1682"/>
              </a:lnSpc>
              <a:buNone/>
            </a:pPr>
            <a:r>
              <a:rPr lang="en-US" sz="1463" b="1" spc="15" kern="0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682"/>
              </a:lnSpc>
              <a:buNone/>
            </a:pPr>
            <a:r>
              <a:rPr lang="en-US" sz="1463" b="1" spc="15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682"/>
              </a:lnSpc>
              <a:buNone/>
            </a:pPr>
            <a:r>
              <a:rPr lang="en-US" sz="1463" b="1" spc="15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能力上限</a:t>
            </a:r>
            <a:pPr algn="l" indent="0" marL="0">
              <a:lnSpc>
                <a:spcPts val="1682"/>
              </a:lnSpc>
              <a:buNone/>
            </a:pPr>
            <a:r>
              <a:rPr lang="en-US" sz="1463" b="1" spc="15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的关键</a:t>
            </a:r>
            <a:endParaRPr lang="en-US" sz="1463" dirty="0"/>
          </a:p>
        </p:txBody>
      </p:sp>
      <p:sp>
        <p:nvSpPr>
          <p:cNvPr id="33" name="Text 31"/>
          <p:cNvSpPr/>
          <p:nvPr/>
        </p:nvSpPr>
        <p:spPr>
          <a:xfrm>
            <a:off x="342900" y="770744"/>
            <a:ext cx="376319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30" kern="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全书最关键的一章 ｜ 主线：显式管理信息 —— 静态前缀 + 动态轨迹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01868" y="460129"/>
            <a:ext cx="447377" cy="212027"/>
          </a:xfrm>
          <a:prstGeom prst="roundRect">
            <a:avLst>
              <a:gd name="adj" fmla="val 448786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01880" y="507206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64174" y="507206"/>
            <a:ext cx="21295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8306395" y="460129"/>
            <a:ext cx="494705" cy="212027"/>
          </a:xfrm>
          <a:prstGeom prst="roundRect">
            <a:avLst>
              <a:gd name="adj" fmla="val 448786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90021" y="507206"/>
            <a:ext cx="18422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16029" y="507206"/>
            <a:ext cx="21295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619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6" y="942975"/>
            <a:ext cx="1248147" cy="200025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39936" y="930974"/>
            <a:ext cx="1248147" cy="224028"/>
          </a:xfrm>
          <a:prstGeom prst="roundRect">
            <a:avLst>
              <a:gd name="adj" fmla="val 3826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25661" y="992981"/>
            <a:ext cx="119099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(o₁, a₁, …, o 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913061" y="997893"/>
            <a:ext cx="91440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84833" y="978694"/>
            <a:ext cx="7762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778905" y="997893"/>
            <a:ext cx="12345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045233" y="957263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54" y="942975"/>
            <a:ext cx="2307208" cy="200025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2174825" y="946547"/>
            <a:ext cx="2300064" cy="192881"/>
          </a:xfrm>
          <a:prstGeom prst="roundRect">
            <a:avLst>
              <a:gd name="adj" fmla="val 444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2723108" y="992981"/>
            <a:ext cx="178392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+ Tools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2256979" y="978694"/>
            <a:ext cx="5488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静态前缀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2635709" y="978694"/>
            <a:ext cx="1189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3830409" y="984052"/>
            <a:ext cx="5745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（字节级不动）</a:t>
            </a:r>
            <a:endParaRPr lang="en-US" sz="619" dirty="0"/>
          </a:p>
        </p:txBody>
      </p:sp>
      <p:sp>
        <p:nvSpPr>
          <p:cNvPr id="53" name="Text 49"/>
          <p:cNvSpPr/>
          <p:nvPr/>
        </p:nvSpPr>
        <p:spPr>
          <a:xfrm>
            <a:off x="4535612" y="962620"/>
            <a:ext cx="10322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44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279" y="942975"/>
            <a:ext cx="2003264" cy="200025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4660850" y="946547"/>
            <a:ext cx="1996120" cy="192881"/>
          </a:xfrm>
          <a:prstGeom prst="roundRect">
            <a:avLst>
              <a:gd name="adj" fmla="val 444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5037683" y="992981"/>
            <a:ext cx="165143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/ assistant / tool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4743004" y="978694"/>
            <a:ext cx="27449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4950284" y="978694"/>
            <a:ext cx="12923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6218451" y="984052"/>
            <a:ext cx="39840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持续追加</a:t>
            </a:r>
            <a:endParaRPr lang="en-US" sz="619" dirty="0"/>
          </a:p>
        </p:txBody>
      </p:sp>
      <p:sp>
        <p:nvSpPr>
          <p:cNvPr id="60" name="Text 55"/>
          <p:cNvSpPr/>
          <p:nvPr/>
        </p:nvSpPr>
        <p:spPr>
          <a:xfrm>
            <a:off x="6717692" y="957263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6847284" y="946547"/>
            <a:ext cx="1553208" cy="192881"/>
          </a:xfrm>
          <a:prstGeom prst="roundRect">
            <a:avLst>
              <a:gd name="adj" fmla="val 44445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7058025" y="992981"/>
            <a:ext cx="174307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KV Cache × 1/10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6929438" y="99655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sp>
        <p:nvSpPr>
          <p:cNvPr id="64" name="Text 59"/>
          <p:cNvSpPr/>
          <p:nvPr/>
        </p:nvSpPr>
        <p:spPr>
          <a:xfrm>
            <a:off x="7506630" y="978694"/>
            <a:ext cx="27449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7713911" y="978694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7801310" y="978694"/>
            <a:ext cx="5170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700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300163"/>
            <a:ext cx="2762287" cy="2671763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471488" y="140642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69" name="Text 63"/>
          <p:cNvSpPr/>
          <p:nvPr/>
        </p:nvSpPr>
        <p:spPr>
          <a:xfrm>
            <a:off x="635794" y="1385888"/>
            <a:ext cx="2355093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9" b="1" spc="38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机制层 · </a:t>
            </a:r>
            <a:pPr algn="l" indent="0" marL="0">
              <a:lnSpc>
                <a:spcPts val="1200"/>
              </a:lnSpc>
              <a:buNone/>
            </a:pPr>
            <a:r>
              <a:rPr lang="en-US" sz="800" b="1" spc="38" kern="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Cache</a:t>
            </a:r>
            <a:endParaRPr lang="en-US" sz="759" dirty="0"/>
          </a:p>
        </p:txBody>
      </p:sp>
      <p:sp>
        <p:nvSpPr>
          <p:cNvPr id="70" name="Text 64"/>
          <p:cNvSpPr/>
          <p:nvPr/>
        </p:nvSpPr>
        <p:spPr>
          <a:xfrm>
            <a:off x="471488" y="1591270"/>
            <a:ext cx="25194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 rot="2700000">
            <a:off x="464090" y="1806892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571500" y="1705459"/>
            <a:ext cx="2419387" cy="29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四种消息角色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/ user / assistant / tool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＋ 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字段 = </a:t>
            </a:r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上下文五要素</a:t>
            </a:r>
            <a:endParaRPr lang="en-US" sz="647" dirty="0"/>
          </a:p>
        </p:txBody>
      </p:sp>
      <p:sp>
        <p:nvSpPr>
          <p:cNvPr id="73" name="Text 67"/>
          <p:cNvSpPr/>
          <p:nvPr/>
        </p:nvSpPr>
        <p:spPr>
          <a:xfrm rot="2700000">
            <a:off x="464090" y="2267329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8"/>
          <p:cNvSpPr/>
          <p:nvPr/>
        </p:nvSpPr>
        <p:spPr>
          <a:xfrm>
            <a:off x="571500" y="2227511"/>
            <a:ext cx="2419387" cy="15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无状态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：每轮重建完整上下文，框架只管理 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列表</a:t>
            </a:r>
            <a:endParaRPr lang="en-US" sz="647" dirty="0"/>
          </a:p>
        </p:txBody>
      </p:sp>
      <p:sp>
        <p:nvSpPr>
          <p:cNvPr id="75" name="Text 69"/>
          <p:cNvSpPr/>
          <p:nvPr/>
        </p:nvSpPr>
        <p:spPr>
          <a:xfrm rot="2700000">
            <a:off x="464090" y="2727766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571500" y="2691408"/>
            <a:ext cx="241938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三条铁律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：静态前缀不改 · 动态追加末尾 · 标准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格式</a:t>
            </a:r>
            <a:endParaRPr lang="en-US" sz="647" dirty="0"/>
          </a:p>
        </p:txBody>
      </p:sp>
      <p:sp>
        <p:nvSpPr>
          <p:cNvPr id="77" name="Text 71"/>
          <p:cNvSpPr/>
          <p:nvPr/>
        </p:nvSpPr>
        <p:spPr>
          <a:xfrm rot="2700000">
            <a:off x="464090" y="3188203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2"/>
          <p:cNvSpPr/>
          <p:nvPr/>
        </p:nvSpPr>
        <p:spPr>
          <a:xfrm>
            <a:off x="571500" y="3148385"/>
            <a:ext cx="2419387" cy="15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b="1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Cache</a:t>
            </a:r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管单次请求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Cache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管跨请求前缀</a:t>
            </a:r>
            <a:endParaRPr lang="en-US" sz="700" dirty="0"/>
          </a:p>
        </p:txBody>
      </p:sp>
      <p:sp>
        <p:nvSpPr>
          <p:cNvPr id="79" name="Text 73"/>
          <p:cNvSpPr/>
          <p:nvPr/>
        </p:nvSpPr>
        <p:spPr>
          <a:xfrm rot="2700000">
            <a:off x="464090" y="3648640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4"/>
          <p:cNvSpPr/>
          <p:nvPr/>
        </p:nvSpPr>
        <p:spPr>
          <a:xfrm>
            <a:off x="571500" y="3550667"/>
            <a:ext cx="241938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缓存即架构约束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：缓存边界定结构 · 子 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字节级对齐 · 只追加不改写</a:t>
            </a:r>
            <a:endParaRPr lang="en-US" sz="700" dirty="0"/>
          </a:p>
        </p:txBody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912" y="1300163"/>
            <a:ext cx="2762287" cy="2671763"/>
          </a:xfrm>
          <a:prstGeom prst="rect">
            <a:avLst/>
          </a:prstGeom>
        </p:spPr>
      </p:pic>
      <p:sp>
        <p:nvSpPr>
          <p:cNvPr id="82" name="Text 75"/>
          <p:cNvSpPr/>
          <p:nvPr/>
        </p:nvSpPr>
        <p:spPr>
          <a:xfrm>
            <a:off x="3319500" y="140106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125" dirty="0"/>
          </a:p>
        </p:txBody>
      </p:sp>
      <p:sp>
        <p:nvSpPr>
          <p:cNvPr id="83" name="Text 76"/>
          <p:cNvSpPr/>
          <p:nvPr/>
        </p:nvSpPr>
        <p:spPr>
          <a:xfrm>
            <a:off x="3483806" y="1385888"/>
            <a:ext cx="235509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spc="38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内容设计层 · 提示 / 注入 / </a:t>
            </a:r>
            <a:pPr algn="l" indent="0" marL="0">
              <a:lnSpc>
                <a:spcPts val="1139"/>
              </a:lnSpc>
              <a:buNone/>
            </a:pPr>
            <a:r>
              <a:rPr lang="en-US" sz="759" b="1" spc="38" kern="0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Skills</a:t>
            </a:r>
            <a:endParaRPr lang="en-US" sz="759" dirty="0"/>
          </a:p>
        </p:txBody>
      </p:sp>
      <p:sp>
        <p:nvSpPr>
          <p:cNvPr id="84" name="Text 77"/>
          <p:cNvSpPr/>
          <p:nvPr/>
        </p:nvSpPr>
        <p:spPr>
          <a:xfrm>
            <a:off x="3319500" y="1580555"/>
            <a:ext cx="25194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8"/>
          <p:cNvSpPr/>
          <p:nvPr/>
        </p:nvSpPr>
        <p:spPr>
          <a:xfrm rot="2700000">
            <a:off x="3312102" y="1797292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3419512" y="1695859"/>
            <a:ext cx="2419387" cy="29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结构化提示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管语义、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管可读；流程驱动 &gt; 规则堆砌</a:t>
            </a:r>
            <a:endParaRPr lang="en-US" sz="647" dirty="0"/>
          </a:p>
        </p:txBody>
      </p:sp>
      <p:sp>
        <p:nvSpPr>
          <p:cNvPr id="87" name="Text 80"/>
          <p:cNvSpPr/>
          <p:nvPr/>
        </p:nvSpPr>
        <p:spPr>
          <a:xfrm rot="2700000">
            <a:off x="3312102" y="2259850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3419512" y="2158305"/>
            <a:ext cx="2419387" cy="29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消融排序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：信息组织（成功率 </a:t>
            </a:r>
            <a:pPr algn="l" indent="0" marL="0">
              <a:lnSpc>
                <a:spcPts val="1109"/>
              </a:lnSpc>
              <a:buNone/>
            </a:pPr>
            <a:r>
              <a:rPr lang="en-US" sz="800" b="1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−30%+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&gt; 工具描述（错误 </a:t>
            </a:r>
            <a:pPr algn="l" indent="0" marL="0">
              <a:lnSpc>
                <a:spcPts val="1109"/>
              </a:lnSpc>
              <a:buNone/>
            </a:pPr>
            <a:r>
              <a:rPr lang="en-US" sz="800" b="1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+45%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&gt; 语气（有限）</a:t>
            </a:r>
            <a:endParaRPr lang="en-US" sz="700" dirty="0"/>
          </a:p>
        </p:txBody>
      </p:sp>
      <p:sp>
        <p:nvSpPr>
          <p:cNvPr id="89" name="Text 82"/>
          <p:cNvSpPr/>
          <p:nvPr/>
        </p:nvSpPr>
        <p:spPr>
          <a:xfrm rot="2700000">
            <a:off x="3312102" y="2722408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3"/>
          <p:cNvSpPr/>
          <p:nvPr/>
        </p:nvSpPr>
        <p:spPr>
          <a:xfrm>
            <a:off x="3419512" y="2624435"/>
            <a:ext cx="241938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提示注入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：指令与数据分离 · 来源标记 —— 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与状态栏是新的注入面</a:t>
            </a:r>
            <a:endParaRPr lang="en-US" sz="700" dirty="0"/>
          </a:p>
        </p:txBody>
      </p:sp>
      <p:sp>
        <p:nvSpPr>
          <p:cNvPr id="91" name="Text 84"/>
          <p:cNvSpPr/>
          <p:nvPr/>
        </p:nvSpPr>
        <p:spPr>
          <a:xfrm rot="2700000">
            <a:off x="3312102" y="3184966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3419512" y="3148608"/>
            <a:ext cx="241938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Skills</a:t>
            </a:r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渐进式披露三层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：元数据目录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22D3EE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正文 </a:t>
            </a:r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22D3EE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细则</a:t>
            </a:r>
            <a:endParaRPr lang="en-US" sz="700" dirty="0"/>
          </a:p>
        </p:txBody>
      </p:sp>
      <p:sp>
        <p:nvSpPr>
          <p:cNvPr id="93" name="Text 86"/>
          <p:cNvSpPr/>
          <p:nvPr/>
        </p:nvSpPr>
        <p:spPr>
          <a:xfrm rot="2700000">
            <a:off x="3312102" y="3647524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87"/>
          <p:cNvSpPr/>
          <p:nvPr/>
        </p:nvSpPr>
        <p:spPr>
          <a:xfrm>
            <a:off x="3419512" y="3546091"/>
            <a:ext cx="2419387" cy="29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39" b="1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写成路由条件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；少量常驻、按需加载，不破坏缓存前缀</a:t>
            </a:r>
            <a:endParaRPr lang="en-US" sz="647" dirty="0"/>
          </a:p>
        </p:txBody>
      </p:sp>
      <p:pic>
        <p:nvPicPr>
          <p:cNvPr id="9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924" y="1300163"/>
            <a:ext cx="2762287" cy="2671763"/>
          </a:xfrm>
          <a:prstGeom prst="rect">
            <a:avLst/>
          </a:prstGeom>
        </p:spPr>
      </p:pic>
      <p:sp>
        <p:nvSpPr>
          <p:cNvPr id="96" name="Text 88"/>
          <p:cNvSpPr/>
          <p:nvPr/>
        </p:nvSpPr>
        <p:spPr>
          <a:xfrm>
            <a:off x="6167512" y="140106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97" name="Text 89"/>
          <p:cNvSpPr/>
          <p:nvPr/>
        </p:nvSpPr>
        <p:spPr>
          <a:xfrm>
            <a:off x="6331818" y="1385888"/>
            <a:ext cx="235509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spc="38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状态与减法 · 状态栏 / 压缩</a:t>
            </a:r>
            <a:endParaRPr lang="en-US" sz="759" dirty="0"/>
          </a:p>
        </p:txBody>
      </p:sp>
      <p:sp>
        <p:nvSpPr>
          <p:cNvPr id="98" name="Text 90"/>
          <p:cNvSpPr/>
          <p:nvPr/>
        </p:nvSpPr>
        <p:spPr>
          <a:xfrm>
            <a:off x="6167512" y="1580555"/>
            <a:ext cx="25194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1"/>
          <p:cNvSpPr/>
          <p:nvPr/>
        </p:nvSpPr>
        <p:spPr>
          <a:xfrm rot="2700000">
            <a:off x="6160114" y="1797292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2"/>
          <p:cNvSpPr/>
          <p:nvPr/>
        </p:nvSpPr>
        <p:spPr>
          <a:xfrm>
            <a:off x="6267524" y="1760934"/>
            <a:ext cx="241938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上下文学习 = 检索而非推理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——「只有一半的检索引擎」缺提炼层</a:t>
            </a:r>
            <a:endParaRPr lang="en-US" sz="647" dirty="0"/>
          </a:p>
        </p:txBody>
      </p:sp>
      <p:sp>
        <p:nvSpPr>
          <p:cNvPr id="101" name="Text 93"/>
          <p:cNvSpPr/>
          <p:nvPr/>
        </p:nvSpPr>
        <p:spPr>
          <a:xfrm rot="2700000">
            <a:off x="6160114" y="2259850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4"/>
          <p:cNvSpPr/>
          <p:nvPr/>
        </p:nvSpPr>
        <p:spPr>
          <a:xfrm>
            <a:off x="6267524" y="2220032"/>
            <a:ext cx="2419387" cy="15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状态栏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把隐式状态算成显式知识，以 </a:t>
            </a:r>
            <a:pPr algn="l" indent="0" marL="0">
              <a:lnSpc>
                <a:spcPts val="1109"/>
              </a:lnSpc>
              <a:buNone/>
            </a:pPr>
            <a:r>
              <a:rPr lang="en-US" sz="739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algn="l" indent="0" marL="0">
              <a:lnSpc>
                <a:spcPts val="1109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消息追加在末尾</a:t>
            </a:r>
            <a:endParaRPr lang="en-US" sz="647" dirty="0"/>
          </a:p>
        </p:txBody>
      </p:sp>
      <p:sp>
        <p:nvSpPr>
          <p:cNvPr id="103" name="Text 95"/>
          <p:cNvSpPr/>
          <p:nvPr/>
        </p:nvSpPr>
        <p:spPr>
          <a:xfrm rot="2700000">
            <a:off x="6160114" y="2722408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6"/>
          <p:cNvSpPr/>
          <p:nvPr/>
        </p:nvSpPr>
        <p:spPr>
          <a:xfrm>
            <a:off x="6267524" y="2682590"/>
            <a:ext cx="2419387" cy="15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每轮替换 </a:t>
            </a:r>
            <a:pPr algn="l" indent="0" marL="0">
              <a:lnSpc>
                <a:spcPts val="1109"/>
              </a:lnSpc>
              <a:buNone/>
            </a:pPr>
            <a:r>
              <a:rPr lang="en-US" sz="800" b="1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pPr algn="l" indent="0" marL="0">
              <a:lnSpc>
                <a:spcPts val="110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持久追加</a:t>
            </a:r>
            <a:pPr algn="l" indent="0" marL="0">
              <a:lnSpc>
                <a:spcPts val="1109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：缓存代价与陈旧累积的权衡</a:t>
            </a:r>
            <a:endParaRPr lang="en-US" sz="700" dirty="0"/>
          </a:p>
        </p:txBody>
      </p:sp>
      <p:sp>
        <p:nvSpPr>
          <p:cNvPr id="105" name="Text 97"/>
          <p:cNvSpPr/>
          <p:nvPr/>
        </p:nvSpPr>
        <p:spPr>
          <a:xfrm rot="2700000">
            <a:off x="6160114" y="3184966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98"/>
          <p:cNvSpPr/>
          <p:nvPr/>
        </p:nvSpPr>
        <p:spPr>
          <a:xfrm>
            <a:off x="6267524" y="3086993"/>
            <a:ext cx="241938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压缩三动机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：长度成本 · 思考质量 · 上下文焦虑；腐化 = 装得下但找不到</a:t>
            </a:r>
            <a:endParaRPr lang="en-US" sz="700" dirty="0"/>
          </a:p>
        </p:txBody>
      </p:sp>
      <p:sp>
        <p:nvSpPr>
          <p:cNvPr id="107" name="Text 99"/>
          <p:cNvSpPr/>
          <p:nvPr/>
        </p:nvSpPr>
        <p:spPr>
          <a:xfrm rot="2700000">
            <a:off x="6160114" y="3647524"/>
            <a:ext cx="50514" cy="50514"/>
          </a:xfrm>
          <a:prstGeom prst="roundRect">
            <a:avLst>
              <a:gd name="adj" fmla="val 28284"/>
            </a:avLst>
          </a:prstGeom>
          <a:solidFill>
            <a:srgbClr val="22D3EE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0"/>
          <p:cNvSpPr/>
          <p:nvPr/>
        </p:nvSpPr>
        <p:spPr>
          <a:xfrm>
            <a:off x="6267524" y="3611166"/>
            <a:ext cx="2419387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隔离优于压缩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：子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让海量中间结果根本不进主上下文</a:t>
            </a:r>
            <a:endParaRPr lang="en-US" sz="647" dirty="0"/>
          </a:p>
        </p:txBody>
      </p:sp>
      <p:sp>
        <p:nvSpPr>
          <p:cNvPr id="109" name="Text 101"/>
          <p:cNvSpPr/>
          <p:nvPr/>
        </p:nvSpPr>
        <p:spPr>
          <a:xfrm>
            <a:off x="342900" y="4101370"/>
            <a:ext cx="800546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2"/>
          <p:cNvSpPr/>
          <p:nvPr/>
        </p:nvSpPr>
        <p:spPr>
          <a:xfrm>
            <a:off x="391336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2-1</a:t>
            </a:r>
            <a:endParaRPr lang="en-US" sz="800" dirty="0"/>
          </a:p>
        </p:txBody>
      </p:sp>
      <p:sp>
        <p:nvSpPr>
          <p:cNvPr id="111" name="Text 103"/>
          <p:cNvSpPr/>
          <p:nvPr/>
        </p:nvSpPr>
        <p:spPr>
          <a:xfrm>
            <a:off x="557659" y="4139803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112" name="Text 104"/>
          <p:cNvSpPr/>
          <p:nvPr/>
        </p:nvSpPr>
        <p:spPr>
          <a:xfrm>
            <a:off x="581757" y="4139803"/>
            <a:ext cx="566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本地工具调用</a:t>
            </a:r>
            <a:endParaRPr lang="en-US" sz="600" dirty="0"/>
          </a:p>
        </p:txBody>
      </p:sp>
      <p:sp>
        <p:nvSpPr>
          <p:cNvPr id="113" name="Text 105"/>
          <p:cNvSpPr/>
          <p:nvPr/>
        </p:nvSpPr>
        <p:spPr>
          <a:xfrm>
            <a:off x="1193899" y="4101370"/>
            <a:ext cx="800546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06"/>
          <p:cNvSpPr/>
          <p:nvPr/>
        </p:nvSpPr>
        <p:spPr>
          <a:xfrm>
            <a:off x="1242335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2-2</a:t>
            </a:r>
            <a:endParaRPr lang="en-US" sz="800" dirty="0"/>
          </a:p>
        </p:txBody>
      </p:sp>
      <p:sp>
        <p:nvSpPr>
          <p:cNvPr id="115" name="Text 107"/>
          <p:cNvSpPr/>
          <p:nvPr/>
        </p:nvSpPr>
        <p:spPr>
          <a:xfrm>
            <a:off x="1408658" y="4139803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00" dirty="0"/>
          </a:p>
        </p:txBody>
      </p:sp>
      <p:sp>
        <p:nvSpPr>
          <p:cNvPr id="116" name="Text 108"/>
          <p:cNvSpPr/>
          <p:nvPr/>
        </p:nvSpPr>
        <p:spPr>
          <a:xfrm>
            <a:off x="1432756" y="4139803"/>
            <a:ext cx="566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注意力可视化</a:t>
            </a:r>
            <a:endParaRPr lang="en-US" sz="600" dirty="0"/>
          </a:p>
        </p:txBody>
      </p:sp>
      <p:sp>
        <p:nvSpPr>
          <p:cNvPr id="117" name="Text 109"/>
          <p:cNvSpPr/>
          <p:nvPr/>
        </p:nvSpPr>
        <p:spPr>
          <a:xfrm>
            <a:off x="2044898" y="4101370"/>
            <a:ext cx="729109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0"/>
          <p:cNvSpPr/>
          <p:nvPr/>
        </p:nvSpPr>
        <p:spPr>
          <a:xfrm>
            <a:off x="2093334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2-3</a:t>
            </a:r>
            <a:endParaRPr lang="en-US" sz="800" dirty="0"/>
          </a:p>
        </p:txBody>
      </p:sp>
      <p:sp>
        <p:nvSpPr>
          <p:cNvPr id="119" name="Text 111"/>
          <p:cNvSpPr/>
          <p:nvPr/>
        </p:nvSpPr>
        <p:spPr>
          <a:xfrm>
            <a:off x="2259657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20" name="Text 112"/>
          <p:cNvSpPr/>
          <p:nvPr/>
        </p:nvSpPr>
        <p:spPr>
          <a:xfrm>
            <a:off x="2373672" y="4139803"/>
            <a:ext cx="3863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错误模式</a:t>
            </a:r>
            <a:endParaRPr lang="en-US" sz="600" dirty="0"/>
          </a:p>
        </p:txBody>
      </p:sp>
      <p:sp>
        <p:nvSpPr>
          <p:cNvPr id="121" name="Text 113"/>
          <p:cNvSpPr/>
          <p:nvPr/>
        </p:nvSpPr>
        <p:spPr>
          <a:xfrm>
            <a:off x="2824460" y="4101370"/>
            <a:ext cx="729109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14"/>
          <p:cNvSpPr/>
          <p:nvPr/>
        </p:nvSpPr>
        <p:spPr>
          <a:xfrm>
            <a:off x="2872896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2-4</a:t>
            </a:r>
            <a:endParaRPr lang="en-US" sz="800" dirty="0"/>
          </a:p>
        </p:txBody>
      </p:sp>
      <p:sp>
        <p:nvSpPr>
          <p:cNvPr id="123" name="Text 115"/>
          <p:cNvSpPr/>
          <p:nvPr/>
        </p:nvSpPr>
        <p:spPr>
          <a:xfrm>
            <a:off x="3039219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24" name="Text 116"/>
          <p:cNvSpPr/>
          <p:nvPr/>
        </p:nvSpPr>
        <p:spPr>
          <a:xfrm>
            <a:off x="3153233" y="4139803"/>
            <a:ext cx="3863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提示消融</a:t>
            </a:r>
            <a:endParaRPr lang="en-US" sz="600" dirty="0"/>
          </a:p>
        </p:txBody>
      </p:sp>
      <p:sp>
        <p:nvSpPr>
          <p:cNvPr id="125" name="Text 117"/>
          <p:cNvSpPr/>
          <p:nvPr/>
        </p:nvSpPr>
        <p:spPr>
          <a:xfrm>
            <a:off x="3604022" y="4101370"/>
            <a:ext cx="729109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18"/>
          <p:cNvSpPr/>
          <p:nvPr/>
        </p:nvSpPr>
        <p:spPr>
          <a:xfrm>
            <a:off x="3652457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2-5</a:t>
            </a:r>
            <a:endParaRPr lang="en-US" sz="800" dirty="0"/>
          </a:p>
        </p:txBody>
      </p:sp>
      <p:sp>
        <p:nvSpPr>
          <p:cNvPr id="127" name="Text 119"/>
          <p:cNvSpPr/>
          <p:nvPr/>
        </p:nvSpPr>
        <p:spPr>
          <a:xfrm>
            <a:off x="3818781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28" name="Text 120"/>
          <p:cNvSpPr/>
          <p:nvPr/>
        </p:nvSpPr>
        <p:spPr>
          <a:xfrm>
            <a:off x="3932795" y="4139803"/>
            <a:ext cx="3863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注入攻防</a:t>
            </a:r>
            <a:endParaRPr lang="en-US" sz="600" dirty="0"/>
          </a:p>
        </p:txBody>
      </p:sp>
      <p:sp>
        <p:nvSpPr>
          <p:cNvPr id="129" name="Text 121"/>
          <p:cNvSpPr/>
          <p:nvPr/>
        </p:nvSpPr>
        <p:spPr>
          <a:xfrm>
            <a:off x="4383584" y="4101370"/>
            <a:ext cx="796193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22"/>
          <p:cNvSpPr/>
          <p:nvPr/>
        </p:nvSpPr>
        <p:spPr>
          <a:xfrm>
            <a:off x="4432019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2-6</a:t>
            </a:r>
            <a:endParaRPr lang="en-US" sz="800" dirty="0"/>
          </a:p>
        </p:txBody>
      </p:sp>
      <p:sp>
        <p:nvSpPr>
          <p:cNvPr id="131" name="Text 123"/>
          <p:cNvSpPr/>
          <p:nvPr/>
        </p:nvSpPr>
        <p:spPr>
          <a:xfrm>
            <a:off x="4598343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32" name="Text 124"/>
          <p:cNvSpPr/>
          <p:nvPr/>
        </p:nvSpPr>
        <p:spPr>
          <a:xfrm>
            <a:off x="4731962" y="4139803"/>
            <a:ext cx="414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论文→</a:t>
            </a:r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PPT</a:t>
            </a:r>
            <a:endParaRPr lang="en-US" sz="600" dirty="0"/>
          </a:p>
        </p:txBody>
      </p:sp>
      <p:sp>
        <p:nvSpPr>
          <p:cNvPr id="133" name="Text 125"/>
          <p:cNvSpPr/>
          <p:nvPr/>
        </p:nvSpPr>
        <p:spPr>
          <a:xfrm>
            <a:off x="5230230" y="4101370"/>
            <a:ext cx="759693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Text 126"/>
          <p:cNvSpPr/>
          <p:nvPr/>
        </p:nvSpPr>
        <p:spPr>
          <a:xfrm>
            <a:off x="5278665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2-7</a:t>
            </a:r>
            <a:endParaRPr lang="en-US" sz="800" dirty="0"/>
          </a:p>
        </p:txBody>
      </p:sp>
      <p:sp>
        <p:nvSpPr>
          <p:cNvPr id="135" name="Text 127"/>
          <p:cNvSpPr/>
          <p:nvPr/>
        </p:nvSpPr>
        <p:spPr>
          <a:xfrm>
            <a:off x="5444989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36" name="Text 128"/>
          <p:cNvSpPr/>
          <p:nvPr/>
        </p:nvSpPr>
        <p:spPr>
          <a:xfrm>
            <a:off x="5530236" y="4139803"/>
            <a:ext cx="47445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 </a:t>
            </a:r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</a:t>
            </a:r>
            <a:endParaRPr lang="en-US" sz="600" dirty="0"/>
          </a:p>
        </p:txBody>
      </p:sp>
      <p:sp>
        <p:nvSpPr>
          <p:cNvPr id="137" name="Text 129"/>
          <p:cNvSpPr/>
          <p:nvPr/>
        </p:nvSpPr>
        <p:spPr>
          <a:xfrm>
            <a:off x="6040375" y="4101370"/>
            <a:ext cx="871984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Text 130"/>
          <p:cNvSpPr/>
          <p:nvPr/>
        </p:nvSpPr>
        <p:spPr>
          <a:xfrm>
            <a:off x="6088811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2-8</a:t>
            </a:r>
            <a:endParaRPr lang="en-US" sz="800" dirty="0"/>
          </a:p>
        </p:txBody>
      </p:sp>
      <p:sp>
        <p:nvSpPr>
          <p:cNvPr id="139" name="Text 131"/>
          <p:cNvSpPr/>
          <p:nvPr/>
        </p:nvSpPr>
        <p:spPr>
          <a:xfrm>
            <a:off x="6255134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40" name="Text 132"/>
          <p:cNvSpPr/>
          <p:nvPr/>
        </p:nvSpPr>
        <p:spPr>
          <a:xfrm>
            <a:off x="6350670" y="4139803"/>
            <a:ext cx="566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状态栏注意力</a:t>
            </a:r>
            <a:endParaRPr lang="en-US" sz="600" dirty="0"/>
          </a:p>
        </p:txBody>
      </p:sp>
      <p:sp>
        <p:nvSpPr>
          <p:cNvPr id="141" name="Text 133"/>
          <p:cNvSpPr/>
          <p:nvPr/>
        </p:nvSpPr>
        <p:spPr>
          <a:xfrm>
            <a:off x="6962812" y="4101370"/>
            <a:ext cx="800546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34"/>
          <p:cNvSpPr/>
          <p:nvPr/>
        </p:nvSpPr>
        <p:spPr>
          <a:xfrm>
            <a:off x="7011248" y="4139803"/>
            <a:ext cx="2381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2-9</a:t>
            </a:r>
            <a:endParaRPr lang="en-US" sz="800" dirty="0"/>
          </a:p>
        </p:txBody>
      </p:sp>
      <p:sp>
        <p:nvSpPr>
          <p:cNvPr id="143" name="Text 135"/>
          <p:cNvSpPr/>
          <p:nvPr/>
        </p:nvSpPr>
        <p:spPr>
          <a:xfrm>
            <a:off x="7177571" y="4139803"/>
            <a:ext cx="142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endParaRPr lang="en-US" sz="800" dirty="0"/>
          </a:p>
        </p:txBody>
      </p:sp>
      <p:sp>
        <p:nvSpPr>
          <p:cNvPr id="144" name="Text 136"/>
          <p:cNvSpPr/>
          <p:nvPr/>
        </p:nvSpPr>
        <p:spPr>
          <a:xfrm>
            <a:off x="7282346" y="4139803"/>
            <a:ext cx="476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状态栏技术</a:t>
            </a:r>
            <a:endParaRPr lang="en-US" sz="600" dirty="0"/>
          </a:p>
        </p:txBody>
      </p:sp>
      <p:sp>
        <p:nvSpPr>
          <p:cNvPr id="145" name="Text 137"/>
          <p:cNvSpPr/>
          <p:nvPr/>
        </p:nvSpPr>
        <p:spPr>
          <a:xfrm>
            <a:off x="7813811" y="4101370"/>
            <a:ext cx="986507" cy="184023"/>
          </a:xfrm>
          <a:prstGeom prst="roundRect">
            <a:avLst>
              <a:gd name="adj" fmla="val 5170807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Text 138"/>
          <p:cNvSpPr/>
          <p:nvPr/>
        </p:nvSpPr>
        <p:spPr>
          <a:xfrm>
            <a:off x="7859550" y="4139803"/>
            <a:ext cx="3125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2-10</a:t>
            </a:r>
            <a:endParaRPr lang="en-US" sz="800" dirty="0"/>
          </a:p>
        </p:txBody>
      </p:sp>
      <p:sp>
        <p:nvSpPr>
          <p:cNvPr id="147" name="Text 139"/>
          <p:cNvSpPr/>
          <p:nvPr/>
        </p:nvSpPr>
        <p:spPr>
          <a:xfrm>
            <a:off x="8071656" y="4139803"/>
            <a:ext cx="2143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</a:t>
            </a:r>
            <a:endParaRPr lang="en-US" sz="800" dirty="0"/>
          </a:p>
        </p:txBody>
      </p:sp>
      <p:sp>
        <p:nvSpPr>
          <p:cNvPr id="148" name="Text 140"/>
          <p:cNvSpPr/>
          <p:nvPr/>
        </p:nvSpPr>
        <p:spPr>
          <a:xfrm>
            <a:off x="8238629" y="4139803"/>
            <a:ext cx="566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六种压缩策略</a:t>
            </a:r>
            <a:endParaRPr lang="en-US" sz="600" dirty="0"/>
          </a:p>
        </p:txBody>
      </p:sp>
      <p:pic>
        <p:nvPicPr>
          <p:cNvPr id="1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4414838"/>
            <a:ext cx="8458200" cy="414338"/>
          </a:xfrm>
          <a:prstGeom prst="rect">
            <a:avLst/>
          </a:prstGeom>
        </p:spPr>
      </p:pic>
      <p:sp>
        <p:nvSpPr>
          <p:cNvPr id="150" name="Text 141"/>
          <p:cNvSpPr/>
          <p:nvPr/>
        </p:nvSpPr>
        <p:spPr>
          <a:xfrm>
            <a:off x="346472" y="4418409"/>
            <a:ext cx="8451056" cy="407194"/>
          </a:xfrm>
          <a:prstGeom prst="roundRect">
            <a:avLst>
              <a:gd name="adj" fmla="val 32749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Text 142"/>
          <p:cNvSpPr/>
          <p:nvPr/>
        </p:nvSpPr>
        <p:spPr>
          <a:xfrm>
            <a:off x="563687" y="450770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055" dirty="0"/>
          </a:p>
        </p:txBody>
      </p:sp>
      <p:sp>
        <p:nvSpPr>
          <p:cNvPr id="152" name="Text 143"/>
          <p:cNvSpPr/>
          <p:nvPr/>
        </p:nvSpPr>
        <p:spPr>
          <a:xfrm>
            <a:off x="457200" y="4629150"/>
            <a:ext cx="51220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b="1" spc="68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核心论断</a:t>
            </a:r>
            <a:endParaRPr lang="en-US" sz="700" dirty="0"/>
          </a:p>
        </p:txBody>
      </p:sp>
      <p:sp>
        <p:nvSpPr>
          <p:cNvPr id="153" name="Text 144"/>
          <p:cNvSpPr/>
          <p:nvPr/>
        </p:nvSpPr>
        <p:spPr>
          <a:xfrm>
            <a:off x="841623" y="4510274"/>
            <a:ext cx="2120354" cy="27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上下文学习是</a:t>
            </a:r>
            <a:pPr algn="l" indent="0" marL="0">
              <a:lnSpc>
                <a:spcPts val="881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检索而非推理</a:t>
            </a:r>
            <a:pPr algn="l" indent="0" marL="0">
              <a:lnSpc>
                <a:spcPts val="88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状态栏与压缩都是在给「只有一半的检索引擎」补上提炼层</a:t>
            </a:r>
            <a:endParaRPr lang="en-US" sz="700" dirty="0"/>
          </a:p>
        </p:txBody>
      </p:sp>
      <p:sp>
        <p:nvSpPr>
          <p:cNvPr id="154" name="Text 145"/>
          <p:cNvSpPr/>
          <p:nvPr/>
        </p:nvSpPr>
        <p:spPr>
          <a:xfrm>
            <a:off x="3261345" y="450770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155" name="Text 146"/>
          <p:cNvSpPr/>
          <p:nvPr/>
        </p:nvSpPr>
        <p:spPr>
          <a:xfrm>
            <a:off x="3154859" y="4629150"/>
            <a:ext cx="51220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b="1" spc="68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仓库实践</a:t>
            </a:r>
            <a:endParaRPr lang="en-US" sz="700" dirty="0"/>
          </a:p>
        </p:txBody>
      </p:sp>
      <p:sp>
        <p:nvSpPr>
          <p:cNvPr id="156" name="Text 147"/>
          <p:cNvSpPr/>
          <p:nvPr/>
        </p:nvSpPr>
        <p:spPr>
          <a:xfrm>
            <a:off x="3539282" y="4502572"/>
            <a:ext cx="2513261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</a:t>
            </a:r>
            <a:pPr algn="l" indent="0" marL="0">
              <a:lnSpc>
                <a:spcPts val="1007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1-1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双 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canonical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缓存命中率：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07"/>
              </a:lnSpc>
              <a:buNone/>
            </a:pPr>
            <a:r>
              <a:rPr lang="en-US" sz="800" b="1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80.6%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Kimi </a:t>
            </a:r>
            <a:pPr algn="l" indent="0" marL="0">
              <a:lnSpc>
                <a:spcPts val="1007"/>
              </a:lnSpc>
              <a:buNone/>
            </a:pPr>
            <a:r>
              <a:rPr lang="en-US" sz="800" b="1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48.0%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ts val="1007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no_reasoning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臂 = 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V4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思维链协议谱系实测</a:t>
            </a:r>
            <a:endParaRPr lang="en-US" sz="700" dirty="0"/>
          </a:p>
        </p:txBody>
      </p:sp>
      <p:sp>
        <p:nvSpPr>
          <p:cNvPr id="157" name="Text 148"/>
          <p:cNvSpPr/>
          <p:nvPr/>
        </p:nvSpPr>
        <p:spPr>
          <a:xfrm>
            <a:off x="6351910" y="450770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055" dirty="0"/>
          </a:p>
        </p:txBody>
      </p:sp>
      <p:sp>
        <p:nvSpPr>
          <p:cNvPr id="158" name="Text 149"/>
          <p:cNvSpPr/>
          <p:nvPr/>
        </p:nvSpPr>
        <p:spPr>
          <a:xfrm>
            <a:off x="6245423" y="4629150"/>
            <a:ext cx="51220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700" b="1" spc="68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配套资料</a:t>
            </a:r>
            <a:endParaRPr lang="en-US" sz="700" dirty="0"/>
          </a:p>
        </p:txBody>
      </p:sp>
      <p:sp>
        <p:nvSpPr>
          <p:cNvPr id="159" name="Text 150"/>
          <p:cNvSpPr/>
          <p:nvPr/>
        </p:nvSpPr>
        <p:spPr>
          <a:xfrm>
            <a:off x="6629846" y="4506367"/>
            <a:ext cx="2071241" cy="2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 + 思维导图 </a:t>
            </a:r>
            <a:pPr algn="l" indent="0" marL="0">
              <a:lnSpc>
                <a:spcPts val="1007"/>
              </a:lnSpc>
              <a:buNone/>
            </a:pPr>
            <a:r>
              <a:rPr lang="en-US" sz="800" dirty="0">
                <a:solidFill>
                  <a:srgbClr val="22D3EE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07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docs/guide/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007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2026-10-27</a:t>
            </a:r>
            <a:pPr algn="l" indent="0" marL="0">
              <a:lnSpc>
                <a:spcPts val="1007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第二章上下文工程学习路径）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2026-10-27T09:42:32Z</dcterms:created>
  <dcterms:modified xsi:type="dcterms:W3CDTF">2026-10-27T09:42:32Z</dcterms:modified>
</cp:coreProperties>
</file>