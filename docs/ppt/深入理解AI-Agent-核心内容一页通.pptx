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本页是全书一图流。先看公式：能用三个槽位拆解任意 Agent 产品——模型、上下文、工具；生产形态下重心移到 Harness 五要素：上下文管理、工具接口、约束、验证、纠正。模型商品化后，工程价值集中在 Harness，52.8% 到 66.5% 就是注脚。再沿十章管道从构建走到提升：上下文工程是全书最关键一章，评估（ch7）是提升篇的共同前提——先有可信信号才谈得上提升；没有评估就没有进步。随后是五个可复用设计模式与科学方法循环：观察→假设→实验→验证；三条更新路径按可回滚程度从高到低：上下文内适应、外部产物沉淀、参数更新。最后是演化飞轮——模型逐层吃掉 Harness 但没有吃完的一天、两朵乌云与三层安全护栏。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056" y="3247616"/>
            <a:ext cx="227930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0056" y="3986324"/>
            <a:ext cx="2279303" cy="0"/>
          </a:xfrm>
          <a:prstGeom prst="line">
            <a:avLst/>
          </a:prstGeom>
          <a:noFill/>
          <a:ln w="7144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3684" y="1847887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3684" y="2133079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3684" y="2418271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3684" y="2703463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3684" y="2988655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3684" y="3273847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3684" y="3559039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43684" y="3844230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3684" y="4129422"/>
            <a:ext cx="3056632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4641" y="3024708"/>
            <a:ext cx="2279303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" y="4593431"/>
            <a:ext cx="84582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" y="392906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14300" dist="50800" dir="16200000">
              <a:srgbClr val="22D3EE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4344" y="361652"/>
            <a:ext cx="13186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77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ONE-PAGER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83109" y="361652"/>
            <a:ext cx="175302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李博杰《深入理解 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886"/>
              </a:lnSpc>
              <a:buNone/>
            </a:pPr>
            <a:r>
              <a:rPr lang="en-US" sz="700" spc="106" kern="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》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2900" y="542925"/>
            <a:ext cx="4817243" cy="32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22D3E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·</a:t>
            </a:r>
            <a:pPr algn="l" indent="0" marL="0">
              <a:lnSpc>
                <a:spcPts val="2394"/>
              </a:lnSpc>
              <a:buNone/>
            </a:pPr>
            <a:r>
              <a:rPr lang="en-US" sz="2138" b="1" spc="32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核心内容一页通</a:t>
            </a:r>
            <a:endParaRPr lang="en-US" sz="2138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8278" y="350044"/>
            <a:ext cx="1322822" cy="235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55418" y="337242"/>
            <a:ext cx="1368542" cy="261347"/>
          </a:xfrm>
          <a:prstGeom prst="roundRect">
            <a:avLst>
              <a:gd name="adj" fmla="val 3280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546265" y="407194"/>
            <a:ext cx="60619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LLM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7879445" y="392906"/>
            <a:ext cx="22670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20435" y="392906"/>
            <a:ext cx="964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180710" y="392906"/>
            <a:ext cx="441662" cy="14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725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725" dirty="0"/>
          </a:p>
        </p:txBody>
      </p:sp>
      <p:sp>
        <p:nvSpPr>
          <p:cNvPr id="25" name="Text 22"/>
          <p:cNvSpPr/>
          <p:nvPr/>
        </p:nvSpPr>
        <p:spPr>
          <a:xfrm>
            <a:off x="8456749" y="392906"/>
            <a:ext cx="964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84380" y="392906"/>
            <a:ext cx="249351" cy="14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725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25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09" y="635794"/>
            <a:ext cx="1712491" cy="235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092181" y="639366"/>
            <a:ext cx="1705347" cy="228600"/>
          </a:xfrm>
          <a:prstGeom prst="roundRect">
            <a:avLst>
              <a:gd name="adj" fmla="val 3750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556636" y="692944"/>
            <a:ext cx="114445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Model Harness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188622" y="678656"/>
            <a:ext cx="654881" cy="14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7"/>
              </a:lnSpc>
              <a:buNone/>
            </a:pPr>
            <a:r>
              <a:rPr lang="en-US" sz="725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生产形态</a:t>
            </a:r>
            <a:endParaRPr lang="en-US" sz="725" dirty="0"/>
          </a:p>
        </p:txBody>
      </p:sp>
      <p:sp>
        <p:nvSpPr>
          <p:cNvPr id="31" name="Text 27"/>
          <p:cNvSpPr/>
          <p:nvPr/>
        </p:nvSpPr>
        <p:spPr>
          <a:xfrm>
            <a:off x="7857790" y="678656"/>
            <a:ext cx="3471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219219" y="678656"/>
            <a:ext cx="4818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42900" y="950119"/>
            <a:ext cx="8458200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2900" y="1011376"/>
            <a:ext cx="623069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315355" y="1021556"/>
            <a:ext cx="67816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Apache-2.0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023119" y="1011376"/>
            <a:ext cx="668275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997196" y="1021556"/>
            <a:ext cx="7201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55.7k stars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748544" y="1011376"/>
            <a:ext cx="678321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1814489" y="1050131"/>
            <a:ext cx="18422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945257" y="1050131"/>
            <a:ext cx="13601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2032550" y="1050131"/>
            <a:ext cx="33288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7300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253558" y="1050131"/>
            <a:ext cx="11658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2484016" y="1011376"/>
            <a:ext cx="485552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2548871" y="1050131"/>
            <a:ext cx="2585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109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2705582" y="1050131"/>
            <a:ext cx="20650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600" dirty="0"/>
          </a:p>
        </p:txBody>
      </p:sp>
      <p:sp>
        <p:nvSpPr>
          <p:cNvPr id="46" name="Text 42"/>
          <p:cNvSpPr/>
          <p:nvPr/>
        </p:nvSpPr>
        <p:spPr>
          <a:xfrm>
            <a:off x="3026718" y="1011376"/>
            <a:ext cx="1045666" cy="190024"/>
          </a:xfrm>
          <a:prstGeom prst="roundRect">
            <a:avLst>
              <a:gd name="adj" fmla="val 50075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3026718" y="1021556"/>
            <a:ext cx="104566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三层资产：正文·实验·台账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4129534" y="1102816"/>
            <a:ext cx="4671566" cy="7144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276945"/>
            <a:ext cx="2493615" cy="918865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346472" y="1280517"/>
            <a:ext cx="2486471" cy="911721"/>
          </a:xfrm>
          <a:prstGeom prst="roundRect">
            <a:avLst>
              <a:gd name="adj" fmla="val 1462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450056" y="137963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2" name="Text 47"/>
          <p:cNvSpPr/>
          <p:nvPr/>
        </p:nvSpPr>
        <p:spPr>
          <a:xfrm>
            <a:off x="600075" y="1362670"/>
            <a:ext cx="212928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spc="56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</a:t>
            </a:r>
            <a:endParaRPr lang="en-US" sz="703" dirty="0"/>
          </a:p>
        </p:txBody>
      </p:sp>
      <p:sp>
        <p:nvSpPr>
          <p:cNvPr id="53" name="Text 48"/>
          <p:cNvSpPr/>
          <p:nvPr/>
        </p:nvSpPr>
        <p:spPr>
          <a:xfrm>
            <a:off x="450056" y="157140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14" dirty="0"/>
          </a:p>
        </p:txBody>
      </p:sp>
      <p:sp>
        <p:nvSpPr>
          <p:cNvPr id="54" name="Text 49"/>
          <p:cNvSpPr/>
          <p:nvPr/>
        </p:nvSpPr>
        <p:spPr>
          <a:xfrm>
            <a:off x="600075" y="1553542"/>
            <a:ext cx="56552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·大脑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1052699" y="1560016"/>
            <a:ext cx="167666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——理解与决策（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0" dirty="0"/>
          </a:p>
        </p:txBody>
      </p:sp>
      <p:sp>
        <p:nvSpPr>
          <p:cNvPr id="56" name="Text 51"/>
          <p:cNvSpPr/>
          <p:nvPr/>
        </p:nvSpPr>
        <p:spPr>
          <a:xfrm>
            <a:off x="450056" y="1756916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57" name="Text 52"/>
          <p:cNvSpPr/>
          <p:nvPr/>
        </p:nvSpPr>
        <p:spPr>
          <a:xfrm>
            <a:off x="600075" y="1739057"/>
            <a:ext cx="65411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上下文·眼睛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1114648" y="1745531"/>
            <a:ext cx="1614711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——决策的信息输入（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Observation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0" dirty="0"/>
          </a:p>
        </p:txBody>
      </p:sp>
      <p:sp>
        <p:nvSpPr>
          <p:cNvPr id="59" name="Text 54"/>
          <p:cNvSpPr/>
          <p:nvPr/>
        </p:nvSpPr>
        <p:spPr>
          <a:xfrm>
            <a:off x="450056" y="194243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914" dirty="0"/>
          </a:p>
        </p:txBody>
      </p:sp>
      <p:sp>
        <p:nvSpPr>
          <p:cNvPr id="60" name="Text 55"/>
          <p:cNvSpPr/>
          <p:nvPr/>
        </p:nvSpPr>
        <p:spPr>
          <a:xfrm>
            <a:off x="600075" y="1924571"/>
            <a:ext cx="59471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工具·手脚</a:t>
            </a:r>
            <a:endParaRPr lang="en-US" sz="700" dirty="0"/>
          </a:p>
        </p:txBody>
      </p:sp>
      <p:sp>
        <p:nvSpPr>
          <p:cNvPr id="61" name="Text 56"/>
          <p:cNvSpPr/>
          <p:nvPr/>
        </p:nvSpPr>
        <p:spPr>
          <a:xfrm>
            <a:off x="1028923" y="1931045"/>
            <a:ext cx="1700436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——对世界的改动（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0" dirty="0"/>
          </a:p>
        </p:txBody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2281535"/>
            <a:ext cx="2493615" cy="1217898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346472" y="2285107"/>
            <a:ext cx="2486471" cy="1210754"/>
          </a:xfrm>
          <a:prstGeom prst="roundRect">
            <a:avLst>
              <a:gd name="adj" fmla="val 1101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450056" y="238422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984" dirty="0"/>
          </a:p>
        </p:txBody>
      </p:sp>
      <p:sp>
        <p:nvSpPr>
          <p:cNvPr id="65" name="Text 59"/>
          <p:cNvSpPr/>
          <p:nvPr/>
        </p:nvSpPr>
        <p:spPr>
          <a:xfrm>
            <a:off x="600075" y="2367260"/>
            <a:ext cx="212928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spc="56" kern="0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1055"/>
              </a:lnSpc>
              <a:buNone/>
            </a:pPr>
            <a:r>
              <a:rPr lang="en-US" sz="703" b="1" spc="56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五要素</a:t>
            </a:r>
            <a:endParaRPr lang="en-US" sz="703" dirty="0"/>
          </a:p>
        </p:txBody>
      </p:sp>
      <p:sp>
        <p:nvSpPr>
          <p:cNvPr id="66" name="Text 60"/>
          <p:cNvSpPr/>
          <p:nvPr/>
        </p:nvSpPr>
        <p:spPr>
          <a:xfrm>
            <a:off x="450056" y="253179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642938" y="2523753"/>
            <a:ext cx="208642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上下文管理</a:t>
            </a:r>
            <a:endParaRPr lang="en-US" sz="700" dirty="0"/>
          </a:p>
        </p:txBody>
      </p:sp>
      <p:sp>
        <p:nvSpPr>
          <p:cNvPr id="68" name="Text 62"/>
          <p:cNvSpPr/>
          <p:nvPr/>
        </p:nvSpPr>
        <p:spPr>
          <a:xfrm>
            <a:off x="450056" y="266863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69" name="Text 63"/>
          <p:cNvSpPr/>
          <p:nvPr/>
        </p:nvSpPr>
        <p:spPr>
          <a:xfrm>
            <a:off x="642938" y="2660600"/>
            <a:ext cx="208642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工具接口</a:t>
            </a:r>
            <a:endParaRPr lang="en-US" sz="700" dirty="0"/>
          </a:p>
        </p:txBody>
      </p:sp>
      <p:sp>
        <p:nvSpPr>
          <p:cNvPr id="70" name="Text 64"/>
          <p:cNvSpPr/>
          <p:nvPr/>
        </p:nvSpPr>
        <p:spPr>
          <a:xfrm>
            <a:off x="450056" y="280548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642938" y="2797448"/>
            <a:ext cx="208642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00" dirty="0"/>
          </a:p>
        </p:txBody>
      </p:sp>
      <p:sp>
        <p:nvSpPr>
          <p:cNvPr id="72" name="Text 66"/>
          <p:cNvSpPr/>
          <p:nvPr/>
        </p:nvSpPr>
        <p:spPr>
          <a:xfrm>
            <a:off x="450056" y="294233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73" name="Text 67"/>
          <p:cNvSpPr/>
          <p:nvPr/>
        </p:nvSpPr>
        <p:spPr>
          <a:xfrm>
            <a:off x="642938" y="2934295"/>
            <a:ext cx="208642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700" dirty="0"/>
          </a:p>
        </p:txBody>
      </p:sp>
      <p:sp>
        <p:nvSpPr>
          <p:cNvPr id="74" name="Text 68"/>
          <p:cNvSpPr/>
          <p:nvPr/>
        </p:nvSpPr>
        <p:spPr>
          <a:xfrm>
            <a:off x="450056" y="307917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75" name="Text 69"/>
          <p:cNvSpPr/>
          <p:nvPr/>
        </p:nvSpPr>
        <p:spPr>
          <a:xfrm>
            <a:off x="642938" y="3071143"/>
            <a:ext cx="208642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</a:t>
            </a:r>
            <a:endParaRPr lang="en-US" sz="700" dirty="0"/>
          </a:p>
        </p:txBody>
      </p:sp>
      <p:sp>
        <p:nvSpPr>
          <p:cNvPr id="76" name="Text 70"/>
          <p:cNvSpPr/>
          <p:nvPr/>
        </p:nvSpPr>
        <p:spPr>
          <a:xfrm>
            <a:off x="450056" y="331458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844" dirty="0"/>
          </a:p>
        </p:txBody>
      </p:sp>
      <p:sp>
        <p:nvSpPr>
          <p:cNvPr id="77" name="Text 71"/>
          <p:cNvSpPr/>
          <p:nvPr/>
        </p:nvSpPr>
        <p:spPr>
          <a:xfrm>
            <a:off x="578644" y="3301194"/>
            <a:ext cx="215071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生产系统大部分代码在做约束·验证·纠正</a:t>
            </a:r>
            <a:endParaRPr lang="en-US" sz="700" dirty="0"/>
          </a:p>
        </p:txBody>
      </p:sp>
      <p:pic>
        <p:nvPicPr>
          <p:cNvPr id="7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3585158"/>
            <a:ext cx="2493615" cy="918865"/>
          </a:xfrm>
          <a:prstGeom prst="rect">
            <a:avLst/>
          </a:prstGeom>
        </p:spPr>
      </p:pic>
      <p:sp>
        <p:nvSpPr>
          <p:cNvPr id="79" name="Text 72"/>
          <p:cNvSpPr/>
          <p:nvPr/>
        </p:nvSpPr>
        <p:spPr>
          <a:xfrm>
            <a:off x="346472" y="3588730"/>
            <a:ext cx="2486471" cy="911721"/>
          </a:xfrm>
          <a:prstGeom prst="roundRect">
            <a:avLst>
              <a:gd name="adj" fmla="val 14626"/>
            </a:avLst>
          </a:prstGeom>
          <a:noFill/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450056" y="377379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055" dirty="0"/>
          </a:p>
        </p:txBody>
      </p:sp>
      <p:sp>
        <p:nvSpPr>
          <p:cNvPr id="81" name="Text 74"/>
          <p:cNvSpPr/>
          <p:nvPr/>
        </p:nvSpPr>
        <p:spPr>
          <a:xfrm>
            <a:off x="607219" y="3759510"/>
            <a:ext cx="212214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31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</a:t>
            </a:r>
            <a:pPr algn="l" indent="0" marL="0">
              <a:lnSpc>
                <a:spcPts val="1160"/>
              </a:lnSpc>
              <a:buNone/>
            </a:pPr>
            <a:r>
              <a:rPr lang="en-US" sz="731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pPr algn="l" indent="0" marL="0">
              <a:lnSpc>
                <a:spcPts val="1160"/>
              </a:lnSpc>
              <a:buNone/>
            </a:pPr>
            <a:r>
              <a:rPr lang="en-US" sz="731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和产品的差距在 </a:t>
            </a:r>
            <a:pPr algn="l" indent="0" marL="0">
              <a:lnSpc>
                <a:spcPts val="1160"/>
              </a:lnSpc>
              <a:buNone/>
            </a:pPr>
            <a:r>
              <a:rPr lang="en-US" sz="800" b="1" dirty="0">
                <a:solidFill>
                  <a:srgbClr val="67E8F9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Harness</a:t>
            </a:r>
            <a:pPr algn="l" indent="0" marL="0">
              <a:lnSpc>
                <a:spcPts val="1160"/>
              </a:lnSpc>
              <a:buNone/>
            </a:pPr>
            <a:r>
              <a:rPr lang="en-US" sz="731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，不在模型』</a:t>
            </a:r>
            <a:endParaRPr lang="en-US" sz="731" dirty="0"/>
          </a:p>
        </p:txBody>
      </p:sp>
      <p:sp>
        <p:nvSpPr>
          <p:cNvPr id="82" name="Text 75"/>
          <p:cNvSpPr/>
          <p:nvPr/>
        </p:nvSpPr>
        <p:spPr>
          <a:xfrm>
            <a:off x="450056" y="4039902"/>
            <a:ext cx="2279303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 </a:t>
            </a:r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886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不换模型</a:t>
            </a:r>
            <a:endParaRPr lang="en-US" sz="700" dirty="0"/>
          </a:p>
        </p:txBody>
      </p:sp>
      <p:sp>
        <p:nvSpPr>
          <p:cNvPr id="83" name="Text 76"/>
          <p:cNvSpPr/>
          <p:nvPr/>
        </p:nvSpPr>
        <p:spPr>
          <a:xfrm>
            <a:off x="450056" y="4166704"/>
            <a:ext cx="2279303" cy="162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1069" b="1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52.8%</a:t>
            </a:r>
            <a:pPr algn="l" indent="0" marL="0">
              <a:lnSpc>
                <a:spcPts val="1069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69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</a:t>
            </a:r>
            <a:pPr algn="l" indent="0" marL="0">
              <a:lnSpc>
                <a:spcPts val="1069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69"/>
              </a:lnSpc>
              <a:buNone/>
            </a:pPr>
            <a:r>
              <a:rPr lang="en-US" sz="1069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66.5%</a:t>
            </a:r>
            <a:pPr algn="l" indent="0" marL="0">
              <a:lnSpc>
                <a:spcPts val="1069"/>
              </a:lnSpc>
              <a:buNone/>
            </a:pPr>
            <a:r>
              <a:rPr lang="en-US" sz="1069" b="1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069"/>
              </a:lnSpc>
              <a:buNone/>
            </a:pPr>
            <a:r>
              <a:rPr lang="en-US" sz="800" b="1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（Anthropic）</a:t>
            </a:r>
            <a:endParaRPr lang="en-US" sz="1069" dirty="0"/>
          </a:p>
        </p:txBody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240" y="1276945"/>
            <a:ext cx="3299520" cy="3227189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2925812" y="1280517"/>
            <a:ext cx="3292376" cy="3220045"/>
          </a:xfrm>
          <a:prstGeom prst="roundRect">
            <a:avLst>
              <a:gd name="adj" fmla="val 414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8"/>
          <p:cNvSpPr/>
          <p:nvPr/>
        </p:nvSpPr>
        <p:spPr>
          <a:xfrm>
            <a:off x="3043684" y="139660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055" dirty="0"/>
          </a:p>
        </p:txBody>
      </p:sp>
      <p:sp>
        <p:nvSpPr>
          <p:cNvPr id="87" name="Text 79"/>
          <p:cNvSpPr/>
          <p:nvPr/>
        </p:nvSpPr>
        <p:spPr>
          <a:xfrm>
            <a:off x="3200846" y="1369814"/>
            <a:ext cx="72705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51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十章速览</a:t>
            </a:r>
            <a:endParaRPr lang="en-US" sz="844" dirty="0"/>
          </a:p>
        </p:txBody>
      </p:sp>
      <p:sp>
        <p:nvSpPr>
          <p:cNvPr id="88" name="Text 80"/>
          <p:cNvSpPr/>
          <p:nvPr/>
        </p:nvSpPr>
        <p:spPr>
          <a:xfrm>
            <a:off x="5195026" y="1403747"/>
            <a:ext cx="240919" cy="13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5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700" dirty="0"/>
          </a:p>
        </p:txBody>
      </p:sp>
      <p:sp>
        <p:nvSpPr>
          <p:cNvPr id="89" name="Text 81"/>
          <p:cNvSpPr/>
          <p:nvPr/>
        </p:nvSpPr>
        <p:spPr>
          <a:xfrm>
            <a:off x="5361609" y="1410891"/>
            <a:ext cx="36285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ch1–6</a:t>
            </a:r>
            <a:endParaRPr lang="en-US" sz="800" dirty="0"/>
          </a:p>
        </p:txBody>
      </p:sp>
      <p:sp>
        <p:nvSpPr>
          <p:cNvPr id="90" name="Text 82"/>
          <p:cNvSpPr/>
          <p:nvPr/>
        </p:nvSpPr>
        <p:spPr>
          <a:xfrm>
            <a:off x="5607509" y="141089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91" name="Text 83"/>
          <p:cNvSpPr/>
          <p:nvPr/>
        </p:nvSpPr>
        <p:spPr>
          <a:xfrm>
            <a:off x="5661937" y="1403747"/>
            <a:ext cx="240919" cy="13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5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</a:t>
            </a:r>
            <a:endParaRPr lang="en-US" sz="700" dirty="0"/>
          </a:p>
        </p:txBody>
      </p:sp>
      <p:sp>
        <p:nvSpPr>
          <p:cNvPr id="92" name="Text 84"/>
          <p:cNvSpPr/>
          <p:nvPr/>
        </p:nvSpPr>
        <p:spPr>
          <a:xfrm>
            <a:off x="5800864" y="1410891"/>
            <a:ext cx="32788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ch7–10</a:t>
            </a:r>
            <a:endParaRPr lang="en-US" sz="600" dirty="0"/>
          </a:p>
        </p:txBody>
      </p:sp>
      <p:sp>
        <p:nvSpPr>
          <p:cNvPr id="93" name="Text 85"/>
          <p:cNvSpPr/>
          <p:nvPr/>
        </p:nvSpPr>
        <p:spPr>
          <a:xfrm>
            <a:off x="3043684" y="16489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4" name="Text 86"/>
          <p:cNvSpPr/>
          <p:nvPr/>
        </p:nvSpPr>
        <p:spPr>
          <a:xfrm>
            <a:off x="3236565" y="1638263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</a:t>
            </a:r>
            <a:endParaRPr lang="en-US" sz="703" dirty="0"/>
          </a:p>
        </p:txBody>
      </p:sp>
      <p:sp>
        <p:nvSpPr>
          <p:cNvPr id="95" name="Text 87"/>
          <p:cNvSpPr/>
          <p:nvPr/>
        </p:nvSpPr>
        <p:spPr>
          <a:xfrm>
            <a:off x="3943796" y="1647416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——三要素·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总纲</a:t>
            </a:r>
            <a:endParaRPr lang="en-US" sz="700" dirty="0"/>
          </a:p>
        </p:txBody>
      </p:sp>
      <p:sp>
        <p:nvSpPr>
          <p:cNvPr id="96" name="Text 88"/>
          <p:cNvSpPr/>
          <p:nvPr/>
        </p:nvSpPr>
        <p:spPr>
          <a:xfrm>
            <a:off x="3043684" y="193417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7" name="Text 89"/>
          <p:cNvSpPr/>
          <p:nvPr/>
        </p:nvSpPr>
        <p:spPr>
          <a:xfrm>
            <a:off x="3236565" y="1923455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703" dirty="0"/>
          </a:p>
        </p:txBody>
      </p:sp>
      <p:sp>
        <p:nvSpPr>
          <p:cNvPr id="98" name="Text 90"/>
          <p:cNvSpPr/>
          <p:nvPr/>
        </p:nvSpPr>
        <p:spPr>
          <a:xfrm>
            <a:off x="3943796" y="1932608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KV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Cache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友好·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Skills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·压缩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BBF24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（全书最关键）</a:t>
            </a:r>
            <a:endParaRPr lang="en-US" sz="700" dirty="0"/>
          </a:p>
        </p:txBody>
      </p:sp>
      <p:sp>
        <p:nvSpPr>
          <p:cNvPr id="99" name="Text 91"/>
          <p:cNvSpPr/>
          <p:nvPr/>
        </p:nvSpPr>
        <p:spPr>
          <a:xfrm>
            <a:off x="3043684" y="221936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0" name="Text 92"/>
          <p:cNvSpPr/>
          <p:nvPr/>
        </p:nvSpPr>
        <p:spPr>
          <a:xfrm>
            <a:off x="3236565" y="2208647"/>
            <a:ext cx="9194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记忆与知识库</a:t>
            </a:r>
            <a:endParaRPr lang="en-US" sz="703" dirty="0"/>
          </a:p>
        </p:txBody>
      </p:sp>
      <p:sp>
        <p:nvSpPr>
          <p:cNvPr id="101" name="Text 93"/>
          <p:cNvSpPr/>
          <p:nvPr/>
        </p:nvSpPr>
        <p:spPr>
          <a:xfrm>
            <a:off x="3943796" y="2217800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——跨会话记忆·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检索</a:t>
            </a:r>
            <a:endParaRPr lang="en-US" sz="700" dirty="0"/>
          </a:p>
        </p:txBody>
      </p:sp>
      <p:sp>
        <p:nvSpPr>
          <p:cNvPr id="102" name="Text 94"/>
          <p:cNvSpPr/>
          <p:nvPr/>
        </p:nvSpPr>
        <p:spPr>
          <a:xfrm>
            <a:off x="3043684" y="250455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03" name="Text 95"/>
          <p:cNvSpPr/>
          <p:nvPr/>
        </p:nvSpPr>
        <p:spPr>
          <a:xfrm>
            <a:off x="3236565" y="2493838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03" dirty="0"/>
          </a:p>
        </p:txBody>
      </p:sp>
      <p:sp>
        <p:nvSpPr>
          <p:cNvPr id="104" name="Text 96"/>
          <p:cNvSpPr/>
          <p:nvPr/>
        </p:nvSpPr>
        <p:spPr>
          <a:xfrm>
            <a:off x="3943796" y="2502991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——五分类·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·感知控量·执行控险</a:t>
            </a:r>
            <a:endParaRPr lang="en-US" sz="700" dirty="0"/>
          </a:p>
        </p:txBody>
      </p:sp>
      <p:sp>
        <p:nvSpPr>
          <p:cNvPr id="105" name="Text 97"/>
          <p:cNvSpPr/>
          <p:nvPr/>
        </p:nvSpPr>
        <p:spPr>
          <a:xfrm>
            <a:off x="3043684" y="278974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06" name="Text 98"/>
          <p:cNvSpPr/>
          <p:nvPr/>
        </p:nvSpPr>
        <p:spPr>
          <a:xfrm>
            <a:off x="3236565" y="2779030"/>
            <a:ext cx="8036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F5F1E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Coding Agent</a:t>
            </a:r>
            <a:endParaRPr lang="en-US" sz="800" dirty="0"/>
          </a:p>
        </p:txBody>
      </p:sp>
      <p:sp>
        <p:nvSpPr>
          <p:cNvPr id="107" name="Text 99"/>
          <p:cNvSpPr/>
          <p:nvPr/>
        </p:nvSpPr>
        <p:spPr>
          <a:xfrm>
            <a:off x="3943796" y="2784611"/>
            <a:ext cx="2156520" cy="15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——代码是创造工具的工具（</a:t>
            </a:r>
            <a:pPr algn="l" indent="0" marL="0">
              <a:lnSpc>
                <a:spcPts val="1041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104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实验）</a:t>
            </a:r>
            <a:endParaRPr lang="en-US" sz="700" dirty="0"/>
          </a:p>
        </p:txBody>
      </p:sp>
      <p:sp>
        <p:nvSpPr>
          <p:cNvPr id="108" name="Text 100"/>
          <p:cNvSpPr/>
          <p:nvPr/>
        </p:nvSpPr>
        <p:spPr>
          <a:xfrm>
            <a:off x="3043684" y="307493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109" name="Text 101"/>
          <p:cNvSpPr/>
          <p:nvPr/>
        </p:nvSpPr>
        <p:spPr>
          <a:xfrm>
            <a:off x="3236565" y="3064222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交互扩展</a:t>
            </a:r>
            <a:endParaRPr lang="en-US" sz="703" dirty="0"/>
          </a:p>
        </p:txBody>
      </p:sp>
      <p:sp>
        <p:nvSpPr>
          <p:cNvPr id="110" name="Text 102"/>
          <p:cNvSpPr/>
          <p:nvPr/>
        </p:nvSpPr>
        <p:spPr>
          <a:xfrm>
            <a:off x="3943796" y="3073375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——异步·语音·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·机器人</a:t>
            </a:r>
            <a:endParaRPr lang="en-US" sz="700" dirty="0"/>
          </a:p>
        </p:txBody>
      </p:sp>
      <p:sp>
        <p:nvSpPr>
          <p:cNvPr id="111" name="Text 103"/>
          <p:cNvSpPr/>
          <p:nvPr/>
        </p:nvSpPr>
        <p:spPr>
          <a:xfrm>
            <a:off x="3043684" y="336013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112" name="Text 104"/>
          <p:cNvSpPr/>
          <p:nvPr/>
        </p:nvSpPr>
        <p:spPr>
          <a:xfrm>
            <a:off x="3236565" y="3349414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703" dirty="0"/>
          </a:p>
        </p:txBody>
      </p:sp>
      <p:sp>
        <p:nvSpPr>
          <p:cNvPr id="113" name="Text 105"/>
          <p:cNvSpPr/>
          <p:nvPr/>
        </p:nvSpPr>
        <p:spPr>
          <a:xfrm>
            <a:off x="3943796" y="3354995"/>
            <a:ext cx="2156520" cy="15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041"/>
              </a:lnSpc>
              <a:buNone/>
            </a:pPr>
            <a:r>
              <a:rPr lang="en-US" sz="800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Pass@k / Pass^k</a:t>
            </a:r>
            <a:pPr algn="l" indent="0" marL="0">
              <a:lnSpc>
                <a:spcPts val="104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·失败归因·</a:t>
            </a:r>
            <a:pPr algn="l" indent="0" marL="0">
              <a:lnSpc>
                <a:spcPts val="104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LLM-as-a-Judge</a:t>
            </a:r>
            <a:endParaRPr lang="en-US" sz="700" dirty="0"/>
          </a:p>
        </p:txBody>
      </p:sp>
      <p:sp>
        <p:nvSpPr>
          <p:cNvPr id="114" name="Text 106"/>
          <p:cNvSpPr/>
          <p:nvPr/>
        </p:nvSpPr>
        <p:spPr>
          <a:xfrm>
            <a:off x="3043684" y="364532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115" name="Text 107"/>
          <p:cNvSpPr/>
          <p:nvPr/>
        </p:nvSpPr>
        <p:spPr>
          <a:xfrm>
            <a:off x="3236565" y="3634606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后训练</a:t>
            </a:r>
            <a:endParaRPr lang="en-US" sz="703" dirty="0"/>
          </a:p>
        </p:txBody>
      </p:sp>
      <p:sp>
        <p:nvSpPr>
          <p:cNvPr id="116" name="Text 108"/>
          <p:cNvSpPr/>
          <p:nvPr/>
        </p:nvSpPr>
        <p:spPr>
          <a:xfrm>
            <a:off x="3943796" y="3643759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SFT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记忆·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RL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泛化·蒸馏（需 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0" dirty="0"/>
          </a:p>
        </p:txBody>
      </p:sp>
      <p:sp>
        <p:nvSpPr>
          <p:cNvPr id="117" name="Text 109"/>
          <p:cNvSpPr/>
          <p:nvPr/>
        </p:nvSpPr>
        <p:spPr>
          <a:xfrm>
            <a:off x="3043684" y="393051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118" name="Text 110"/>
          <p:cNvSpPr/>
          <p:nvPr/>
        </p:nvSpPr>
        <p:spPr>
          <a:xfrm>
            <a:off x="3236565" y="3919798"/>
            <a:ext cx="10287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703" dirty="0"/>
          </a:p>
        </p:txBody>
      </p:sp>
      <p:sp>
        <p:nvSpPr>
          <p:cNvPr id="119" name="Text 111"/>
          <p:cNvSpPr/>
          <p:nvPr/>
        </p:nvSpPr>
        <p:spPr>
          <a:xfrm>
            <a:off x="3943796" y="3928951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——经验沉淀为知识/指令/程序/参数</a:t>
            </a:r>
            <a:endParaRPr lang="en-US" sz="700" dirty="0"/>
          </a:p>
        </p:txBody>
      </p:sp>
      <p:sp>
        <p:nvSpPr>
          <p:cNvPr id="120" name="Text 112"/>
          <p:cNvSpPr/>
          <p:nvPr/>
        </p:nvSpPr>
        <p:spPr>
          <a:xfrm>
            <a:off x="3043684" y="421570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121" name="Text 113"/>
          <p:cNvSpPr/>
          <p:nvPr/>
        </p:nvSpPr>
        <p:spPr>
          <a:xfrm>
            <a:off x="3236565" y="4204990"/>
            <a:ext cx="80367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</a:t>
            </a:r>
            <a:pPr algn="l" indent="0" marL="0">
              <a:lnSpc>
                <a:spcPts val="1055"/>
              </a:lnSpc>
              <a:buNone/>
            </a:pPr>
            <a:r>
              <a:rPr lang="en-US" sz="703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协作</a:t>
            </a:r>
            <a:endParaRPr lang="en-US" sz="703" dirty="0"/>
          </a:p>
        </p:txBody>
      </p:sp>
      <p:sp>
        <p:nvSpPr>
          <p:cNvPr id="122" name="Text 114"/>
          <p:cNvSpPr/>
          <p:nvPr/>
        </p:nvSpPr>
        <p:spPr>
          <a:xfrm>
            <a:off x="3943796" y="4214143"/>
            <a:ext cx="2156520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——新信息判据·六种失败模式</a:t>
            </a:r>
            <a:endParaRPr lang="en-US" sz="700" dirty="0"/>
          </a:p>
        </p:txBody>
      </p:sp>
      <p:pic>
        <p:nvPicPr>
          <p:cNvPr id="1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485" y="1276945"/>
            <a:ext cx="2493615" cy="1151706"/>
          </a:xfrm>
          <a:prstGeom prst="rect">
            <a:avLst/>
          </a:prstGeom>
        </p:spPr>
      </p:pic>
      <p:sp>
        <p:nvSpPr>
          <p:cNvPr id="124" name="Text 115"/>
          <p:cNvSpPr/>
          <p:nvPr/>
        </p:nvSpPr>
        <p:spPr>
          <a:xfrm>
            <a:off x="6311057" y="1280517"/>
            <a:ext cx="2486471" cy="1144563"/>
          </a:xfrm>
          <a:prstGeom prst="roundRect">
            <a:avLst>
              <a:gd name="adj" fmla="val 11651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16"/>
          <p:cNvSpPr/>
          <p:nvPr/>
        </p:nvSpPr>
        <p:spPr>
          <a:xfrm>
            <a:off x="6414641" y="137963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26" name="Text 117"/>
          <p:cNvSpPr/>
          <p:nvPr/>
        </p:nvSpPr>
        <p:spPr>
          <a:xfrm>
            <a:off x="6564660" y="1362670"/>
            <a:ext cx="212928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spc="56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五个设计模式</a:t>
            </a:r>
            <a:endParaRPr lang="en-US" sz="703" dirty="0"/>
          </a:p>
        </p:txBody>
      </p:sp>
      <p:sp>
        <p:nvSpPr>
          <p:cNvPr id="127" name="Text 118"/>
          <p:cNvSpPr/>
          <p:nvPr/>
        </p:nvSpPr>
        <p:spPr>
          <a:xfrm>
            <a:off x="6414641" y="1529321"/>
            <a:ext cx="85826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提议者—审核者</a:t>
            </a:r>
            <a:endParaRPr lang="en-US" sz="700" dirty="0"/>
          </a:p>
        </p:txBody>
      </p:sp>
      <p:sp>
        <p:nvSpPr>
          <p:cNvPr id="128" name="Text 119"/>
          <p:cNvSpPr/>
          <p:nvPr/>
        </p:nvSpPr>
        <p:spPr>
          <a:xfrm>
            <a:off x="7014828" y="1543608"/>
            <a:ext cx="1679116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·产出与评判分离</a:t>
            </a:r>
            <a:endParaRPr lang="en-US" sz="700" dirty="0"/>
          </a:p>
        </p:txBody>
      </p:sp>
      <p:sp>
        <p:nvSpPr>
          <p:cNvPr id="129" name="Text 120"/>
          <p:cNvSpPr/>
          <p:nvPr/>
        </p:nvSpPr>
        <p:spPr>
          <a:xfrm>
            <a:off x="6414641" y="1691953"/>
            <a:ext cx="68597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渐进式披露</a:t>
            </a:r>
            <a:endParaRPr lang="en-US" sz="700" dirty="0"/>
          </a:p>
        </p:txBody>
      </p:sp>
      <p:sp>
        <p:nvSpPr>
          <p:cNvPr id="130" name="Text 121"/>
          <p:cNvSpPr/>
          <p:nvPr/>
        </p:nvSpPr>
        <p:spPr>
          <a:xfrm>
            <a:off x="6843378" y="1706240"/>
            <a:ext cx="1850566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·目录先行按需加载</a:t>
            </a:r>
            <a:endParaRPr lang="en-US" sz="700" dirty="0"/>
          </a:p>
        </p:txBody>
      </p:sp>
      <p:sp>
        <p:nvSpPr>
          <p:cNvPr id="131" name="Text 122"/>
          <p:cNvSpPr/>
          <p:nvPr/>
        </p:nvSpPr>
        <p:spPr>
          <a:xfrm>
            <a:off x="6414641" y="1854584"/>
            <a:ext cx="5488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只增不改</a:t>
            </a:r>
            <a:endParaRPr lang="en-US" sz="700" dirty="0"/>
          </a:p>
        </p:txBody>
      </p:sp>
      <p:sp>
        <p:nvSpPr>
          <p:cNvPr id="132" name="Text 123"/>
          <p:cNvSpPr/>
          <p:nvPr/>
        </p:nvSpPr>
        <p:spPr>
          <a:xfrm>
            <a:off x="6757653" y="1868872"/>
            <a:ext cx="1936291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·追加演进可审计</a:t>
            </a:r>
            <a:endParaRPr lang="en-US" sz="700" dirty="0"/>
          </a:p>
        </p:txBody>
      </p:sp>
      <p:sp>
        <p:nvSpPr>
          <p:cNvPr id="133" name="Text 124"/>
          <p:cNvSpPr/>
          <p:nvPr/>
        </p:nvSpPr>
        <p:spPr>
          <a:xfrm>
            <a:off x="6414641" y="2017216"/>
            <a:ext cx="80958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边界集+保留集</a:t>
            </a:r>
            <a:endParaRPr lang="en-US" sz="700" dirty="0"/>
          </a:p>
        </p:txBody>
      </p:sp>
      <p:sp>
        <p:nvSpPr>
          <p:cNvPr id="134" name="Text 125"/>
          <p:cNvSpPr/>
          <p:nvPr/>
        </p:nvSpPr>
        <p:spPr>
          <a:xfrm>
            <a:off x="6980783" y="2031504"/>
            <a:ext cx="1713161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·改动与回归同测</a:t>
            </a:r>
            <a:endParaRPr lang="en-US" sz="700" dirty="0"/>
          </a:p>
        </p:txBody>
      </p:sp>
      <p:sp>
        <p:nvSpPr>
          <p:cNvPr id="135" name="Text 126"/>
          <p:cNvSpPr/>
          <p:nvPr/>
        </p:nvSpPr>
        <p:spPr>
          <a:xfrm>
            <a:off x="6397347" y="2179848"/>
            <a:ext cx="8504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</a:t>
            </a:r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</a:t>
            </a:r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+可回滚</a:t>
            </a:r>
            <a:endParaRPr lang="en-US" sz="700" dirty="0"/>
          </a:p>
        </p:txBody>
      </p:sp>
      <p:sp>
        <p:nvSpPr>
          <p:cNvPr id="136" name="Text 127"/>
          <p:cNvSpPr/>
          <p:nvPr/>
        </p:nvSpPr>
        <p:spPr>
          <a:xfrm>
            <a:off x="7067290" y="2194136"/>
            <a:ext cx="1626654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·小步带源可撤销</a:t>
            </a:r>
            <a:endParaRPr lang="en-US" sz="700" dirty="0"/>
          </a:p>
        </p:txBody>
      </p:sp>
      <p:pic>
        <p:nvPicPr>
          <p:cNvPr id="1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7485" y="2514377"/>
            <a:ext cx="2493615" cy="970211"/>
          </a:xfrm>
          <a:prstGeom prst="rect">
            <a:avLst/>
          </a:prstGeom>
        </p:spPr>
      </p:pic>
      <p:sp>
        <p:nvSpPr>
          <p:cNvPr id="138" name="Text 128"/>
          <p:cNvSpPr/>
          <p:nvPr/>
        </p:nvSpPr>
        <p:spPr>
          <a:xfrm>
            <a:off x="6311057" y="2517949"/>
            <a:ext cx="2486471" cy="963067"/>
          </a:xfrm>
          <a:prstGeom prst="roundRect">
            <a:avLst>
              <a:gd name="adj" fmla="val 1384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29"/>
          <p:cNvSpPr/>
          <p:nvPr/>
        </p:nvSpPr>
        <p:spPr>
          <a:xfrm>
            <a:off x="6414641" y="261706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84" dirty="0"/>
          </a:p>
        </p:txBody>
      </p:sp>
      <p:sp>
        <p:nvSpPr>
          <p:cNvPr id="140" name="Text 130"/>
          <p:cNvSpPr/>
          <p:nvPr/>
        </p:nvSpPr>
        <p:spPr>
          <a:xfrm>
            <a:off x="6564660" y="2600102"/>
            <a:ext cx="212928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spc="56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科学方法</a:t>
            </a:r>
            <a:endParaRPr lang="en-US" sz="703" dirty="0"/>
          </a:p>
        </p:txBody>
      </p:sp>
      <p:sp>
        <p:nvSpPr>
          <p:cNvPr id="141" name="Text 131"/>
          <p:cNvSpPr/>
          <p:nvPr/>
        </p:nvSpPr>
        <p:spPr>
          <a:xfrm>
            <a:off x="6414641" y="2794724"/>
            <a:ext cx="300038" cy="180023"/>
          </a:xfrm>
          <a:prstGeom prst="roundRect">
            <a:avLst>
              <a:gd name="adj" fmla="val 37037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Text 132"/>
          <p:cNvSpPr/>
          <p:nvPr/>
        </p:nvSpPr>
        <p:spPr>
          <a:xfrm>
            <a:off x="6414641" y="2804368"/>
            <a:ext cx="3000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700" dirty="0"/>
          </a:p>
        </p:txBody>
      </p:sp>
      <p:sp>
        <p:nvSpPr>
          <p:cNvPr id="143" name="Text 133"/>
          <p:cNvSpPr/>
          <p:nvPr/>
        </p:nvSpPr>
        <p:spPr>
          <a:xfrm>
            <a:off x="6757541" y="28418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144" name="Text 134"/>
          <p:cNvSpPr/>
          <p:nvPr/>
        </p:nvSpPr>
        <p:spPr>
          <a:xfrm>
            <a:off x="6886129" y="2794724"/>
            <a:ext cx="300038" cy="180023"/>
          </a:xfrm>
          <a:prstGeom prst="roundRect">
            <a:avLst>
              <a:gd name="adj" fmla="val 37037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Text 135"/>
          <p:cNvSpPr/>
          <p:nvPr/>
        </p:nvSpPr>
        <p:spPr>
          <a:xfrm>
            <a:off x="6886129" y="2804368"/>
            <a:ext cx="3000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700" dirty="0"/>
          </a:p>
        </p:txBody>
      </p:sp>
      <p:sp>
        <p:nvSpPr>
          <p:cNvPr id="146" name="Text 136"/>
          <p:cNvSpPr/>
          <p:nvPr/>
        </p:nvSpPr>
        <p:spPr>
          <a:xfrm>
            <a:off x="7229029" y="28418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147" name="Text 137"/>
          <p:cNvSpPr/>
          <p:nvPr/>
        </p:nvSpPr>
        <p:spPr>
          <a:xfrm>
            <a:off x="7357616" y="2794724"/>
            <a:ext cx="300038" cy="180023"/>
          </a:xfrm>
          <a:prstGeom prst="roundRect">
            <a:avLst>
              <a:gd name="adj" fmla="val 37037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Text 138"/>
          <p:cNvSpPr/>
          <p:nvPr/>
        </p:nvSpPr>
        <p:spPr>
          <a:xfrm>
            <a:off x="7357616" y="2804368"/>
            <a:ext cx="3000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700" dirty="0"/>
          </a:p>
        </p:txBody>
      </p:sp>
      <p:sp>
        <p:nvSpPr>
          <p:cNvPr id="149" name="Text 139"/>
          <p:cNvSpPr/>
          <p:nvPr/>
        </p:nvSpPr>
        <p:spPr>
          <a:xfrm>
            <a:off x="7700516" y="28418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150" name="Text 140"/>
          <p:cNvSpPr/>
          <p:nvPr/>
        </p:nvSpPr>
        <p:spPr>
          <a:xfrm>
            <a:off x="7829104" y="2794724"/>
            <a:ext cx="300038" cy="180023"/>
          </a:xfrm>
          <a:prstGeom prst="roundRect">
            <a:avLst>
              <a:gd name="adj" fmla="val 37037"/>
            </a:avLst>
          </a:prstGeom>
          <a:solidFill>
            <a:srgbClr val="22D3EE">
              <a:alpha val="13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Text 141"/>
          <p:cNvSpPr/>
          <p:nvPr/>
        </p:nvSpPr>
        <p:spPr>
          <a:xfrm>
            <a:off x="7829104" y="2804368"/>
            <a:ext cx="3000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70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700" dirty="0"/>
          </a:p>
        </p:txBody>
      </p:sp>
      <p:sp>
        <p:nvSpPr>
          <p:cNvPr id="152" name="Text 142"/>
          <p:cNvSpPr/>
          <p:nvPr/>
        </p:nvSpPr>
        <p:spPr>
          <a:xfrm>
            <a:off x="6414641" y="309703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844" dirty="0"/>
          </a:p>
        </p:txBody>
      </p:sp>
      <p:sp>
        <p:nvSpPr>
          <p:cNvPr id="153" name="Text 143"/>
          <p:cNvSpPr/>
          <p:nvPr/>
        </p:nvSpPr>
        <p:spPr>
          <a:xfrm>
            <a:off x="6543229" y="3078287"/>
            <a:ext cx="215071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b="1" spc="32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三条更新路径</a:t>
            </a:r>
            <a:endParaRPr lang="en-US" sz="700" dirty="0"/>
          </a:p>
        </p:txBody>
      </p:sp>
      <p:sp>
        <p:nvSpPr>
          <p:cNvPr id="154" name="Text 144"/>
          <p:cNvSpPr/>
          <p:nvPr/>
        </p:nvSpPr>
        <p:spPr>
          <a:xfrm>
            <a:off x="6414641" y="3230091"/>
            <a:ext cx="22793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上下文内适应·周级 ｜ 外部产物沉淀·月级 ｜ 参数更新·季度级</a:t>
            </a:r>
            <a:endParaRPr lang="en-US" sz="600" dirty="0"/>
          </a:p>
        </p:txBody>
      </p:sp>
      <p:pic>
        <p:nvPicPr>
          <p:cNvPr id="1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7485" y="3570312"/>
            <a:ext cx="2493615" cy="933822"/>
          </a:xfrm>
          <a:prstGeom prst="rect">
            <a:avLst/>
          </a:prstGeom>
        </p:spPr>
      </p:pic>
      <p:sp>
        <p:nvSpPr>
          <p:cNvPr id="156" name="Text 145"/>
          <p:cNvSpPr/>
          <p:nvPr/>
        </p:nvSpPr>
        <p:spPr>
          <a:xfrm>
            <a:off x="6311057" y="3573884"/>
            <a:ext cx="2486471" cy="926678"/>
          </a:xfrm>
          <a:prstGeom prst="roundRect">
            <a:avLst>
              <a:gd name="adj" fmla="val 14390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Text 146"/>
          <p:cNvSpPr/>
          <p:nvPr/>
        </p:nvSpPr>
        <p:spPr>
          <a:xfrm>
            <a:off x="6414641" y="367300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58" name="Text 147"/>
          <p:cNvSpPr/>
          <p:nvPr/>
        </p:nvSpPr>
        <p:spPr>
          <a:xfrm>
            <a:off x="6564660" y="3656037"/>
            <a:ext cx="212928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b="1" spc="56" kern="0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演化与安全</a:t>
            </a:r>
            <a:endParaRPr lang="en-US" sz="703" dirty="0"/>
          </a:p>
        </p:txBody>
      </p:sp>
      <p:sp>
        <p:nvSpPr>
          <p:cNvPr id="159" name="Text 148"/>
          <p:cNvSpPr/>
          <p:nvPr/>
        </p:nvSpPr>
        <p:spPr>
          <a:xfrm>
            <a:off x="6414641" y="386845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914" dirty="0"/>
          </a:p>
        </p:txBody>
      </p:sp>
      <p:sp>
        <p:nvSpPr>
          <p:cNvPr id="160" name="Text 149"/>
          <p:cNvSpPr/>
          <p:nvPr/>
        </p:nvSpPr>
        <p:spPr>
          <a:xfrm>
            <a:off x="6564660" y="3850593"/>
            <a:ext cx="27449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</a:t>
            </a:r>
            <a:endParaRPr lang="en-US" sz="700" dirty="0"/>
          </a:p>
        </p:txBody>
      </p:sp>
      <p:sp>
        <p:nvSpPr>
          <p:cNvPr id="161" name="Text 150"/>
          <p:cNvSpPr/>
          <p:nvPr/>
        </p:nvSpPr>
        <p:spPr>
          <a:xfrm>
            <a:off x="6793371" y="3857067"/>
            <a:ext cx="1900572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——模型逐层吃掉 </a:t>
            </a:r>
            <a:pPr algn="l" indent="0" marL="0">
              <a:lnSpc>
                <a:spcPts val="91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Harness</a:t>
            </a:r>
            <a:pPr algn="l" indent="0" marL="0">
              <a:lnSpc>
                <a:spcPts val="91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，但没有吃完的一天</a:t>
            </a:r>
            <a:endParaRPr lang="en-US" sz="608" dirty="0"/>
          </a:p>
        </p:txBody>
      </p:sp>
      <p:sp>
        <p:nvSpPr>
          <p:cNvPr id="162" name="Text 151"/>
          <p:cNvSpPr/>
          <p:nvPr/>
        </p:nvSpPr>
        <p:spPr>
          <a:xfrm>
            <a:off x="6414641" y="405765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914" dirty="0"/>
          </a:p>
        </p:txBody>
      </p:sp>
      <p:sp>
        <p:nvSpPr>
          <p:cNvPr id="163" name="Text 152"/>
          <p:cNvSpPr/>
          <p:nvPr/>
        </p:nvSpPr>
        <p:spPr>
          <a:xfrm>
            <a:off x="6564660" y="4039791"/>
            <a:ext cx="5488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两朵乌云</a:t>
            </a:r>
            <a:endParaRPr lang="en-US" sz="700" dirty="0"/>
          </a:p>
        </p:txBody>
      </p:sp>
      <p:sp>
        <p:nvSpPr>
          <p:cNvPr id="164" name="Text 153"/>
          <p:cNvSpPr/>
          <p:nvPr/>
        </p:nvSpPr>
        <p:spPr>
          <a:xfrm>
            <a:off x="6964821" y="4046265"/>
            <a:ext cx="1729122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——流式实时交互 · 持续经验积累</a:t>
            </a:r>
            <a:endParaRPr lang="en-US" sz="700" dirty="0"/>
          </a:p>
        </p:txBody>
      </p:sp>
      <p:sp>
        <p:nvSpPr>
          <p:cNvPr id="165" name="Text 154"/>
          <p:cNvSpPr/>
          <p:nvPr/>
        </p:nvSpPr>
        <p:spPr>
          <a:xfrm>
            <a:off x="6414641" y="424684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66" name="Text 155"/>
          <p:cNvSpPr/>
          <p:nvPr/>
        </p:nvSpPr>
        <p:spPr>
          <a:xfrm>
            <a:off x="6564660" y="4228988"/>
            <a:ext cx="5488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00" b="1" dirty="0">
                <a:solidFill>
                  <a:srgbClr val="F5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三层护栏</a:t>
            </a:r>
            <a:endParaRPr lang="en-US" sz="700" dirty="0"/>
          </a:p>
        </p:txBody>
      </p:sp>
      <p:sp>
        <p:nvSpPr>
          <p:cNvPr id="167" name="Text 156"/>
          <p:cNvSpPr/>
          <p:nvPr/>
        </p:nvSpPr>
        <p:spPr>
          <a:xfrm>
            <a:off x="6964821" y="4235462"/>
            <a:ext cx="1729122" cy="143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700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——上下文层·执行层·数据层</a:t>
            </a:r>
            <a:endParaRPr lang="en-US" sz="700" dirty="0"/>
          </a:p>
        </p:txBody>
      </p:sp>
      <p:sp>
        <p:nvSpPr>
          <p:cNvPr id="168" name="Text 157"/>
          <p:cNvSpPr/>
          <p:nvPr/>
        </p:nvSpPr>
        <p:spPr>
          <a:xfrm>
            <a:off x="342900" y="468808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195" dirty="0"/>
          </a:p>
        </p:txBody>
      </p:sp>
      <p:sp>
        <p:nvSpPr>
          <p:cNvPr id="169" name="Text 158"/>
          <p:cNvSpPr/>
          <p:nvPr/>
        </p:nvSpPr>
        <p:spPr>
          <a:xfrm>
            <a:off x="528638" y="4668441"/>
            <a:ext cx="169106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67E8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『没有评估，就没有进步。』</a:t>
            </a:r>
            <a:endParaRPr lang="en-US" sz="844" dirty="0"/>
          </a:p>
        </p:txBody>
      </p:sp>
      <p:sp>
        <p:nvSpPr>
          <p:cNvPr id="170" name="Text 159"/>
          <p:cNvSpPr/>
          <p:nvPr/>
        </p:nvSpPr>
        <p:spPr>
          <a:xfrm>
            <a:off x="5141714" y="4690988"/>
            <a:ext cx="3659386" cy="138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学习仓库</a:t>
            </a:r>
            <a:pPr algn="l" indent="0" marL="0">
              <a:lnSpc>
                <a:spcPts val="104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github.com/dongf9527/ai-agent-book </a:t>
            </a:r>
            <a:pPr algn="l" indent="0" marL="0">
              <a:lnSpc>
                <a:spcPts val="1041"/>
              </a:lnSpc>
              <a:buNone/>
            </a:pPr>
            <a:r>
              <a:rPr lang="en-US" sz="694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4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笔记与 PPT 全部入库 docs/ </a:t>
            </a:r>
            <a:pPr algn="l" indent="0" marL="0">
              <a:lnSpc>
                <a:spcPts val="1041"/>
              </a:lnSpc>
              <a:buNone/>
            </a:pPr>
            <a:r>
              <a:rPr lang="en-US" sz="694" dirty="0">
                <a:solidFill>
                  <a:srgbClr val="F5F1E8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1041"/>
              </a:lnSpc>
              <a:buNone/>
            </a:pPr>
            <a:r>
              <a:rPr lang="en-US" sz="608" dirty="0">
                <a:solidFill>
                  <a:srgbClr val="F5F1E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2026-10-24</a:t>
            </a:r>
            <a:endParaRPr lang="en-US" sz="6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2026-10-24T16:52:09Z</dcterms:created>
  <dcterms:modified xsi:type="dcterms:W3CDTF">2026-10-24T16:52:09Z</dcterms:modified>
</cp:coreProperties>
</file>