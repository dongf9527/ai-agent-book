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各位好，欢迎来到《深入理解 AI Agent》的导读分享。这套幻灯片讲两件事：第一，一本书的全貌——它的核心公式、章节结构，以及贯穿全书的五条主线；第二，一份可以直接照着执行的十周实践路线。需要先说明：这是一份写给开发者和系统学习者的导读，帮大家快速建立全局地图，而不是书内容的复刻，细节请回到原书精读。这本书是李博杰老师的开源书，采用 Apache-2.0 协议，可以自由二次开发；书中共有 109 个可运行实验，每一个都配有 EXPERIMENT_LEDGER 证据链，假设、数据、结论全程可追溯。接下来我们先看全局，再进入实践路线。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这一页是全书的第一性原理：Agent = LLM + 上下文 + 工具。我们用三个槽位来类比：LLM 是大脑，负责理解与决策，对应学术术语里的策略 Policy；上下文是眼睛，决定每次决策的信息输入，对应观察空间 Observation Space；工具是手脚，决定能对世界做什么改动，对应动作空间 Action Space。底部三个关键判断请记住：眼睛是决定性因素，消融实验表明，去掉工具定义或执行结果会直接夺走行动与闭环能力；模型固定时，扩展眼睛和手脚是最主要的能力杠杆，重定义观察与动作空间能把不可解任务变为可解；大脑之外仍有竞争力空间，因为模型能力正在商品化。标题里的两种形态，一是这页的学术公式，二是下一页的生产形态。后面每一章都在改公式的某个部件——阶段一的验收标准，就是能把任意一个 Agent 产品拆进这三个槽位。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进入生产形态，公式变成 Agent = Model + Harness。Harness 是模型外围的工程系统，由五部分组成：上下文管理、工具接口、约束、验证、纠正——可以看到，它绝大部分代码都在做约束、验证与纠正这些工程活。为什么说 Harness 是竞争力所在？因为在模型商品化的背景下，大家能用的模型越来越趋同，工程价值正加速向 Harness 转移，Demo 和产品的差距恰恰在 Harness，不在模型。Anthropic 的实验是最直接的证据：不换模型，只改 Harness，准确率就从 52.8% 提升到 66.5%——这组数字是全书演化主线最直接的注脚。当然，模型会一层一层吃掉 Harness，但工程上总有模型暂时做不稳的事，这正是后面要讲的飞轮，没有吃完的那一天。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怎么用这本书？仓库里是三层资产。第一层是正文 book 目录，10 章共 7300 行 Markdown，可以用 pandoc 加 xelatex 编译成 PDF，用法是通读建立框架；第二层是 chapter1 到 chapter10 的实验目录，109 个可运行实验，用 uv 做依赖管理，extras 提供 ch1~ch10、all、vllm、unsloth 等选项，用法是动手验证概念；第三层是 EXPERIMENT_LEDGER 台账，每个实验都要留下假设、数据、结论构成的证据链，这是学习科研式做实验的范式。三层的配合方式是：读一章正文，跑对应章节的 Starter 实验，再把结果记进自己的台账。我们的学习仓库 fork 自 dongf9527/ai-agent-book，已同步上游全历史，学习笔记统一提交到 docs 目录，方便追溯与复盘。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这一页是十章的全景地图，色点代表难度：入门与进阶是青色，高级是象牙白，工程级是黄色，专家级和应用级是橙红色。重点看三处：ch2 上下文工程，10 个实验，是全书最关键的一章；ch5 Coding Agent，16 个实验，全书最多；ch8 模型后训练，19 个实验，是唯一需要机器学习基础与 GPU 的一章，环境要求 Python 3.12 以上。阅读顺序上，建议 1→2→3→4 优先打通，再按主线进入构建篇与提升篇的其余章节。官方为每章配了一个 Starter 实验，对应关系是：ch1 context、ch2 context-compression、ch3 user-memory、ch4 execution-tools、ch5 coding-agent、ch6 live-audio、ch7 tau2-bench-eval、ch8 cot-distillation、ch9 trajectory-verifier、ch10 parallel-web-research，大家可以按图索骥。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本页讲全书的结构主线：先能用，再好用；先闭环，再放大。上半回答“如何构建 Agent”——ch1 建立概念，ch2 管任务内上下文，ch3 延伸到跨会话记忆，ch4 接上工具，ch5 沉淀代码元能力，ch6 扩展观察与动作空间。下半回答“如何提升 Agent 能力”——ch7 评估、ch8 模型参数、ch9 单体系统、ch10 群体系统。请强调“管道式衔接”：ch2 管任务内上下文，ch3 延伸到跨会话，ch7 的评估环境与数据会喂给 ch8 的后训练，并成为 ch9 更新提案的依据。评估是提升篇的共同前提——先有可信信号，才谈得上提升。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方法论主线的目标，是把 Agent 开发从炼金术变成科学工程。科学循环四步：观察、假设、实验、验证；验证产出新认识、新假设，回到观察——上面的虚线回环就是迭代本身。提升经验有三条更新路径，按可回滚程度从高到低排序：上下文内适应是周级，改提示即时生效、即时撤销；外部产物更新是月级，靠最小 diff 与提案审核保证可回滚；参数更新是季度级，风险最高，对应 ch8 的 SFT 记忆与 RL 泛化。风险与回滚能力必须匹配。全书分工：ch3 承担提案段，ch7 承担证据段，ch9 合成完整闭环——这正是 109 个实验与台账文化的意义：没有评估，就没有进步。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设计模式是全书的复用层：第 1 章一次性命名，第 2–10 章逐章复用。请特别强调：提议者—审核者的成立前提是“自审不可靠”——产出与评判必须由不共享上下文的两个角色分别承担，所以 ch4 做工具审批、ch5 做产物审查、ch9 做更新提案。渐进式披露先给可检索的目录，再按需加载细节；只增不改让状态可缓存、可重放、可审计；边界集加保留集确保改动只落在应改变的样本上；最小 diff 加可回滚控制每次修改的爆炸半径。建议大家把五个模式当作检查清单，用在每次实验复盘里：这次改动触发了哪几个模式，漏掉了哪几个。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演化主线讲三件事。第一，能力飞轮：Harness 补上模型暂时做不稳的事，补救沉淀为下一轮训练信号，模型内化后对应 Harness 层被删掉，Harness 再向新的能力前沿迁移——Anthropic 从 52.8% 到 66.5% 就是这条飞轮的实证。工程含义：不要在 Harness 里重复造模型即将内化的轮子，但也不要干等模型。第二，两朵乌云：一是如何流式、实时地与环境交互，走快慢分离与推理提速两条路；二是如何从交互成败中持续积累经验，ch3 记忆与 ch9 进化正是对第二朵乌云的回应。第三，安全观：安全是架构问题不是补丁，上下文、执行、数据三层护栏，从第一行代码就要考虑。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本页把三条更新路径细化到章节。上下文内适应是周级：上下文压缩、提示优化、Agent Skills、KV Cache 友好设计，对应 ch2，可回滚程度最高。外部产物沉淀是月级：用户记忆、知识库 RAG、技能包、工具与代码自演化，对应 ch3、ch4、ch9 的提案段，要求最小 diff、带来源、可回滚。参数更新是季度级：SFT 记忆、RL 泛化、在轨蒸馏，对应 ch8，可回滚程度最低，需要本地 GPU 与 Python 3.12+。强调：按可回滚程度选择路径是工程判断，不是技术偏好；做参数更新时，数据与环境比算法更重要。改前先问一句：这个改动，撤销的代价是多少？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现在进入实践路线的上半场——构建期四周。阶段一在第一周立框架：精读第 1 章与引言，跑 chapter1/context 实验，用代码指出 Harness 五要素对应哪些行，产出第一章精读笔记。阶段二在第二到三周走眼睛主线：精读第 2、3 章，沿 kv-cache、context-compression、prompt-injection 到 user-memory 的实验链依次做下去，形成上下文与记忆实验记录，包括六种压缩策略对比表和记忆系统生命周期图。阶段三在第四周走手脚主线：精读第 4、5 章，跑 execution-tools 和 coding-agent，留下工具安全链路记录与自定义工具 diff。请特别记住两点：每个阶段只做验收标准内的事，避免贪多；所有产出按协作规则写入 docs/ 目录——docs: 前缀提交、禁止 force push。有余力可以做 GPU 加餐 local_llm_serving，用 Ollama 跑 Qwen3-0.6B。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下半场从第五周到第十周，分三个阶段。阶段四『证据』：精读第 7 章，跑 tau2-bench-eval，核心任务是为 mini agent 预建评估集——10 到 20 条端到端任务，加上轨迹前缀边界任务，定义边界集与保留集，产出评估集 v1。阶段五『创造』：借 coding agent 参照第 1 到 5 章从头实现 mini coding agent，同时进入 GPU 主场，跑 ch8 的 cot-distillation 和 curly-quote-sft；这一阶段的验收标准，是在评估集上取得 Pass^k 可复现的提升。阶段六『进化』：精读第 9、10 章，跑 trajectory-verifier 和 parallel-web-research，为 mini agent 挂上受控更新回路；验收标准是真实失败案例经闭环转化为改进，且不伤保留集。最后这六问自查清单，是每次实验和迭代记录的模板：改了公式哪个部件、属于哪条更新路径且可回滚与风险匹配、五个设计模式出现了几个、边界集和保留集是否都测了、结论有没有数据支撑、安全三层是否被波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收尾只讲一件事：从一个实验开始，而不是从第十章开始。第一个实验最重要，完成比完美优先——本周就做三步：精读第 1 章与引言，写下公式三层理解；跑通 chapter1/context，标出 Harness 五要素对应的代码行；再以 docs: 前缀把首篇精读笔记提交到 docs/ 目录。协作规则会反过来约束进度：小步提交、docs: 前缀、禁止 force push，让节奏可持续。同时提醒：GitHub Token 有效期至 2026-11-23，到期前记得更换，.env 与凭据文件一律不入库。上游书仓是 bojieli/ai-agent-book，学习仓库是 dongf9527/ai-agent-book。长期节奏是每周固定迭代：看失败案例、归因、最小 diff、评估集验证、提交。没有评估，就没有进步——我们从一个实验开始。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0" y="-2143125"/>
            <a:ext cx="6715125" cy="6715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0" y="-2143125"/>
            <a:ext cx="6715125" cy="6715125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818709" y="503634"/>
            <a:ext cx="2778919" cy="2778919"/>
          </a:xfrm>
          <a:prstGeom prst="ellipse">
            <a:avLst/>
          </a:prstGeom>
          <a:noFill/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761156" y="4200525"/>
            <a:ext cx="5382844" cy="942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75"/>
              </a:lnSpc>
              <a:buNone/>
            </a:pPr>
            <a:r>
              <a:rPr lang="en-US" sz="10575" b="1" spc="529" kern="0" dirty="0">
                <a:solidFill>
                  <a:srgbClr val="FFFFFF">
                    <a:alpha val="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endParaRPr lang="en-US" sz="10575" dirty="0"/>
          </a:p>
        </p:txBody>
      </p:sp>
      <p:sp>
        <p:nvSpPr>
          <p:cNvPr id="6" name="Text 3"/>
          <p:cNvSpPr/>
          <p:nvPr/>
        </p:nvSpPr>
        <p:spPr>
          <a:xfrm>
            <a:off x="685800" y="1442256"/>
            <a:ext cx="84582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spc="225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基于开源书的系统学习路线</a:t>
            </a:r>
            <a:endParaRPr lang="en-US" sz="703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47651"/>
            <a:ext cx="1700213" cy="142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2004826"/>
            <a:ext cx="8458200" cy="491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84"/>
              </a:lnSpc>
              <a:buNone/>
            </a:pPr>
            <a:r>
              <a:rPr lang="en-US" sz="3038" b="1" spc="30" kern="0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 </a:t>
            </a:r>
            <a:pPr algn="l" indent="0" marL="0">
              <a:lnSpc>
                <a:spcPts val="3584"/>
              </a:lnSpc>
              <a:buNone/>
            </a:pPr>
            <a:r>
              <a:rPr lang="en-US" sz="3038" b="1" spc="30" kern="0" dirty="0">
                <a:solidFill>
                  <a:srgbClr val="67E8F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AI Agent</a:t>
            </a:r>
            <a:endParaRPr lang="en-US" sz="3038" dirty="0"/>
          </a:p>
        </p:txBody>
      </p:sp>
      <p:sp>
        <p:nvSpPr>
          <p:cNvPr id="9" name="Text 5"/>
          <p:cNvSpPr/>
          <p:nvPr/>
        </p:nvSpPr>
        <p:spPr>
          <a:xfrm>
            <a:off x="685800" y="2602892"/>
            <a:ext cx="8458200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4"/>
              </a:lnSpc>
              <a:buNone/>
            </a:pPr>
            <a:r>
              <a:rPr lang="en-US" sz="1463" spc="146" kern="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全书总览与实践路线</a:t>
            </a:r>
            <a:endParaRPr lang="en-US" sz="1463" dirty="0"/>
          </a:p>
        </p:txBody>
      </p:sp>
      <p:sp>
        <p:nvSpPr>
          <p:cNvPr id="10" name="Text 6"/>
          <p:cNvSpPr/>
          <p:nvPr/>
        </p:nvSpPr>
        <p:spPr>
          <a:xfrm>
            <a:off x="685800" y="3211597"/>
            <a:ext cx="1685144" cy="245274"/>
          </a:xfrm>
          <a:prstGeom prst="roundRect">
            <a:avLst>
              <a:gd name="adj" fmla="val 3879529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85800" y="3224399"/>
            <a:ext cx="1685144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李博杰《深入理解 </a:t>
            </a:r>
            <a:pPr algn="ctr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67E8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</a:t>
            </a:r>
            <a:pPr algn="ctr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67E8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</a:t>
            </a:r>
            <a:pPr algn="ctr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》开源书</a:t>
            </a:r>
            <a:endParaRPr lang="en-US" sz="703" dirty="0"/>
          </a:p>
        </p:txBody>
      </p:sp>
      <p:sp>
        <p:nvSpPr>
          <p:cNvPr id="12" name="Text 8"/>
          <p:cNvSpPr/>
          <p:nvPr/>
        </p:nvSpPr>
        <p:spPr>
          <a:xfrm>
            <a:off x="2456669" y="3211597"/>
            <a:ext cx="751991" cy="245274"/>
          </a:xfrm>
          <a:prstGeom prst="roundRect">
            <a:avLst>
              <a:gd name="adj" fmla="val 3879529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2456669" y="3224399"/>
            <a:ext cx="751991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Apache-2.0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294385" y="3211597"/>
            <a:ext cx="756791" cy="245274"/>
          </a:xfrm>
          <a:prstGeom prst="roundRect">
            <a:avLst>
              <a:gd name="adj" fmla="val 3879529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3713299" y="3267261"/>
            <a:ext cx="4359139" cy="1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stars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401541" y="3267261"/>
            <a:ext cx="542479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55.7k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85800" y="4652367"/>
            <a:ext cx="525690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spc="14" kern="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pPr algn="l" indent="0" marL="0">
              <a:lnSpc>
                <a:spcPts val="1055"/>
              </a:lnSpc>
              <a:buNone/>
            </a:pPr>
            <a:r>
              <a:rPr lang="en-US" sz="703" spc="14" kern="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章正文 · </a:t>
            </a:r>
            <a:pPr algn="l" indent="0" marL="0">
              <a:lnSpc>
                <a:spcPts val="1055"/>
              </a:lnSpc>
              <a:buNone/>
            </a:pPr>
            <a:r>
              <a:rPr lang="en-US" sz="703" spc="14" kern="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7300</a:t>
            </a:r>
            <a:pPr algn="l" indent="0" marL="0">
              <a:lnSpc>
                <a:spcPts val="1055"/>
              </a:lnSpc>
              <a:buNone/>
            </a:pPr>
            <a:r>
              <a:rPr lang="en-US" sz="703" spc="14" kern="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行 </a:t>
            </a:r>
            <a:pPr algn="l" indent="0" marL="0">
              <a:lnSpc>
                <a:spcPts val="1055"/>
              </a:lnSpc>
              <a:buNone/>
            </a:pPr>
            <a:r>
              <a:rPr lang="en-US" sz="703" spc="14" kern="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Markdown</a:t>
            </a:r>
            <a:pPr algn="l" indent="0" marL="0">
              <a:lnSpc>
                <a:spcPts val="1055"/>
              </a:lnSpc>
              <a:buNone/>
            </a:pPr>
            <a:r>
              <a:rPr lang="en-US" sz="703" spc="14" kern="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055"/>
              </a:lnSpc>
              <a:buNone/>
            </a:pPr>
            <a:r>
              <a:rPr lang="en-US" sz="703" spc="14" kern="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109</a:t>
            </a:r>
            <a:pPr algn="l" indent="0" marL="0">
              <a:lnSpc>
                <a:spcPts val="1055"/>
              </a:lnSpc>
              <a:buNone/>
            </a:pPr>
            <a:r>
              <a:rPr lang="en-US" sz="703" spc="14" kern="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个可运行实验 · </a:t>
            </a:r>
            <a:pPr algn="l" indent="0" marL="0">
              <a:lnSpc>
                <a:spcPts val="1055"/>
              </a:lnSpc>
              <a:buNone/>
            </a:pPr>
            <a:r>
              <a:rPr lang="en-US" sz="703" spc="14" kern="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l" indent="0" marL="0">
              <a:lnSpc>
                <a:spcPts val="1055"/>
              </a:lnSpc>
              <a:buNone/>
            </a:pPr>
            <a:r>
              <a:rPr lang="en-US" sz="703" spc="14" kern="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层学习资产</a:t>
            </a:r>
            <a:endParaRPr lang="en-US" sz="703" dirty="0"/>
          </a:p>
        </p:txBody>
      </p:sp>
      <p:sp>
        <p:nvSpPr>
          <p:cNvPr id="18" name="Text 14"/>
          <p:cNvSpPr/>
          <p:nvPr/>
        </p:nvSpPr>
        <p:spPr>
          <a:xfrm>
            <a:off x="6114157" y="4673798"/>
            <a:ext cx="251549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学习仓库 </a:t>
            </a:r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github</a:t>
            </a:r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</a:t>
            </a:r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</a:t>
            </a:r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dongf9527/ai-agent-book</a:t>
            </a:r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｜ </a:t>
            </a:r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2026-10-24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5907" y="3600450"/>
            <a:ext cx="1888093" cy="154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75"/>
              </a:lnSpc>
              <a:buNone/>
            </a:pPr>
            <a:r>
              <a:rPr lang="en-US" sz="16875" b="1" dirty="0">
                <a:solidFill>
                  <a:srgbClr val="FFFFFF">
                    <a:alpha val="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6875" dirty="0"/>
          </a:p>
        </p:txBody>
      </p:sp>
      <p:sp>
        <p:nvSpPr>
          <p:cNvPr id="3" name="Text 1"/>
          <p:cNvSpPr/>
          <p:nvPr/>
        </p:nvSpPr>
        <p:spPr>
          <a:xfrm>
            <a:off x="457200" y="381298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16200000">
              <a:srgbClr val="22D3EE">
                <a:alpha val="5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85788" y="342900"/>
            <a:ext cx="810101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spc="225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主线一 · 公式主线</a:t>
            </a:r>
            <a:endParaRPr lang="en-US" sz="703" dirty="0"/>
          </a:p>
        </p:txBody>
      </p:sp>
      <p:sp>
        <p:nvSpPr>
          <p:cNvPr id="5" name="Text 3"/>
          <p:cNvSpPr/>
          <p:nvPr/>
        </p:nvSpPr>
        <p:spPr>
          <a:xfrm>
            <a:off x="457200" y="562570"/>
            <a:ext cx="3493882" cy="439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一个公式，两种形态</a:t>
            </a:r>
            <a:endParaRPr lang="en-US" sz="2138" dirty="0"/>
          </a:p>
        </p:txBody>
      </p:sp>
      <p:sp>
        <p:nvSpPr>
          <p:cNvPr id="6" name="Text 4"/>
          <p:cNvSpPr/>
          <p:nvPr/>
        </p:nvSpPr>
        <p:spPr>
          <a:xfrm>
            <a:off x="3086212" y="762595"/>
            <a:ext cx="5600588" cy="7144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138" y="1433326"/>
            <a:ext cx="1202941" cy="4843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03710" y="1436898"/>
            <a:ext cx="1195797" cy="477180"/>
          </a:xfrm>
          <a:prstGeom prst="roundRect">
            <a:avLst>
              <a:gd name="adj" fmla="val 27945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000138" y="1433326"/>
            <a:ext cx="1252947" cy="523070"/>
          </a:xfrm>
          <a:prstGeom prst="rect">
            <a:avLst/>
          </a:prstGeom>
          <a:noFill/>
          <a:ln/>
        </p:spPr>
        <p:txBody>
          <a:bodyPr wrap="none" lIns="185738" tIns="85725" rIns="185738" bIns="85725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138" b="1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endParaRPr lang="en-US" sz="2138" dirty="0"/>
          </a:p>
        </p:txBody>
      </p:sp>
      <p:sp>
        <p:nvSpPr>
          <p:cNvPr id="10" name="Text 7"/>
          <p:cNvSpPr/>
          <p:nvPr/>
        </p:nvSpPr>
        <p:spPr>
          <a:xfrm>
            <a:off x="3303091" y="1536129"/>
            <a:ext cx="178951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4"/>
              </a:lnSpc>
              <a:buNone/>
            </a:pPr>
            <a:r>
              <a:rPr lang="en-US" sz="1463" dirty="0">
                <a:solidFill>
                  <a:srgbClr val="F5F1E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463" dirty="0"/>
          </a:p>
        </p:txBody>
      </p:sp>
      <p:sp>
        <p:nvSpPr>
          <p:cNvPr id="11" name="Text 8"/>
          <p:cNvSpPr/>
          <p:nvPr/>
        </p:nvSpPr>
        <p:spPr>
          <a:xfrm>
            <a:off x="3518520" y="1436898"/>
            <a:ext cx="868970" cy="477180"/>
          </a:xfrm>
          <a:prstGeom prst="roundRect">
            <a:avLst>
              <a:gd name="adj" fmla="val 27945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514948" y="1433326"/>
            <a:ext cx="926120" cy="523070"/>
          </a:xfrm>
          <a:prstGeom prst="rect">
            <a:avLst/>
          </a:prstGeom>
          <a:noFill/>
          <a:ln/>
        </p:spPr>
        <p:txBody>
          <a:bodyPr wrap="none" lIns="185738" tIns="85725" rIns="185738" bIns="85725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138" b="1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</a:t>
            </a:r>
            <a:endParaRPr lang="en-US" sz="2138" dirty="0"/>
          </a:p>
        </p:txBody>
      </p:sp>
      <p:sp>
        <p:nvSpPr>
          <p:cNvPr id="13" name="Text 10"/>
          <p:cNvSpPr/>
          <p:nvPr/>
        </p:nvSpPr>
        <p:spPr>
          <a:xfrm>
            <a:off x="4491075" y="1536129"/>
            <a:ext cx="178951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463" dirty="0"/>
          </a:p>
        </p:txBody>
      </p:sp>
      <p:sp>
        <p:nvSpPr>
          <p:cNvPr id="14" name="Text 11"/>
          <p:cNvSpPr/>
          <p:nvPr/>
        </p:nvSpPr>
        <p:spPr>
          <a:xfrm>
            <a:off x="4706503" y="1436898"/>
            <a:ext cx="1193118" cy="477180"/>
          </a:xfrm>
          <a:prstGeom prst="roundRect">
            <a:avLst>
              <a:gd name="adj" fmla="val 27945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702932" y="1433326"/>
            <a:ext cx="1250268" cy="523070"/>
          </a:xfrm>
          <a:prstGeom prst="rect">
            <a:avLst/>
          </a:prstGeom>
          <a:noFill/>
          <a:ln/>
        </p:spPr>
        <p:txBody>
          <a:bodyPr wrap="none" lIns="185738" tIns="85725" rIns="185738" bIns="85725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138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</a:t>
            </a:r>
            <a:endParaRPr lang="en-US" sz="2138" dirty="0"/>
          </a:p>
        </p:txBody>
      </p:sp>
      <p:sp>
        <p:nvSpPr>
          <p:cNvPr id="16" name="Text 13"/>
          <p:cNvSpPr/>
          <p:nvPr/>
        </p:nvSpPr>
        <p:spPr>
          <a:xfrm>
            <a:off x="6003206" y="1536129"/>
            <a:ext cx="178951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463" dirty="0"/>
          </a:p>
        </p:txBody>
      </p:sp>
      <p:sp>
        <p:nvSpPr>
          <p:cNvPr id="17" name="Text 14"/>
          <p:cNvSpPr/>
          <p:nvPr/>
        </p:nvSpPr>
        <p:spPr>
          <a:xfrm>
            <a:off x="6218634" y="1436898"/>
            <a:ext cx="921655" cy="477180"/>
          </a:xfrm>
          <a:prstGeom prst="roundRect">
            <a:avLst>
              <a:gd name="adj" fmla="val 27945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215063" y="1433326"/>
            <a:ext cx="2471738" cy="523070"/>
          </a:xfrm>
          <a:prstGeom prst="rect">
            <a:avLst/>
          </a:prstGeom>
          <a:noFill/>
          <a:ln/>
        </p:spPr>
        <p:txBody>
          <a:bodyPr wrap="none" lIns="185738" tIns="85725" rIns="185738" bIns="85725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138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2138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81213"/>
            <a:ext cx="2666963" cy="106977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60772" y="2384785"/>
            <a:ext cx="2659819" cy="1062633"/>
          </a:xfrm>
          <a:prstGeom prst="roundRect">
            <a:avLst>
              <a:gd name="adj" fmla="val 12549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621506" y="255802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547" dirty="0"/>
          </a:p>
        </p:txBody>
      </p:sp>
      <p:sp>
        <p:nvSpPr>
          <p:cNvPr id="22" name="Text 18"/>
          <p:cNvSpPr/>
          <p:nvPr/>
        </p:nvSpPr>
        <p:spPr>
          <a:xfrm>
            <a:off x="850106" y="2531232"/>
            <a:ext cx="1009126" cy="227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</a:t>
            </a:r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大脑</a:t>
            </a:r>
            <a:endParaRPr lang="en-US" sz="1069" dirty="0"/>
          </a:p>
        </p:txBody>
      </p:sp>
      <p:sp>
        <p:nvSpPr>
          <p:cNvPr id="23" name="Text 19"/>
          <p:cNvSpPr/>
          <p:nvPr/>
        </p:nvSpPr>
        <p:spPr>
          <a:xfrm>
            <a:off x="2825099" y="2569629"/>
            <a:ext cx="1619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03" dirty="0"/>
          </a:p>
        </p:txBody>
      </p:sp>
      <p:sp>
        <p:nvSpPr>
          <p:cNvPr id="24" name="Text 20"/>
          <p:cNvSpPr/>
          <p:nvPr/>
        </p:nvSpPr>
        <p:spPr>
          <a:xfrm>
            <a:off x="621506" y="2827697"/>
            <a:ext cx="2338350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提供理解与决策</a:t>
            </a:r>
            <a:endParaRPr lang="en-US" sz="844" dirty="0"/>
          </a:p>
        </p:txBody>
      </p:sp>
      <p:sp>
        <p:nvSpPr>
          <p:cNvPr id="25" name="Text 21"/>
          <p:cNvSpPr/>
          <p:nvPr/>
        </p:nvSpPr>
        <p:spPr>
          <a:xfrm>
            <a:off x="598646" y="3135414"/>
            <a:ext cx="940586" cy="190024"/>
          </a:xfrm>
          <a:prstGeom prst="roundRect">
            <a:avLst>
              <a:gd name="adj" fmla="val 5007512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607548" y="3145594"/>
            <a:ext cx="922782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学术层对应 </a:t>
            </a:r>
            <a:pPr algn="ctr" indent="0" marL="0">
              <a:lnSpc>
                <a:spcPts val="886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</a:t>
            </a:r>
            <a:endParaRPr lang="en-US" sz="7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463" y="2381213"/>
            <a:ext cx="2666963" cy="1069777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242035" y="2384785"/>
            <a:ext cx="2659819" cy="1062633"/>
          </a:xfrm>
          <a:prstGeom prst="roundRect">
            <a:avLst>
              <a:gd name="adj" fmla="val 12549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3402769" y="255444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547" dirty="0"/>
          </a:p>
        </p:txBody>
      </p:sp>
      <p:sp>
        <p:nvSpPr>
          <p:cNvPr id="30" name="Text 25"/>
          <p:cNvSpPr/>
          <p:nvPr/>
        </p:nvSpPr>
        <p:spPr>
          <a:xfrm>
            <a:off x="3631369" y="2531232"/>
            <a:ext cx="1216438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上下文——</a:t>
            </a:r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眼睛</a:t>
            </a:r>
            <a:endParaRPr lang="en-US" sz="1069" dirty="0"/>
          </a:p>
        </p:txBody>
      </p:sp>
      <p:sp>
        <p:nvSpPr>
          <p:cNvPr id="31" name="Text 26"/>
          <p:cNvSpPr/>
          <p:nvPr/>
        </p:nvSpPr>
        <p:spPr>
          <a:xfrm>
            <a:off x="5606361" y="2566057"/>
            <a:ext cx="1619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03" dirty="0"/>
          </a:p>
        </p:txBody>
      </p:sp>
      <p:sp>
        <p:nvSpPr>
          <p:cNvPr id="32" name="Text 27"/>
          <p:cNvSpPr/>
          <p:nvPr/>
        </p:nvSpPr>
        <p:spPr>
          <a:xfrm>
            <a:off x="3402769" y="2820553"/>
            <a:ext cx="2338350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决定每次决策的信息输入</a:t>
            </a:r>
            <a:endParaRPr lang="en-US" sz="844" dirty="0"/>
          </a:p>
        </p:txBody>
      </p:sp>
      <p:sp>
        <p:nvSpPr>
          <p:cNvPr id="33" name="Text 28"/>
          <p:cNvSpPr/>
          <p:nvPr/>
        </p:nvSpPr>
        <p:spPr>
          <a:xfrm>
            <a:off x="3379909" y="3128270"/>
            <a:ext cx="999187" cy="190024"/>
          </a:xfrm>
          <a:prstGeom prst="roundRect">
            <a:avLst>
              <a:gd name="adj" fmla="val 5007512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3402769" y="3138450"/>
            <a:ext cx="953467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 Space</a:t>
            </a:r>
            <a:endParaRPr lang="en-US" sz="80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726" y="2381213"/>
            <a:ext cx="2667074" cy="1069777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023297" y="2384785"/>
            <a:ext cx="2659931" cy="1062633"/>
          </a:xfrm>
          <a:prstGeom prst="roundRect">
            <a:avLst>
              <a:gd name="adj" fmla="val 12549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6184032" y="255444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547" dirty="0"/>
          </a:p>
        </p:txBody>
      </p:sp>
      <p:sp>
        <p:nvSpPr>
          <p:cNvPr id="38" name="Text 32"/>
          <p:cNvSpPr/>
          <p:nvPr/>
        </p:nvSpPr>
        <p:spPr>
          <a:xfrm>
            <a:off x="6412632" y="2531232"/>
            <a:ext cx="1042702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工具——</a:t>
            </a:r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手脚</a:t>
            </a:r>
            <a:endParaRPr lang="en-US" sz="1069" dirty="0"/>
          </a:p>
        </p:txBody>
      </p:sp>
      <p:sp>
        <p:nvSpPr>
          <p:cNvPr id="39" name="Text 33"/>
          <p:cNvSpPr/>
          <p:nvPr/>
        </p:nvSpPr>
        <p:spPr>
          <a:xfrm>
            <a:off x="8387736" y="2566057"/>
            <a:ext cx="1619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03" dirty="0"/>
          </a:p>
        </p:txBody>
      </p:sp>
      <p:sp>
        <p:nvSpPr>
          <p:cNvPr id="40" name="Text 34"/>
          <p:cNvSpPr/>
          <p:nvPr/>
        </p:nvSpPr>
        <p:spPr>
          <a:xfrm>
            <a:off x="6184032" y="2820553"/>
            <a:ext cx="2338462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决定能对世界做什么改动</a:t>
            </a:r>
            <a:endParaRPr lang="en-US" sz="844" dirty="0"/>
          </a:p>
        </p:txBody>
      </p:sp>
      <p:sp>
        <p:nvSpPr>
          <p:cNvPr id="41" name="Text 35"/>
          <p:cNvSpPr/>
          <p:nvPr/>
        </p:nvSpPr>
        <p:spPr>
          <a:xfrm>
            <a:off x="6161172" y="3128270"/>
            <a:ext cx="773378" cy="190024"/>
          </a:xfrm>
          <a:prstGeom prst="roundRect">
            <a:avLst>
              <a:gd name="adj" fmla="val 5007512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6"/>
          <p:cNvSpPr/>
          <p:nvPr/>
        </p:nvSpPr>
        <p:spPr>
          <a:xfrm>
            <a:off x="6158428" y="3138450"/>
            <a:ext cx="778866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Space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457200" y="3914552"/>
            <a:ext cx="95065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89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三个关键判断</a:t>
            </a:r>
            <a:endParaRPr lang="en-US" sz="700" dirty="0"/>
          </a:p>
        </p:txBody>
      </p:sp>
      <p:sp>
        <p:nvSpPr>
          <p:cNvPr id="44" name="Text 38"/>
          <p:cNvSpPr/>
          <p:nvPr/>
        </p:nvSpPr>
        <p:spPr>
          <a:xfrm>
            <a:off x="1151372" y="3967237"/>
            <a:ext cx="7535428" cy="7144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457200" y="4127078"/>
            <a:ext cx="8229600" cy="807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spcAft>
                <a:spcPts val="619"/>
              </a:spcAft>
              <a:buSzPct val="100000"/>
              <a:buChar char="•"/>
            </a:pPr>
            <a:r>
              <a:rPr lang="en-US" sz="900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眼睛是决定性因素——消融实验表明去掉工具定义或执行结果会直接夺走行动与闭环能力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619"/>
              </a:spcAft>
              <a:buSzPct val="100000"/>
              <a:buChar char="•"/>
            </a:pPr>
            <a:r>
              <a:rPr lang="en-US" sz="900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扩展眼睛和手脚是最主要的能力杠杆——模型固定时重定义观察/动作空间能把不可解任务变为可解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619"/>
              </a:spcAft>
              <a:buSzPct val="100000"/>
              <a:buChar char="•"/>
            </a:pPr>
            <a:r>
              <a:rPr lang="en-US" sz="900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大脑之外仍有竞争力空间——模型能力在商品化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6509" y="2570857"/>
            <a:ext cx="0" cy="346472"/>
          </a:xfrm>
          <a:prstGeom prst="line">
            <a:avLst/>
          </a:prstGeom>
          <a:noFill/>
          <a:ln w="21431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6509" y="3104406"/>
            <a:ext cx="0" cy="346472"/>
          </a:xfrm>
          <a:prstGeom prst="line">
            <a:avLst/>
          </a:prstGeom>
          <a:noFill/>
          <a:ln w="21431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6509" y="3637955"/>
            <a:ext cx="0" cy="346472"/>
          </a:xfrm>
          <a:prstGeom prst="line">
            <a:avLst/>
          </a:prstGeom>
          <a:noFill/>
          <a:ln w="21431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794" y="4088011"/>
            <a:ext cx="3057525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81298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16200000">
              <a:srgbClr val="22D3EE">
                <a:alpha val="5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5788" y="342900"/>
            <a:ext cx="810101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spc="225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主线一 · 公式主线的生产形态</a:t>
            </a:r>
            <a:endParaRPr lang="en-US" sz="703" dirty="0"/>
          </a:p>
        </p:txBody>
      </p:sp>
      <p:sp>
        <p:nvSpPr>
          <p:cNvPr id="8" name="Text 6"/>
          <p:cNvSpPr/>
          <p:nvPr/>
        </p:nvSpPr>
        <p:spPr>
          <a:xfrm>
            <a:off x="457200" y="562570"/>
            <a:ext cx="4699388" cy="439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</a:t>
            </a:r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F5F1E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Model </a:t>
            </a:r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Harness</a:t>
            </a:r>
            <a:endParaRPr lang="en-US" sz="2138" dirty="0"/>
          </a:p>
        </p:txBody>
      </p:sp>
      <p:sp>
        <p:nvSpPr>
          <p:cNvPr id="9" name="Text 7"/>
          <p:cNvSpPr/>
          <p:nvPr/>
        </p:nvSpPr>
        <p:spPr>
          <a:xfrm>
            <a:off x="4402448" y="762595"/>
            <a:ext cx="4284352" cy="7144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26927"/>
            <a:ext cx="3414713" cy="333791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60772" y="1130498"/>
            <a:ext cx="3407569" cy="3330773"/>
          </a:xfrm>
          <a:prstGeom prst="roundRect">
            <a:avLst>
              <a:gd name="adj" fmla="val 4004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35794" y="1291233"/>
            <a:ext cx="305752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89" kern="0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HARNESS</a:t>
            </a:r>
            <a:pPr algn="l" indent="0" marL="0">
              <a:lnSpc>
                <a:spcPts val="886"/>
              </a:lnSpc>
              <a:buNone/>
            </a:pPr>
            <a:r>
              <a:rPr lang="en-US" sz="700" spc="189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的构成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715490" y="1610023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914846" y="160555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5F1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5" name="Text 12"/>
          <p:cNvSpPr/>
          <p:nvPr/>
        </p:nvSpPr>
        <p:spPr>
          <a:xfrm>
            <a:off x="1143446" y="1575197"/>
            <a:ext cx="2464147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上下文管理</a:t>
            </a:r>
            <a:endParaRPr lang="en-US" sz="1069" dirty="0"/>
          </a:p>
        </p:txBody>
      </p:sp>
      <p:sp>
        <p:nvSpPr>
          <p:cNvPr id="16" name="Text 13"/>
          <p:cNvSpPr/>
          <p:nvPr/>
        </p:nvSpPr>
        <p:spPr>
          <a:xfrm>
            <a:off x="715490" y="2143571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914846" y="213910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5F1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406" dirty="0"/>
          </a:p>
        </p:txBody>
      </p:sp>
      <p:sp>
        <p:nvSpPr>
          <p:cNvPr id="18" name="Text 15"/>
          <p:cNvSpPr/>
          <p:nvPr/>
        </p:nvSpPr>
        <p:spPr>
          <a:xfrm>
            <a:off x="1143446" y="2108746"/>
            <a:ext cx="2464147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工具接口</a:t>
            </a:r>
            <a:endParaRPr lang="en-US" sz="1069" dirty="0"/>
          </a:p>
        </p:txBody>
      </p:sp>
      <p:sp>
        <p:nvSpPr>
          <p:cNvPr id="19" name="Text 16"/>
          <p:cNvSpPr/>
          <p:nvPr/>
        </p:nvSpPr>
        <p:spPr>
          <a:xfrm>
            <a:off x="635794" y="2570857"/>
            <a:ext cx="3057525" cy="346472"/>
          </a:xfrm>
          <a:prstGeom prst="roundRect">
            <a:avLst>
              <a:gd name="adj" fmla="val 27491"/>
            </a:avLst>
          </a:prstGeom>
          <a:solidFill>
            <a:srgbClr val="22D3EE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736922" y="2677120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936278" y="267265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5F1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406" dirty="0"/>
          </a:p>
        </p:txBody>
      </p:sp>
      <p:sp>
        <p:nvSpPr>
          <p:cNvPr id="22" name="Text 19"/>
          <p:cNvSpPr/>
          <p:nvPr/>
        </p:nvSpPr>
        <p:spPr>
          <a:xfrm>
            <a:off x="1164878" y="2642295"/>
            <a:ext cx="244271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1069" dirty="0"/>
          </a:p>
        </p:txBody>
      </p:sp>
      <p:sp>
        <p:nvSpPr>
          <p:cNvPr id="23" name="Text 20"/>
          <p:cNvSpPr/>
          <p:nvPr/>
        </p:nvSpPr>
        <p:spPr>
          <a:xfrm>
            <a:off x="635794" y="3104406"/>
            <a:ext cx="3057525" cy="346472"/>
          </a:xfrm>
          <a:prstGeom prst="roundRect">
            <a:avLst>
              <a:gd name="adj" fmla="val 27491"/>
            </a:avLst>
          </a:prstGeom>
          <a:solidFill>
            <a:srgbClr val="22D3EE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736922" y="3210669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936278" y="320620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5F1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26" name="Text 23"/>
          <p:cNvSpPr/>
          <p:nvPr/>
        </p:nvSpPr>
        <p:spPr>
          <a:xfrm>
            <a:off x="1164878" y="3175843"/>
            <a:ext cx="244271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069" dirty="0"/>
          </a:p>
        </p:txBody>
      </p:sp>
      <p:sp>
        <p:nvSpPr>
          <p:cNvPr id="27" name="Text 24"/>
          <p:cNvSpPr/>
          <p:nvPr/>
        </p:nvSpPr>
        <p:spPr>
          <a:xfrm>
            <a:off x="635794" y="3637955"/>
            <a:ext cx="3057525" cy="346472"/>
          </a:xfrm>
          <a:prstGeom prst="roundRect">
            <a:avLst>
              <a:gd name="adj" fmla="val 27491"/>
            </a:avLst>
          </a:prstGeom>
          <a:solidFill>
            <a:srgbClr val="22D3EE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736922" y="3744218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936278" y="373975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5F1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406" dirty="0"/>
          </a:p>
        </p:txBody>
      </p:sp>
      <p:sp>
        <p:nvSpPr>
          <p:cNvPr id="30" name="Text 27"/>
          <p:cNvSpPr/>
          <p:nvPr/>
        </p:nvSpPr>
        <p:spPr>
          <a:xfrm>
            <a:off x="1164878" y="3709392"/>
            <a:ext cx="244271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纠正</a:t>
            </a:r>
            <a:endParaRPr lang="en-US" sz="1069" dirty="0"/>
          </a:p>
        </p:txBody>
      </p:sp>
      <p:sp>
        <p:nvSpPr>
          <p:cNvPr id="31" name="Text 28"/>
          <p:cNvSpPr/>
          <p:nvPr/>
        </p:nvSpPr>
        <p:spPr>
          <a:xfrm>
            <a:off x="635794" y="4177308"/>
            <a:ext cx="3057525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Harness</a:t>
            </a:r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绝大部分代码都在做</a:t>
            </a:r>
            <a:pPr algn="l" indent="0" marL="0">
              <a:lnSpc>
                <a:spcPts val="1195"/>
              </a:lnSpc>
              <a:buNone/>
            </a:pPr>
            <a:r>
              <a:rPr lang="en-US" sz="703" b="1" dirty="0">
                <a:solidFill>
                  <a:srgbClr val="67E8F9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约束、验证与纠正</a:t>
            </a:r>
            <a:endParaRPr lang="en-US" sz="703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1126927"/>
            <a:ext cx="4686300" cy="909377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4004072" y="1130498"/>
            <a:ext cx="4679156" cy="902233"/>
          </a:xfrm>
          <a:prstGeom prst="roundRect">
            <a:avLst>
              <a:gd name="adj" fmla="val 14780"/>
            </a:avLst>
          </a:prstGeom>
          <a:noFill/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4193381" y="1291233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2109" dirty="0"/>
          </a:p>
        </p:txBody>
      </p:sp>
      <p:sp>
        <p:nvSpPr>
          <p:cNvPr id="35" name="Text 31"/>
          <p:cNvSpPr/>
          <p:nvPr/>
        </p:nvSpPr>
        <p:spPr>
          <a:xfrm>
            <a:off x="4193381" y="1569839"/>
            <a:ext cx="4410266" cy="302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7"/>
              </a:lnSpc>
              <a:buNone/>
            </a:pPr>
            <a:r>
              <a:rPr lang="en-US" sz="146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『</a:t>
            </a:r>
            <a:pPr algn="l" indent="0" marL="0">
              <a:lnSpc>
                <a:spcPts val="2267"/>
              </a:lnSpc>
              <a:buNone/>
            </a:pPr>
            <a:r>
              <a:rPr lang="en-US" sz="1463" b="1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Demo</a:t>
            </a:r>
            <a:pPr algn="l" indent="0" marL="0">
              <a:lnSpc>
                <a:spcPts val="2267"/>
              </a:lnSpc>
              <a:buNone/>
            </a:pPr>
            <a:r>
              <a:rPr lang="en-US" sz="146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和产品的差距在 </a:t>
            </a:r>
            <a:pPr algn="l" indent="0" marL="0">
              <a:lnSpc>
                <a:spcPts val="2267"/>
              </a:lnSpc>
              <a:buNone/>
            </a:pPr>
            <a:r>
              <a:rPr lang="en-US" sz="1463" b="1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Harness</a:t>
            </a:r>
            <a:pPr algn="l" indent="0" marL="0">
              <a:lnSpc>
                <a:spcPts val="2267"/>
              </a:lnSpc>
              <a:buNone/>
            </a:pPr>
            <a:r>
              <a:rPr lang="en-US" sz="146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，不在模型』</a:t>
            </a:r>
            <a:endParaRPr lang="en-US" sz="1463" dirty="0"/>
          </a:p>
        </p:txBody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2150604"/>
            <a:ext cx="4686300" cy="231424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4004072" y="2154175"/>
            <a:ext cx="4679156" cy="2307096"/>
          </a:xfrm>
          <a:prstGeom prst="roundRect">
            <a:avLst>
              <a:gd name="adj" fmla="val 5780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4170521" y="2326161"/>
            <a:ext cx="1186488" cy="190024"/>
          </a:xfrm>
          <a:prstGeom prst="roundRect">
            <a:avLst>
              <a:gd name="adj" fmla="val 5007512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4"/>
          <p:cNvSpPr/>
          <p:nvPr/>
        </p:nvSpPr>
        <p:spPr>
          <a:xfrm>
            <a:off x="4193381" y="2336341"/>
            <a:ext cx="1140768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700" spc="106" kern="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ANTHROPIC</a:t>
            </a:r>
            <a:pPr algn="ctr" indent="0" marL="0">
              <a:lnSpc>
                <a:spcPts val="886"/>
              </a:lnSpc>
              <a:buNone/>
            </a:pPr>
            <a:r>
              <a:rPr lang="en-US" sz="700" spc="106" kern="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实验证据</a:t>
            </a:r>
            <a:endParaRPr lang="en-US" sz="700" dirty="0"/>
          </a:p>
        </p:txBody>
      </p:sp>
      <p:sp>
        <p:nvSpPr>
          <p:cNvPr id="40" name="Text 35"/>
          <p:cNvSpPr/>
          <p:nvPr/>
        </p:nvSpPr>
        <p:spPr>
          <a:xfrm>
            <a:off x="4193381" y="2591730"/>
            <a:ext cx="4300538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不换模型只改 </a:t>
            </a:r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Harness</a:t>
            </a:r>
            <a:endParaRPr lang="en-US" sz="703" dirty="0"/>
          </a:p>
        </p:txBody>
      </p:sp>
      <p:sp>
        <p:nvSpPr>
          <p:cNvPr id="41" name="Text 36"/>
          <p:cNvSpPr/>
          <p:nvPr/>
        </p:nvSpPr>
        <p:spPr>
          <a:xfrm>
            <a:off x="4193381" y="3569866"/>
            <a:ext cx="42344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</a:t>
            </a:r>
            <a:endParaRPr lang="en-US" sz="703" dirty="0"/>
          </a:p>
        </p:txBody>
      </p:sp>
      <p:sp>
        <p:nvSpPr>
          <p:cNvPr id="42" name="Text 37"/>
          <p:cNvSpPr/>
          <p:nvPr/>
        </p:nvSpPr>
        <p:spPr>
          <a:xfrm>
            <a:off x="4561396" y="3376985"/>
            <a:ext cx="1582876" cy="390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46"/>
              </a:lnSpc>
              <a:buNone/>
            </a:pPr>
            <a:r>
              <a:rPr lang="en-US" sz="2588" b="1" dirty="0">
                <a:solidFill>
                  <a:srgbClr val="F5F1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52.8%</a:t>
            </a:r>
            <a:endParaRPr lang="en-US" sz="2588" dirty="0"/>
          </a:p>
        </p:txBody>
      </p:sp>
      <p:sp>
        <p:nvSpPr>
          <p:cNvPr id="43" name="Text 38"/>
          <p:cNvSpPr/>
          <p:nvPr/>
        </p:nvSpPr>
        <p:spPr>
          <a:xfrm>
            <a:off x="5650706" y="3436255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91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2391" dirty="0"/>
          </a:p>
        </p:txBody>
      </p:sp>
      <p:sp>
        <p:nvSpPr>
          <p:cNvPr id="44" name="Text 39"/>
          <p:cNvSpPr/>
          <p:nvPr/>
        </p:nvSpPr>
        <p:spPr>
          <a:xfrm>
            <a:off x="5993606" y="3376985"/>
            <a:ext cx="2500313" cy="390343"/>
          </a:xfrm>
          <a:prstGeom prst="rect">
            <a:avLst/>
          </a:prstGeom>
          <a:noFill/>
          <a:ln/>
          <a:effectLst>
            <a:outerShdw sx="100000" sy="100000" kx="0" ky="0" algn="bl" rotWithShape="0" blurRad="209550" dist="50800" dir="16200000">
              <a:srgbClr val="22D3EE">
                <a:alpha val="35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2846"/>
              </a:lnSpc>
              <a:buNone/>
            </a:pPr>
            <a:r>
              <a:rPr lang="en-US" sz="2588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66.5%</a:t>
            </a:r>
            <a:endParaRPr lang="en-US" sz="2588" dirty="0"/>
          </a:p>
        </p:txBody>
      </p:sp>
      <p:sp>
        <p:nvSpPr>
          <p:cNvPr id="45" name="Text 40"/>
          <p:cNvSpPr/>
          <p:nvPr/>
        </p:nvSpPr>
        <p:spPr>
          <a:xfrm>
            <a:off x="457200" y="4607719"/>
            <a:ext cx="8229600" cy="7144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1"/>
          <p:cNvSpPr/>
          <p:nvPr/>
        </p:nvSpPr>
        <p:spPr>
          <a:xfrm>
            <a:off x="457200" y="47077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47" name="Text 42"/>
          <p:cNvSpPr/>
          <p:nvPr/>
        </p:nvSpPr>
        <p:spPr>
          <a:xfrm>
            <a:off x="657225" y="4700588"/>
            <a:ext cx="8029575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模型会一层一层吃掉 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Harness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，但没有吃完的那一天（引后记飞轮）</a:t>
            </a:r>
            <a:endParaRPr lang="en-US" sz="70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68741" y="1423950"/>
            <a:ext cx="0" cy="301823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68741" y="2477095"/>
            <a:ext cx="0" cy="301823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68741" y="3530240"/>
            <a:ext cx="0" cy="301823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89597" y="-271462"/>
            <a:ext cx="1854403" cy="1851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0"/>
              </a:lnSpc>
              <a:buNone/>
            </a:pPr>
            <a:r>
              <a:rPr lang="en-US" sz="13500" b="1" dirty="0">
                <a:solidFill>
                  <a:srgbClr val="FFFFFF">
                    <a:alpha val="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3500" dirty="0"/>
          </a:p>
        </p:txBody>
      </p:sp>
      <p:sp>
        <p:nvSpPr>
          <p:cNvPr id="6" name="Text 4"/>
          <p:cNvSpPr/>
          <p:nvPr/>
        </p:nvSpPr>
        <p:spPr>
          <a:xfrm>
            <a:off x="457200" y="381298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16200000">
              <a:srgbClr val="22D3EE">
                <a:alpha val="5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5788" y="342900"/>
            <a:ext cx="810101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spc="225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项目结构</a:t>
            </a:r>
            <a:endParaRPr lang="en-US" sz="703" dirty="0"/>
          </a:p>
        </p:txBody>
      </p:sp>
      <p:sp>
        <p:nvSpPr>
          <p:cNvPr id="8" name="Text 6"/>
          <p:cNvSpPr/>
          <p:nvPr/>
        </p:nvSpPr>
        <p:spPr>
          <a:xfrm>
            <a:off x="457200" y="562570"/>
            <a:ext cx="3493882" cy="439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三层资产，三种用法</a:t>
            </a:r>
            <a:endParaRPr lang="en-US" sz="2138" dirty="0"/>
          </a:p>
        </p:txBody>
      </p:sp>
      <p:sp>
        <p:nvSpPr>
          <p:cNvPr id="9" name="Text 7"/>
          <p:cNvSpPr/>
          <p:nvPr/>
        </p:nvSpPr>
        <p:spPr>
          <a:xfrm>
            <a:off x="3086212" y="762595"/>
            <a:ext cx="5600588" cy="7144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8352"/>
            <a:ext cx="8229600" cy="95313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60772" y="1101923"/>
            <a:ext cx="8222456" cy="945989"/>
          </a:xfrm>
          <a:prstGeom prst="roundRect">
            <a:avLst>
              <a:gd name="adj" fmla="val 14096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50081" y="1410556"/>
            <a:ext cx="662940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588" b="1" dirty="0">
                <a:solidFill>
                  <a:srgbClr val="FFFFFF">
                    <a:alpha val="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2588" dirty="0"/>
          </a:p>
        </p:txBody>
      </p:sp>
      <p:sp>
        <p:nvSpPr>
          <p:cNvPr id="13" name="Text 10"/>
          <p:cNvSpPr/>
          <p:nvPr/>
        </p:nvSpPr>
        <p:spPr>
          <a:xfrm>
            <a:off x="1210866" y="1421271"/>
            <a:ext cx="307181" cy="307181"/>
          </a:xfrm>
          <a:prstGeom prst="roundRect">
            <a:avLst>
              <a:gd name="adj" fmla="val 37209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250513" y="146091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547" dirty="0"/>
          </a:p>
        </p:txBody>
      </p:sp>
      <p:sp>
        <p:nvSpPr>
          <p:cNvPr id="15" name="Text 12"/>
          <p:cNvSpPr/>
          <p:nvPr/>
        </p:nvSpPr>
        <p:spPr>
          <a:xfrm>
            <a:off x="1664494" y="1378409"/>
            <a:ext cx="6729984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 </a:t>
            </a:r>
            <a:pPr algn="l" indent="0" marL="0">
              <a:lnSpc>
                <a:spcPts val="1603"/>
              </a:lnSpc>
              <a:buNone/>
            </a:pPr>
            <a:r>
              <a:rPr lang="en-US" sz="900" b="1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book/</a:t>
            </a:r>
            <a:endParaRPr lang="en-US" sz="1069" dirty="0"/>
          </a:p>
        </p:txBody>
      </p:sp>
      <p:sp>
        <p:nvSpPr>
          <p:cNvPr id="16" name="Text 13"/>
          <p:cNvSpPr/>
          <p:nvPr/>
        </p:nvSpPr>
        <p:spPr>
          <a:xfrm>
            <a:off x="1664494" y="1621296"/>
            <a:ext cx="5257800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章 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7300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行 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Markdown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pandoc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xelatex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可编译 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PDF</a:t>
            </a:r>
            <a:endParaRPr lang="en-US" sz="703" dirty="0"/>
          </a:p>
        </p:txBody>
      </p:sp>
      <p:sp>
        <p:nvSpPr>
          <p:cNvPr id="17" name="Text 14"/>
          <p:cNvSpPr/>
          <p:nvPr/>
        </p:nvSpPr>
        <p:spPr>
          <a:xfrm>
            <a:off x="7215188" y="1423950"/>
            <a:ext cx="1278731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42" kern="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用法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7215188" y="1565039"/>
            <a:ext cx="127873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通读建立框架</a:t>
            </a:r>
            <a:endParaRPr lang="en-US" sz="844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51497"/>
            <a:ext cx="8229600" cy="95313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60772" y="2155068"/>
            <a:ext cx="8222456" cy="945989"/>
          </a:xfrm>
          <a:prstGeom prst="roundRect">
            <a:avLst>
              <a:gd name="adj" fmla="val 14096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650081" y="2463701"/>
            <a:ext cx="662940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588" b="1" dirty="0">
                <a:solidFill>
                  <a:srgbClr val="FFFFFF">
                    <a:alpha val="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2588" dirty="0"/>
          </a:p>
        </p:txBody>
      </p:sp>
      <p:sp>
        <p:nvSpPr>
          <p:cNvPr id="22" name="Text 18"/>
          <p:cNvSpPr/>
          <p:nvPr/>
        </p:nvSpPr>
        <p:spPr>
          <a:xfrm>
            <a:off x="1210866" y="2474416"/>
            <a:ext cx="307181" cy="307181"/>
          </a:xfrm>
          <a:prstGeom prst="roundRect">
            <a:avLst>
              <a:gd name="adj" fmla="val 37209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1250513" y="251406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547" dirty="0"/>
          </a:p>
        </p:txBody>
      </p:sp>
      <p:sp>
        <p:nvSpPr>
          <p:cNvPr id="24" name="Text 20"/>
          <p:cNvSpPr/>
          <p:nvPr/>
        </p:nvSpPr>
        <p:spPr>
          <a:xfrm>
            <a:off x="1664494" y="2431554"/>
            <a:ext cx="5520690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</a:t>
            </a:r>
            <a:pPr algn="l" indent="0" marL="0">
              <a:lnSpc>
                <a:spcPts val="1603"/>
              </a:lnSpc>
              <a:buNone/>
            </a:pPr>
            <a:r>
              <a:rPr lang="en-US" sz="9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chapter1-10/</a:t>
            </a:r>
            <a:endParaRPr lang="en-US" sz="1069" dirty="0"/>
          </a:p>
        </p:txBody>
      </p:sp>
      <p:sp>
        <p:nvSpPr>
          <p:cNvPr id="25" name="Text 21"/>
          <p:cNvSpPr/>
          <p:nvPr/>
        </p:nvSpPr>
        <p:spPr>
          <a:xfrm>
            <a:off x="1664494" y="2674441"/>
            <a:ext cx="5257800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109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个可运行实验，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uv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依赖管理（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extras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ch1~ch10 / all / vllm / unsloth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703" dirty="0"/>
          </a:p>
        </p:txBody>
      </p:sp>
      <p:sp>
        <p:nvSpPr>
          <p:cNvPr id="26" name="Text 22"/>
          <p:cNvSpPr/>
          <p:nvPr/>
        </p:nvSpPr>
        <p:spPr>
          <a:xfrm>
            <a:off x="7215188" y="2477095"/>
            <a:ext cx="1278731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42" kern="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用法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7215188" y="2618184"/>
            <a:ext cx="127873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动手验证概念</a:t>
            </a:r>
            <a:endParaRPr lang="en-US" sz="844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4642"/>
            <a:ext cx="8229600" cy="953133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60772" y="3208213"/>
            <a:ext cx="8222456" cy="945989"/>
          </a:xfrm>
          <a:prstGeom prst="roundRect">
            <a:avLst>
              <a:gd name="adj" fmla="val 14096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650081" y="3516846"/>
            <a:ext cx="662940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588" b="1" dirty="0">
                <a:solidFill>
                  <a:srgbClr val="FFFFFF">
                    <a:alpha val="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2588" dirty="0"/>
          </a:p>
        </p:txBody>
      </p:sp>
      <p:sp>
        <p:nvSpPr>
          <p:cNvPr id="31" name="Text 26"/>
          <p:cNvSpPr/>
          <p:nvPr/>
        </p:nvSpPr>
        <p:spPr>
          <a:xfrm>
            <a:off x="1210866" y="3527561"/>
            <a:ext cx="307181" cy="307181"/>
          </a:xfrm>
          <a:prstGeom prst="roundRect">
            <a:avLst>
              <a:gd name="adj" fmla="val 37209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1250513" y="356720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33" name="Text 28"/>
          <p:cNvSpPr/>
          <p:nvPr/>
        </p:nvSpPr>
        <p:spPr>
          <a:xfrm>
            <a:off x="1664494" y="3488271"/>
            <a:ext cx="5520690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台账 </a:t>
            </a:r>
            <a:pPr algn="l" indent="0" marL="0">
              <a:lnSpc>
                <a:spcPts val="1603"/>
              </a:lnSpc>
              <a:buNone/>
            </a:pPr>
            <a:r>
              <a:rPr lang="en-US" sz="900" b="1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EXPERIMENT_LEDGER.md</a:t>
            </a:r>
            <a:endParaRPr lang="en-US" sz="1069" dirty="0"/>
          </a:p>
        </p:txBody>
      </p:sp>
      <p:sp>
        <p:nvSpPr>
          <p:cNvPr id="34" name="Text 29"/>
          <p:cNvSpPr/>
          <p:nvPr/>
        </p:nvSpPr>
        <p:spPr>
          <a:xfrm>
            <a:off x="1664494" y="3731158"/>
            <a:ext cx="552069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每个实验留下证据链（假设、数据、结论）</a:t>
            </a:r>
            <a:endParaRPr lang="en-US" sz="703" dirty="0"/>
          </a:p>
        </p:txBody>
      </p:sp>
      <p:sp>
        <p:nvSpPr>
          <p:cNvPr id="35" name="Text 30"/>
          <p:cNvSpPr/>
          <p:nvPr/>
        </p:nvSpPr>
        <p:spPr>
          <a:xfrm>
            <a:off x="7215188" y="3530240"/>
            <a:ext cx="1278731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42" kern="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用法</a:t>
            </a:r>
            <a:endParaRPr lang="en-US" sz="700" dirty="0"/>
          </a:p>
        </p:txBody>
      </p:sp>
      <p:sp>
        <p:nvSpPr>
          <p:cNvPr id="36" name="Text 31"/>
          <p:cNvSpPr/>
          <p:nvPr/>
        </p:nvSpPr>
        <p:spPr>
          <a:xfrm>
            <a:off x="7140357" y="3671329"/>
            <a:ext cx="142839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学习科研式做实验的范式</a:t>
            </a:r>
            <a:endParaRPr lang="en-US" sz="844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86250"/>
            <a:ext cx="8229600" cy="542925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460772" y="4289822"/>
            <a:ext cx="8222456" cy="535781"/>
          </a:xfrm>
          <a:prstGeom prst="roundRect">
            <a:avLst>
              <a:gd name="adj" fmla="val 24889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707231" y="4407694"/>
            <a:ext cx="96351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F5F1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55.7k</a:t>
            </a:r>
            <a:endParaRPr lang="en-US" sz="1575" dirty="0"/>
          </a:p>
        </p:txBody>
      </p:sp>
      <p:sp>
        <p:nvSpPr>
          <p:cNvPr id="40" name="Text 34"/>
          <p:cNvSpPr/>
          <p:nvPr/>
        </p:nvSpPr>
        <p:spPr>
          <a:xfrm>
            <a:off x="1371423" y="4521994"/>
            <a:ext cx="3472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stars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2285442" y="4436269"/>
            <a:ext cx="7144" cy="242888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6"/>
          <p:cNvSpPr/>
          <p:nvPr/>
        </p:nvSpPr>
        <p:spPr>
          <a:xfrm>
            <a:off x="2989325" y="4407694"/>
            <a:ext cx="38540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F5F1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1575" dirty="0"/>
          </a:p>
        </p:txBody>
      </p:sp>
      <p:sp>
        <p:nvSpPr>
          <p:cNvPr id="43" name="Text 37"/>
          <p:cNvSpPr/>
          <p:nvPr/>
        </p:nvSpPr>
        <p:spPr>
          <a:xfrm>
            <a:off x="3301640" y="4521994"/>
            <a:ext cx="14126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703" dirty="0"/>
          </a:p>
        </p:txBody>
      </p:sp>
      <p:sp>
        <p:nvSpPr>
          <p:cNvPr id="44" name="Text 38"/>
          <p:cNvSpPr/>
          <p:nvPr/>
        </p:nvSpPr>
        <p:spPr>
          <a:xfrm>
            <a:off x="4087788" y="4436269"/>
            <a:ext cx="7144" cy="242888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4791670" y="4407694"/>
            <a:ext cx="57810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F5F1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109</a:t>
            </a:r>
            <a:endParaRPr lang="en-US" sz="1575" dirty="0"/>
          </a:p>
        </p:txBody>
      </p:sp>
      <p:sp>
        <p:nvSpPr>
          <p:cNvPr id="46" name="Text 40"/>
          <p:cNvSpPr/>
          <p:nvPr/>
        </p:nvSpPr>
        <p:spPr>
          <a:xfrm>
            <a:off x="5224425" y="4521994"/>
            <a:ext cx="28235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</a:t>
            </a:r>
            <a:endParaRPr lang="en-US" sz="703" dirty="0"/>
          </a:p>
        </p:txBody>
      </p:sp>
      <p:sp>
        <p:nvSpPr>
          <p:cNvPr id="47" name="Text 41"/>
          <p:cNvSpPr/>
          <p:nvPr/>
        </p:nvSpPr>
        <p:spPr>
          <a:xfrm>
            <a:off x="6099870" y="4436269"/>
            <a:ext cx="7144" cy="242888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2"/>
          <p:cNvSpPr/>
          <p:nvPr/>
        </p:nvSpPr>
        <p:spPr>
          <a:xfrm>
            <a:off x="6803752" y="4407694"/>
            <a:ext cx="15053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F5F1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Apache-2.0</a:t>
            </a:r>
            <a:endParaRPr lang="en-US" sz="1575" dirty="0"/>
          </a:p>
        </p:txBody>
      </p:sp>
      <p:sp>
        <p:nvSpPr>
          <p:cNvPr id="49" name="Text 43"/>
          <p:cNvSpPr/>
          <p:nvPr/>
        </p:nvSpPr>
        <p:spPr>
          <a:xfrm>
            <a:off x="8031752" y="4521994"/>
            <a:ext cx="45273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开源协议</a:t>
            </a:r>
            <a:endParaRPr lang="en-US" sz="70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67010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16200000">
              <a:srgbClr val="22D3EE">
                <a:alpha val="5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7213" y="328613"/>
            <a:ext cx="95737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spc="225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结构总览</a:t>
            </a:r>
            <a:endParaRPr lang="en-US" sz="703" dirty="0"/>
          </a:p>
        </p:txBody>
      </p:sp>
      <p:sp>
        <p:nvSpPr>
          <p:cNvPr id="4" name="Text 2"/>
          <p:cNvSpPr/>
          <p:nvPr/>
        </p:nvSpPr>
        <p:spPr>
          <a:xfrm>
            <a:off x="428625" y="548283"/>
            <a:ext cx="1715819" cy="439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十章地图</a:t>
            </a:r>
            <a:endParaRPr lang="en-US" sz="2138" dirty="0"/>
          </a:p>
        </p:txBody>
      </p:sp>
      <p:sp>
        <p:nvSpPr>
          <p:cNvPr id="5" name="Text 3"/>
          <p:cNvSpPr/>
          <p:nvPr/>
        </p:nvSpPr>
        <p:spPr>
          <a:xfrm>
            <a:off x="6617568" y="824210"/>
            <a:ext cx="64294" cy="64294"/>
          </a:xfrm>
          <a:prstGeom prst="roundRect">
            <a:avLst>
              <a:gd name="adj" fmla="val 66666"/>
            </a:avLst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2327" y="800100"/>
            <a:ext cx="715724" cy="121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入门 / 进阶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225345" y="824210"/>
            <a:ext cx="64294" cy="64294"/>
          </a:xfrm>
          <a:prstGeom prst="roundRect">
            <a:avLst>
              <a:gd name="adj" fmla="val 66666"/>
            </a:avLst>
          </a:prstGeom>
          <a:solidFill>
            <a:srgbClr val="F5F1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25345" y="800100"/>
            <a:ext cx="422910" cy="121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18251" y="824210"/>
            <a:ext cx="64294" cy="64294"/>
          </a:xfrm>
          <a:prstGeom prst="roundRect">
            <a:avLst>
              <a:gd name="adj" fmla="val 66666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18251" y="800100"/>
            <a:ext cx="542925" cy="121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工程级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86167" y="824210"/>
            <a:ext cx="64294" cy="64294"/>
          </a:xfrm>
          <a:prstGeom prst="roundRect">
            <a:avLst>
              <a:gd name="adj" fmla="val 66666"/>
            </a:avLst>
          </a:prstGeom>
          <a:solidFill>
            <a:srgbClr val="F871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43315" y="800100"/>
            <a:ext cx="985472" cy="121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专家级 / 应用级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" y="1084064"/>
            <a:ext cx="1588703" cy="159394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2197" y="1087636"/>
            <a:ext cx="1581559" cy="1586805"/>
          </a:xfrm>
          <a:prstGeom prst="roundRect">
            <a:avLst>
              <a:gd name="adj" fmla="val 8432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42925" y="1191220"/>
            <a:ext cx="1281522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ch1</a:t>
            </a:r>
            <a:endParaRPr lang="en-US" sz="956" dirty="0"/>
          </a:p>
        </p:txBody>
      </p:sp>
      <p:sp>
        <p:nvSpPr>
          <p:cNvPr id="16" name="Text 13"/>
          <p:cNvSpPr/>
          <p:nvPr/>
        </p:nvSpPr>
        <p:spPr>
          <a:xfrm>
            <a:off x="1838734" y="1250156"/>
            <a:ext cx="64294" cy="64294"/>
          </a:xfrm>
          <a:prstGeom prst="ellipse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42925" y="1437680"/>
            <a:ext cx="1360103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</a:t>
            </a:r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</a:t>
            </a:r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入门</a:t>
            </a:r>
            <a:endParaRPr lang="en-US" sz="703" dirty="0"/>
          </a:p>
        </p:txBody>
      </p:sp>
      <p:sp>
        <p:nvSpPr>
          <p:cNvPr id="18" name="Text 15"/>
          <p:cNvSpPr/>
          <p:nvPr/>
        </p:nvSpPr>
        <p:spPr>
          <a:xfrm>
            <a:off x="542925" y="2349401"/>
            <a:ext cx="1065981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入门级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1520595" y="2292251"/>
            <a:ext cx="485032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5F1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l" indent="0" marL="0">
              <a:lnSpc>
                <a:spcPts val="1519"/>
              </a:lnSpc>
              <a:buNone/>
            </a:pPr>
            <a:r>
              <a:rPr lang="en-US" sz="700" b="1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实验</a:t>
            </a:r>
            <a:endParaRPr lang="en-US" sz="1013" dirty="0"/>
          </a:p>
        </p:txBody>
      </p:sp>
      <p:sp>
        <p:nvSpPr>
          <p:cNvPr id="20" name="Text 17"/>
          <p:cNvSpPr/>
          <p:nvPr/>
        </p:nvSpPr>
        <p:spPr>
          <a:xfrm>
            <a:off x="542925" y="2542282"/>
            <a:ext cx="1360103" cy="35719"/>
          </a:xfrm>
          <a:prstGeom prst="roundRect">
            <a:avLst>
              <a:gd name="adj" fmla="val 2639982"/>
            </a:avLst>
          </a:prstGeom>
          <a:solidFill>
            <a:srgbClr val="94A3B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42925" y="2542282"/>
            <a:ext cx="285527" cy="35719"/>
          </a:xfrm>
          <a:prstGeom prst="roundRect">
            <a:avLst>
              <a:gd name="adj" fmla="val 2639982"/>
            </a:avLst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053" y="1084064"/>
            <a:ext cx="1588815" cy="1593949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106625" y="1087636"/>
            <a:ext cx="1581671" cy="1586805"/>
          </a:xfrm>
          <a:prstGeom prst="roundRect">
            <a:avLst>
              <a:gd name="adj" fmla="val 8431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2217353" y="1191220"/>
            <a:ext cx="1281633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ch2</a:t>
            </a:r>
            <a:endParaRPr lang="en-US" sz="956" dirty="0"/>
          </a:p>
        </p:txBody>
      </p:sp>
      <p:sp>
        <p:nvSpPr>
          <p:cNvPr id="25" name="Text 21"/>
          <p:cNvSpPr/>
          <p:nvPr/>
        </p:nvSpPr>
        <p:spPr>
          <a:xfrm>
            <a:off x="3513274" y="1250156"/>
            <a:ext cx="64294" cy="64294"/>
          </a:xfrm>
          <a:prstGeom prst="ellipse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2217353" y="1437680"/>
            <a:ext cx="1360215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上下文工程</a:t>
            </a:r>
            <a:endParaRPr lang="en-US" sz="703" dirty="0"/>
          </a:p>
        </p:txBody>
      </p:sp>
      <p:sp>
        <p:nvSpPr>
          <p:cNvPr id="27" name="Text 23"/>
          <p:cNvSpPr/>
          <p:nvPr/>
        </p:nvSpPr>
        <p:spPr>
          <a:xfrm>
            <a:off x="2197208" y="1699820"/>
            <a:ext cx="543925" cy="174022"/>
          </a:xfrm>
          <a:prstGeom prst="roundRect">
            <a:avLst>
              <a:gd name="adj" fmla="val 32841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2191358" y="1709142"/>
            <a:ext cx="5556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700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全书最关键</a:t>
            </a:r>
            <a:endParaRPr lang="en-US" sz="700" dirty="0"/>
          </a:p>
        </p:txBody>
      </p:sp>
      <p:sp>
        <p:nvSpPr>
          <p:cNvPr id="29" name="Text 25"/>
          <p:cNvSpPr/>
          <p:nvPr/>
        </p:nvSpPr>
        <p:spPr>
          <a:xfrm>
            <a:off x="2217353" y="2349401"/>
            <a:ext cx="988628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</a:t>
            </a:r>
            <a:endParaRPr lang="en-US" sz="700" dirty="0"/>
          </a:p>
        </p:txBody>
      </p:sp>
      <p:sp>
        <p:nvSpPr>
          <p:cNvPr id="30" name="Text 26"/>
          <p:cNvSpPr/>
          <p:nvPr/>
        </p:nvSpPr>
        <p:spPr>
          <a:xfrm>
            <a:off x="3109365" y="2292251"/>
            <a:ext cx="579107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5F1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pPr algn="l" indent="0" marL="0">
              <a:lnSpc>
                <a:spcPts val="1519"/>
              </a:lnSpc>
              <a:buNone/>
            </a:pPr>
            <a:r>
              <a:rPr lang="en-US" sz="700" b="1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实验</a:t>
            </a:r>
            <a:endParaRPr lang="en-US" sz="1013" dirty="0"/>
          </a:p>
        </p:txBody>
      </p:sp>
      <p:sp>
        <p:nvSpPr>
          <p:cNvPr id="31" name="Text 27"/>
          <p:cNvSpPr/>
          <p:nvPr/>
        </p:nvSpPr>
        <p:spPr>
          <a:xfrm>
            <a:off x="2217353" y="2542282"/>
            <a:ext cx="1360215" cy="35719"/>
          </a:xfrm>
          <a:prstGeom prst="roundRect">
            <a:avLst>
              <a:gd name="adj" fmla="val 2639982"/>
            </a:avLst>
          </a:prstGeom>
          <a:solidFill>
            <a:srgbClr val="94A3B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2217353" y="2542282"/>
            <a:ext cx="720849" cy="35719"/>
          </a:xfrm>
          <a:prstGeom prst="roundRect">
            <a:avLst>
              <a:gd name="adj" fmla="val 2639982"/>
            </a:avLst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7593" y="1084064"/>
            <a:ext cx="1588703" cy="1593949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3781165" y="1087636"/>
            <a:ext cx="1581559" cy="1586805"/>
          </a:xfrm>
          <a:prstGeom prst="roundRect">
            <a:avLst>
              <a:gd name="adj" fmla="val 8432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3891893" y="1191220"/>
            <a:ext cx="1281522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ch3</a:t>
            </a:r>
            <a:endParaRPr lang="en-US" sz="956" dirty="0"/>
          </a:p>
        </p:txBody>
      </p:sp>
      <p:sp>
        <p:nvSpPr>
          <p:cNvPr id="36" name="Text 31"/>
          <p:cNvSpPr/>
          <p:nvPr/>
        </p:nvSpPr>
        <p:spPr>
          <a:xfrm>
            <a:off x="5187702" y="1250156"/>
            <a:ext cx="64294" cy="64294"/>
          </a:xfrm>
          <a:prstGeom prst="ellipse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2"/>
          <p:cNvSpPr/>
          <p:nvPr/>
        </p:nvSpPr>
        <p:spPr>
          <a:xfrm>
            <a:off x="3891893" y="1437680"/>
            <a:ext cx="1360103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用户记忆和知识库</a:t>
            </a:r>
            <a:endParaRPr lang="en-US" sz="703" dirty="0"/>
          </a:p>
        </p:txBody>
      </p:sp>
      <p:sp>
        <p:nvSpPr>
          <p:cNvPr id="38" name="Text 33"/>
          <p:cNvSpPr/>
          <p:nvPr/>
        </p:nvSpPr>
        <p:spPr>
          <a:xfrm>
            <a:off x="3891893" y="2349401"/>
            <a:ext cx="988516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</a:t>
            </a:r>
            <a:endParaRPr lang="en-US" sz="700" dirty="0"/>
          </a:p>
        </p:txBody>
      </p:sp>
      <p:sp>
        <p:nvSpPr>
          <p:cNvPr id="39" name="Text 34"/>
          <p:cNvSpPr/>
          <p:nvPr/>
        </p:nvSpPr>
        <p:spPr>
          <a:xfrm>
            <a:off x="4783793" y="2292251"/>
            <a:ext cx="579107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5F1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pPr algn="l" indent="0" marL="0">
              <a:lnSpc>
                <a:spcPts val="1519"/>
              </a:lnSpc>
              <a:buNone/>
            </a:pPr>
            <a:r>
              <a:rPr lang="en-US" sz="700" b="1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实验</a:t>
            </a:r>
            <a:endParaRPr lang="en-US" sz="1013" dirty="0"/>
          </a:p>
        </p:txBody>
      </p:sp>
      <p:sp>
        <p:nvSpPr>
          <p:cNvPr id="40" name="Text 35"/>
          <p:cNvSpPr/>
          <p:nvPr/>
        </p:nvSpPr>
        <p:spPr>
          <a:xfrm>
            <a:off x="3891893" y="2542282"/>
            <a:ext cx="1360103" cy="35719"/>
          </a:xfrm>
          <a:prstGeom prst="roundRect">
            <a:avLst>
              <a:gd name="adj" fmla="val 2639982"/>
            </a:avLst>
          </a:prstGeom>
          <a:solidFill>
            <a:srgbClr val="94A3B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3891893" y="2542282"/>
            <a:ext cx="856804" cy="35719"/>
          </a:xfrm>
          <a:prstGeom prst="roundRect">
            <a:avLst>
              <a:gd name="adj" fmla="val 2639982"/>
            </a:avLst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2021" y="1084064"/>
            <a:ext cx="1588815" cy="1593949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455593" y="1087636"/>
            <a:ext cx="1581671" cy="1586805"/>
          </a:xfrm>
          <a:prstGeom prst="roundRect">
            <a:avLst>
              <a:gd name="adj" fmla="val 8431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5566321" y="1191220"/>
            <a:ext cx="1281633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ch4</a:t>
            </a:r>
            <a:endParaRPr lang="en-US" sz="956" dirty="0"/>
          </a:p>
        </p:txBody>
      </p:sp>
      <p:sp>
        <p:nvSpPr>
          <p:cNvPr id="45" name="Text 39"/>
          <p:cNvSpPr/>
          <p:nvPr/>
        </p:nvSpPr>
        <p:spPr>
          <a:xfrm>
            <a:off x="6862242" y="1250156"/>
            <a:ext cx="64294" cy="64294"/>
          </a:xfrm>
          <a:prstGeom prst="ellipse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0"/>
          <p:cNvSpPr/>
          <p:nvPr/>
        </p:nvSpPr>
        <p:spPr>
          <a:xfrm>
            <a:off x="5566321" y="1437680"/>
            <a:ext cx="1360215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703" dirty="0"/>
          </a:p>
        </p:txBody>
      </p:sp>
      <p:sp>
        <p:nvSpPr>
          <p:cNvPr id="47" name="Text 41"/>
          <p:cNvSpPr/>
          <p:nvPr/>
        </p:nvSpPr>
        <p:spPr>
          <a:xfrm>
            <a:off x="5566321" y="2349401"/>
            <a:ext cx="1066093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</a:t>
            </a:r>
            <a:endParaRPr lang="en-US" sz="700" dirty="0"/>
          </a:p>
        </p:txBody>
      </p:sp>
      <p:sp>
        <p:nvSpPr>
          <p:cNvPr id="48" name="Text 42"/>
          <p:cNvSpPr/>
          <p:nvPr/>
        </p:nvSpPr>
        <p:spPr>
          <a:xfrm>
            <a:off x="6544102" y="2292251"/>
            <a:ext cx="485032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5F1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pPr algn="l" indent="0" marL="0">
              <a:lnSpc>
                <a:spcPts val="1519"/>
              </a:lnSpc>
              <a:buNone/>
            </a:pPr>
            <a:r>
              <a:rPr lang="en-US" sz="700" b="1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实验</a:t>
            </a:r>
            <a:endParaRPr lang="en-US" sz="1013" dirty="0"/>
          </a:p>
        </p:txBody>
      </p:sp>
      <p:sp>
        <p:nvSpPr>
          <p:cNvPr id="49" name="Text 43"/>
          <p:cNvSpPr/>
          <p:nvPr/>
        </p:nvSpPr>
        <p:spPr>
          <a:xfrm>
            <a:off x="5566321" y="2542282"/>
            <a:ext cx="1360215" cy="35719"/>
          </a:xfrm>
          <a:prstGeom prst="roundRect">
            <a:avLst>
              <a:gd name="adj" fmla="val 2639982"/>
            </a:avLst>
          </a:prstGeom>
          <a:solidFill>
            <a:srgbClr val="94A3B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4"/>
          <p:cNvSpPr/>
          <p:nvPr/>
        </p:nvSpPr>
        <p:spPr>
          <a:xfrm>
            <a:off x="5566321" y="2542282"/>
            <a:ext cx="353616" cy="35719"/>
          </a:xfrm>
          <a:prstGeom prst="roundRect">
            <a:avLst>
              <a:gd name="adj" fmla="val 2639982"/>
            </a:avLst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6560" y="1084064"/>
            <a:ext cx="1588703" cy="1593949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7130132" y="1087636"/>
            <a:ext cx="1581559" cy="1586805"/>
          </a:xfrm>
          <a:prstGeom prst="roundRect">
            <a:avLst>
              <a:gd name="adj" fmla="val 8432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6"/>
          <p:cNvSpPr/>
          <p:nvPr/>
        </p:nvSpPr>
        <p:spPr>
          <a:xfrm>
            <a:off x="7240860" y="1191220"/>
            <a:ext cx="1281522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ch5</a:t>
            </a:r>
            <a:endParaRPr lang="en-US" sz="956" dirty="0"/>
          </a:p>
        </p:txBody>
      </p:sp>
      <p:sp>
        <p:nvSpPr>
          <p:cNvPr id="54" name="Text 47"/>
          <p:cNvSpPr/>
          <p:nvPr/>
        </p:nvSpPr>
        <p:spPr>
          <a:xfrm>
            <a:off x="8536670" y="1250156"/>
            <a:ext cx="64294" cy="64294"/>
          </a:xfrm>
          <a:prstGeom prst="ellipse">
            <a:avLst/>
          </a:prstGeom>
          <a:solidFill>
            <a:srgbClr val="F5F1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48"/>
          <p:cNvSpPr/>
          <p:nvPr/>
        </p:nvSpPr>
        <p:spPr>
          <a:xfrm>
            <a:off x="7240860" y="1437680"/>
            <a:ext cx="1360103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Coding</a:t>
            </a:r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</a:t>
            </a:r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与通用 </a:t>
            </a:r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</a:t>
            </a:r>
            <a:endParaRPr lang="en-US" sz="703" dirty="0"/>
          </a:p>
        </p:txBody>
      </p:sp>
      <p:sp>
        <p:nvSpPr>
          <p:cNvPr id="56" name="Text 49"/>
          <p:cNvSpPr/>
          <p:nvPr/>
        </p:nvSpPr>
        <p:spPr>
          <a:xfrm>
            <a:off x="7223715" y="1699820"/>
            <a:ext cx="462915" cy="174022"/>
          </a:xfrm>
          <a:prstGeom prst="roundRect">
            <a:avLst>
              <a:gd name="adj" fmla="val 32841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0"/>
          <p:cNvSpPr/>
          <p:nvPr/>
        </p:nvSpPr>
        <p:spPr>
          <a:xfrm>
            <a:off x="7229811" y="1709142"/>
            <a:ext cx="45072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700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实验最多</a:t>
            </a:r>
            <a:endParaRPr lang="en-US" sz="700" dirty="0"/>
          </a:p>
        </p:txBody>
      </p:sp>
      <p:sp>
        <p:nvSpPr>
          <p:cNvPr id="58" name="Text 51"/>
          <p:cNvSpPr/>
          <p:nvPr/>
        </p:nvSpPr>
        <p:spPr>
          <a:xfrm>
            <a:off x="7240860" y="2349401"/>
            <a:ext cx="988516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</a:t>
            </a:r>
            <a:endParaRPr lang="en-US" sz="700" dirty="0"/>
          </a:p>
        </p:txBody>
      </p:sp>
      <p:sp>
        <p:nvSpPr>
          <p:cNvPr id="59" name="Text 52"/>
          <p:cNvSpPr/>
          <p:nvPr/>
        </p:nvSpPr>
        <p:spPr>
          <a:xfrm>
            <a:off x="8132760" y="2292251"/>
            <a:ext cx="579107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5F1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</a:t>
            </a:r>
            <a:pPr algn="l" indent="0" marL="0">
              <a:lnSpc>
                <a:spcPts val="1519"/>
              </a:lnSpc>
              <a:buNone/>
            </a:pPr>
            <a:r>
              <a:rPr lang="en-US" sz="700" b="1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实验</a:t>
            </a:r>
            <a:endParaRPr lang="en-US" sz="1013" dirty="0"/>
          </a:p>
        </p:txBody>
      </p:sp>
      <p:sp>
        <p:nvSpPr>
          <p:cNvPr id="60" name="Text 53"/>
          <p:cNvSpPr/>
          <p:nvPr/>
        </p:nvSpPr>
        <p:spPr>
          <a:xfrm>
            <a:off x="7240860" y="2542282"/>
            <a:ext cx="1360103" cy="35719"/>
          </a:xfrm>
          <a:prstGeom prst="roundRect">
            <a:avLst>
              <a:gd name="adj" fmla="val 2639982"/>
            </a:avLst>
          </a:prstGeom>
          <a:solidFill>
            <a:srgbClr val="94A3B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4"/>
          <p:cNvSpPr/>
          <p:nvPr/>
        </p:nvSpPr>
        <p:spPr>
          <a:xfrm>
            <a:off x="7240860" y="2542282"/>
            <a:ext cx="1142442" cy="35719"/>
          </a:xfrm>
          <a:prstGeom prst="roundRect">
            <a:avLst>
              <a:gd name="adj" fmla="val 2639982"/>
            </a:avLst>
          </a:prstGeom>
          <a:solidFill>
            <a:srgbClr val="F5F1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2763738"/>
            <a:ext cx="1588703" cy="1593949"/>
          </a:xfrm>
          <a:prstGeom prst="rect">
            <a:avLst/>
          </a:prstGeom>
        </p:spPr>
      </p:pic>
      <p:sp>
        <p:nvSpPr>
          <p:cNvPr id="63" name="Text 55"/>
          <p:cNvSpPr/>
          <p:nvPr/>
        </p:nvSpPr>
        <p:spPr>
          <a:xfrm>
            <a:off x="432197" y="2767310"/>
            <a:ext cx="1581559" cy="1586805"/>
          </a:xfrm>
          <a:prstGeom prst="roundRect">
            <a:avLst>
              <a:gd name="adj" fmla="val 8432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56"/>
          <p:cNvSpPr/>
          <p:nvPr/>
        </p:nvSpPr>
        <p:spPr>
          <a:xfrm>
            <a:off x="542925" y="2870895"/>
            <a:ext cx="1281522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ch6</a:t>
            </a:r>
            <a:endParaRPr lang="en-US" sz="956" dirty="0"/>
          </a:p>
        </p:txBody>
      </p:sp>
      <p:sp>
        <p:nvSpPr>
          <p:cNvPr id="65" name="Text 57"/>
          <p:cNvSpPr/>
          <p:nvPr/>
        </p:nvSpPr>
        <p:spPr>
          <a:xfrm>
            <a:off x="1838734" y="2929830"/>
            <a:ext cx="64294" cy="64294"/>
          </a:xfrm>
          <a:prstGeom prst="ellipse">
            <a:avLst/>
          </a:prstGeom>
          <a:solidFill>
            <a:srgbClr val="F5F1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58"/>
          <p:cNvSpPr/>
          <p:nvPr/>
        </p:nvSpPr>
        <p:spPr>
          <a:xfrm>
            <a:off x="542925" y="3117354"/>
            <a:ext cx="1360103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交互：观察与动作空间扩展</a:t>
            </a:r>
            <a:endParaRPr lang="en-US" sz="703" dirty="0"/>
          </a:p>
        </p:txBody>
      </p:sp>
      <p:sp>
        <p:nvSpPr>
          <p:cNvPr id="67" name="Text 59"/>
          <p:cNvSpPr/>
          <p:nvPr/>
        </p:nvSpPr>
        <p:spPr>
          <a:xfrm>
            <a:off x="542925" y="4029075"/>
            <a:ext cx="988516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</a:t>
            </a:r>
            <a:endParaRPr lang="en-US" sz="700" dirty="0"/>
          </a:p>
        </p:txBody>
      </p:sp>
      <p:sp>
        <p:nvSpPr>
          <p:cNvPr id="68" name="Text 60"/>
          <p:cNvSpPr/>
          <p:nvPr/>
        </p:nvSpPr>
        <p:spPr>
          <a:xfrm>
            <a:off x="1434825" y="3971925"/>
            <a:ext cx="579107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5F1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pPr algn="l" indent="0" marL="0">
              <a:lnSpc>
                <a:spcPts val="1519"/>
              </a:lnSpc>
              <a:buNone/>
            </a:pPr>
            <a:r>
              <a:rPr lang="en-US" sz="700" b="1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实验</a:t>
            </a:r>
            <a:endParaRPr lang="en-US" sz="1013" dirty="0"/>
          </a:p>
        </p:txBody>
      </p:sp>
      <p:sp>
        <p:nvSpPr>
          <p:cNvPr id="69" name="Text 61"/>
          <p:cNvSpPr/>
          <p:nvPr/>
        </p:nvSpPr>
        <p:spPr>
          <a:xfrm>
            <a:off x="542925" y="4221956"/>
            <a:ext cx="1360103" cy="35719"/>
          </a:xfrm>
          <a:prstGeom prst="roundRect">
            <a:avLst>
              <a:gd name="adj" fmla="val 2639982"/>
            </a:avLst>
          </a:prstGeom>
          <a:solidFill>
            <a:srgbClr val="94A3B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2"/>
          <p:cNvSpPr/>
          <p:nvPr/>
        </p:nvSpPr>
        <p:spPr>
          <a:xfrm>
            <a:off x="542925" y="4221956"/>
            <a:ext cx="1006376" cy="35719"/>
          </a:xfrm>
          <a:prstGeom prst="roundRect">
            <a:avLst>
              <a:gd name="adj" fmla="val 2639982"/>
            </a:avLst>
          </a:prstGeom>
          <a:solidFill>
            <a:srgbClr val="F5F1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3053" y="2763738"/>
            <a:ext cx="1588815" cy="1593949"/>
          </a:xfrm>
          <a:prstGeom prst="rect">
            <a:avLst/>
          </a:prstGeom>
        </p:spPr>
      </p:pic>
      <p:sp>
        <p:nvSpPr>
          <p:cNvPr id="72" name="Text 63"/>
          <p:cNvSpPr/>
          <p:nvPr/>
        </p:nvSpPr>
        <p:spPr>
          <a:xfrm>
            <a:off x="2106625" y="2767310"/>
            <a:ext cx="1581671" cy="1586805"/>
          </a:xfrm>
          <a:prstGeom prst="roundRect">
            <a:avLst>
              <a:gd name="adj" fmla="val 8431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64"/>
          <p:cNvSpPr/>
          <p:nvPr/>
        </p:nvSpPr>
        <p:spPr>
          <a:xfrm>
            <a:off x="2217353" y="2870895"/>
            <a:ext cx="1281633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ch7</a:t>
            </a:r>
            <a:endParaRPr lang="en-US" sz="956" dirty="0"/>
          </a:p>
        </p:txBody>
      </p:sp>
      <p:sp>
        <p:nvSpPr>
          <p:cNvPr id="74" name="Text 65"/>
          <p:cNvSpPr/>
          <p:nvPr/>
        </p:nvSpPr>
        <p:spPr>
          <a:xfrm>
            <a:off x="3513274" y="2929830"/>
            <a:ext cx="64294" cy="64294"/>
          </a:xfrm>
          <a:prstGeom prst="ellipse">
            <a:avLst/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66"/>
          <p:cNvSpPr/>
          <p:nvPr/>
        </p:nvSpPr>
        <p:spPr>
          <a:xfrm>
            <a:off x="2217353" y="3117354"/>
            <a:ext cx="1360215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</a:t>
            </a:r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的评估</a:t>
            </a:r>
            <a:endParaRPr lang="en-US" sz="703" dirty="0"/>
          </a:p>
        </p:txBody>
      </p:sp>
      <p:sp>
        <p:nvSpPr>
          <p:cNvPr id="76" name="Text 67"/>
          <p:cNvSpPr/>
          <p:nvPr/>
        </p:nvSpPr>
        <p:spPr>
          <a:xfrm>
            <a:off x="2217353" y="4029075"/>
            <a:ext cx="988628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工程级</a:t>
            </a:r>
            <a:endParaRPr lang="en-US" sz="700" dirty="0"/>
          </a:p>
        </p:txBody>
      </p:sp>
      <p:sp>
        <p:nvSpPr>
          <p:cNvPr id="77" name="Text 68"/>
          <p:cNvSpPr/>
          <p:nvPr/>
        </p:nvSpPr>
        <p:spPr>
          <a:xfrm>
            <a:off x="3109365" y="3971925"/>
            <a:ext cx="579107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5F1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pPr algn="l" indent="0" marL="0">
              <a:lnSpc>
                <a:spcPts val="1519"/>
              </a:lnSpc>
              <a:buNone/>
            </a:pPr>
            <a:r>
              <a:rPr lang="en-US" sz="700" b="1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实验</a:t>
            </a:r>
            <a:endParaRPr lang="en-US" sz="1013" dirty="0"/>
          </a:p>
        </p:txBody>
      </p:sp>
      <p:sp>
        <p:nvSpPr>
          <p:cNvPr id="78" name="Text 69"/>
          <p:cNvSpPr/>
          <p:nvPr/>
        </p:nvSpPr>
        <p:spPr>
          <a:xfrm>
            <a:off x="2217353" y="4221956"/>
            <a:ext cx="1360215" cy="35719"/>
          </a:xfrm>
          <a:prstGeom prst="roundRect">
            <a:avLst>
              <a:gd name="adj" fmla="val 2639982"/>
            </a:avLst>
          </a:prstGeom>
          <a:solidFill>
            <a:srgbClr val="94A3B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0"/>
          <p:cNvSpPr/>
          <p:nvPr/>
        </p:nvSpPr>
        <p:spPr>
          <a:xfrm>
            <a:off x="2217353" y="4221956"/>
            <a:ext cx="1006487" cy="35719"/>
          </a:xfrm>
          <a:prstGeom prst="roundRect">
            <a:avLst>
              <a:gd name="adj" fmla="val 2639982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7593" y="2763738"/>
            <a:ext cx="1588703" cy="1593949"/>
          </a:xfrm>
          <a:prstGeom prst="rect">
            <a:avLst/>
          </a:prstGeom>
        </p:spPr>
      </p:pic>
      <p:sp>
        <p:nvSpPr>
          <p:cNvPr id="81" name="Text 71"/>
          <p:cNvSpPr/>
          <p:nvPr/>
        </p:nvSpPr>
        <p:spPr>
          <a:xfrm>
            <a:off x="3781165" y="2767310"/>
            <a:ext cx="1581559" cy="1586805"/>
          </a:xfrm>
          <a:prstGeom prst="roundRect">
            <a:avLst>
              <a:gd name="adj" fmla="val 8432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72"/>
          <p:cNvSpPr/>
          <p:nvPr/>
        </p:nvSpPr>
        <p:spPr>
          <a:xfrm>
            <a:off x="3891893" y="2870895"/>
            <a:ext cx="1281522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ch8</a:t>
            </a:r>
            <a:endParaRPr lang="en-US" sz="956" dirty="0"/>
          </a:p>
        </p:txBody>
      </p:sp>
      <p:sp>
        <p:nvSpPr>
          <p:cNvPr id="83" name="Text 73"/>
          <p:cNvSpPr/>
          <p:nvPr/>
        </p:nvSpPr>
        <p:spPr>
          <a:xfrm>
            <a:off x="5187702" y="2929830"/>
            <a:ext cx="64294" cy="64294"/>
          </a:xfrm>
          <a:prstGeom prst="ellipse">
            <a:avLst/>
          </a:prstGeom>
          <a:solidFill>
            <a:srgbClr val="F871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74"/>
          <p:cNvSpPr/>
          <p:nvPr/>
        </p:nvSpPr>
        <p:spPr>
          <a:xfrm>
            <a:off x="3891893" y="3117354"/>
            <a:ext cx="1360103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模型后训练</a:t>
            </a:r>
            <a:endParaRPr lang="en-US" sz="703" dirty="0"/>
          </a:p>
        </p:txBody>
      </p:sp>
      <p:sp>
        <p:nvSpPr>
          <p:cNvPr id="85" name="Text 75"/>
          <p:cNvSpPr/>
          <p:nvPr/>
        </p:nvSpPr>
        <p:spPr>
          <a:xfrm>
            <a:off x="3869033" y="3379494"/>
            <a:ext cx="963692" cy="174022"/>
          </a:xfrm>
          <a:prstGeom prst="roundRect">
            <a:avLst>
              <a:gd name="adj" fmla="val 32841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76"/>
          <p:cNvSpPr/>
          <p:nvPr/>
        </p:nvSpPr>
        <p:spPr>
          <a:xfrm>
            <a:off x="3813958" y="3388816"/>
            <a:ext cx="107384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700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唯一需 </a:t>
            </a:r>
            <a:pPr algn="ctr" indent="0" marL="0">
              <a:lnSpc>
                <a:spcPts val="886"/>
              </a:lnSpc>
              <a:buNone/>
            </a:pPr>
            <a:r>
              <a:rPr lang="en-US" sz="700" dirty="0">
                <a:solidFill>
                  <a:srgbClr val="67E8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pPr algn="ctr" indent="0" marL="0">
              <a:lnSpc>
                <a:spcPts val="886"/>
              </a:lnSpc>
              <a:buNone/>
            </a:pPr>
            <a:r>
              <a:rPr lang="en-US" sz="700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基础与 </a:t>
            </a:r>
            <a:pPr algn="ctr" indent="0" marL="0">
              <a:lnSpc>
                <a:spcPts val="886"/>
              </a:lnSpc>
              <a:buNone/>
            </a:pPr>
            <a:r>
              <a:rPr lang="en-US" sz="700" dirty="0">
                <a:solidFill>
                  <a:srgbClr val="67E8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GPU</a:t>
            </a:r>
            <a:endParaRPr lang="en-US" sz="700" dirty="0"/>
          </a:p>
        </p:txBody>
      </p:sp>
      <p:sp>
        <p:nvSpPr>
          <p:cNvPr id="87" name="Text 77"/>
          <p:cNvSpPr/>
          <p:nvPr/>
        </p:nvSpPr>
        <p:spPr>
          <a:xfrm>
            <a:off x="3891893" y="4029075"/>
            <a:ext cx="988516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专家级</a:t>
            </a:r>
            <a:endParaRPr lang="en-US" sz="700" dirty="0"/>
          </a:p>
        </p:txBody>
      </p:sp>
      <p:sp>
        <p:nvSpPr>
          <p:cNvPr id="88" name="Text 78"/>
          <p:cNvSpPr/>
          <p:nvPr/>
        </p:nvSpPr>
        <p:spPr>
          <a:xfrm>
            <a:off x="4783793" y="3971925"/>
            <a:ext cx="579107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5F1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</a:t>
            </a:r>
            <a:pPr algn="l" indent="0" marL="0">
              <a:lnSpc>
                <a:spcPts val="1519"/>
              </a:lnSpc>
              <a:buNone/>
            </a:pPr>
            <a:r>
              <a:rPr lang="en-US" sz="700" b="1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实验</a:t>
            </a:r>
            <a:endParaRPr lang="en-US" sz="1013" dirty="0"/>
          </a:p>
        </p:txBody>
      </p:sp>
      <p:sp>
        <p:nvSpPr>
          <p:cNvPr id="89" name="Text 79"/>
          <p:cNvSpPr/>
          <p:nvPr/>
        </p:nvSpPr>
        <p:spPr>
          <a:xfrm>
            <a:off x="3891893" y="4221956"/>
            <a:ext cx="1360103" cy="35719"/>
          </a:xfrm>
          <a:prstGeom prst="roundRect">
            <a:avLst>
              <a:gd name="adj" fmla="val 2639982"/>
            </a:avLst>
          </a:prstGeom>
          <a:solidFill>
            <a:srgbClr val="94A3B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Text 80"/>
          <p:cNvSpPr/>
          <p:nvPr/>
        </p:nvSpPr>
        <p:spPr>
          <a:xfrm>
            <a:off x="3891893" y="4221956"/>
            <a:ext cx="1360103" cy="35719"/>
          </a:xfrm>
          <a:prstGeom prst="roundRect">
            <a:avLst>
              <a:gd name="adj" fmla="val 2639982"/>
            </a:avLst>
          </a:prstGeom>
          <a:solidFill>
            <a:srgbClr val="F871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52021" y="2763738"/>
            <a:ext cx="1588815" cy="1593949"/>
          </a:xfrm>
          <a:prstGeom prst="rect">
            <a:avLst/>
          </a:prstGeom>
        </p:spPr>
      </p:pic>
      <p:sp>
        <p:nvSpPr>
          <p:cNvPr id="92" name="Text 81"/>
          <p:cNvSpPr/>
          <p:nvPr/>
        </p:nvSpPr>
        <p:spPr>
          <a:xfrm>
            <a:off x="5455593" y="2767310"/>
            <a:ext cx="1581671" cy="1586805"/>
          </a:xfrm>
          <a:prstGeom prst="roundRect">
            <a:avLst>
              <a:gd name="adj" fmla="val 8431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82"/>
          <p:cNvSpPr/>
          <p:nvPr/>
        </p:nvSpPr>
        <p:spPr>
          <a:xfrm>
            <a:off x="5566321" y="2870895"/>
            <a:ext cx="1281633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ch9</a:t>
            </a:r>
            <a:endParaRPr lang="en-US" sz="956" dirty="0"/>
          </a:p>
        </p:txBody>
      </p:sp>
      <p:sp>
        <p:nvSpPr>
          <p:cNvPr id="94" name="Text 83"/>
          <p:cNvSpPr/>
          <p:nvPr/>
        </p:nvSpPr>
        <p:spPr>
          <a:xfrm>
            <a:off x="6862242" y="2929830"/>
            <a:ext cx="64294" cy="64294"/>
          </a:xfrm>
          <a:prstGeom prst="ellipse">
            <a:avLst/>
          </a:prstGeom>
          <a:solidFill>
            <a:srgbClr val="F871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84"/>
          <p:cNvSpPr/>
          <p:nvPr/>
        </p:nvSpPr>
        <p:spPr>
          <a:xfrm>
            <a:off x="5566321" y="3117354"/>
            <a:ext cx="1360215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</a:t>
            </a:r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的持续进化</a:t>
            </a:r>
            <a:endParaRPr lang="en-US" sz="703" dirty="0"/>
          </a:p>
        </p:txBody>
      </p:sp>
      <p:sp>
        <p:nvSpPr>
          <p:cNvPr id="96" name="Text 85"/>
          <p:cNvSpPr/>
          <p:nvPr/>
        </p:nvSpPr>
        <p:spPr>
          <a:xfrm>
            <a:off x="5566321" y="4029075"/>
            <a:ext cx="1066093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应用级</a:t>
            </a:r>
            <a:endParaRPr lang="en-US" sz="700" dirty="0"/>
          </a:p>
        </p:txBody>
      </p:sp>
      <p:sp>
        <p:nvSpPr>
          <p:cNvPr id="97" name="Text 86"/>
          <p:cNvSpPr/>
          <p:nvPr/>
        </p:nvSpPr>
        <p:spPr>
          <a:xfrm>
            <a:off x="6544102" y="3971925"/>
            <a:ext cx="485032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5F1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pPr algn="l" indent="0" marL="0">
              <a:lnSpc>
                <a:spcPts val="1519"/>
              </a:lnSpc>
              <a:buNone/>
            </a:pPr>
            <a:r>
              <a:rPr lang="en-US" sz="700" b="1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实验</a:t>
            </a:r>
            <a:endParaRPr lang="en-US" sz="1013" dirty="0"/>
          </a:p>
        </p:txBody>
      </p:sp>
      <p:sp>
        <p:nvSpPr>
          <p:cNvPr id="98" name="Text 87"/>
          <p:cNvSpPr/>
          <p:nvPr/>
        </p:nvSpPr>
        <p:spPr>
          <a:xfrm>
            <a:off x="5566321" y="4221956"/>
            <a:ext cx="1360215" cy="35719"/>
          </a:xfrm>
          <a:prstGeom prst="roundRect">
            <a:avLst>
              <a:gd name="adj" fmla="val 2639982"/>
            </a:avLst>
          </a:prstGeom>
          <a:solidFill>
            <a:srgbClr val="94A3B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Text 88"/>
          <p:cNvSpPr/>
          <p:nvPr/>
        </p:nvSpPr>
        <p:spPr>
          <a:xfrm>
            <a:off x="5566321" y="4221956"/>
            <a:ext cx="639254" cy="35719"/>
          </a:xfrm>
          <a:prstGeom prst="roundRect">
            <a:avLst>
              <a:gd name="adj" fmla="val 2639982"/>
            </a:avLst>
          </a:prstGeom>
          <a:solidFill>
            <a:srgbClr val="F871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6560" y="2763738"/>
            <a:ext cx="1588703" cy="1593949"/>
          </a:xfrm>
          <a:prstGeom prst="rect">
            <a:avLst/>
          </a:prstGeom>
        </p:spPr>
      </p:pic>
      <p:sp>
        <p:nvSpPr>
          <p:cNvPr id="101" name="Text 89"/>
          <p:cNvSpPr/>
          <p:nvPr/>
        </p:nvSpPr>
        <p:spPr>
          <a:xfrm>
            <a:off x="7130132" y="2767310"/>
            <a:ext cx="1581559" cy="1586805"/>
          </a:xfrm>
          <a:prstGeom prst="roundRect">
            <a:avLst>
              <a:gd name="adj" fmla="val 8432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Text 90"/>
          <p:cNvSpPr/>
          <p:nvPr/>
        </p:nvSpPr>
        <p:spPr>
          <a:xfrm>
            <a:off x="7240860" y="2870895"/>
            <a:ext cx="1281522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ch10</a:t>
            </a:r>
            <a:endParaRPr lang="en-US" sz="956" dirty="0"/>
          </a:p>
        </p:txBody>
      </p:sp>
      <p:sp>
        <p:nvSpPr>
          <p:cNvPr id="103" name="Text 91"/>
          <p:cNvSpPr/>
          <p:nvPr/>
        </p:nvSpPr>
        <p:spPr>
          <a:xfrm>
            <a:off x="8536670" y="2929830"/>
            <a:ext cx="64294" cy="64294"/>
          </a:xfrm>
          <a:prstGeom prst="ellipse">
            <a:avLst/>
          </a:prstGeom>
          <a:solidFill>
            <a:srgbClr val="F871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4" name="Text 92"/>
          <p:cNvSpPr/>
          <p:nvPr/>
        </p:nvSpPr>
        <p:spPr>
          <a:xfrm>
            <a:off x="7240860" y="3117354"/>
            <a:ext cx="1360103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</a:t>
            </a:r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</a:t>
            </a:r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协作</a:t>
            </a:r>
            <a:endParaRPr lang="en-US" sz="703" dirty="0"/>
          </a:p>
        </p:txBody>
      </p:sp>
      <p:sp>
        <p:nvSpPr>
          <p:cNvPr id="105" name="Text 93"/>
          <p:cNvSpPr/>
          <p:nvPr/>
        </p:nvSpPr>
        <p:spPr>
          <a:xfrm>
            <a:off x="7240860" y="4029075"/>
            <a:ext cx="1065981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应用级</a:t>
            </a:r>
            <a:endParaRPr lang="en-US" sz="700" dirty="0"/>
          </a:p>
        </p:txBody>
      </p:sp>
      <p:sp>
        <p:nvSpPr>
          <p:cNvPr id="106" name="Text 94"/>
          <p:cNvSpPr/>
          <p:nvPr/>
        </p:nvSpPr>
        <p:spPr>
          <a:xfrm>
            <a:off x="8218530" y="3971925"/>
            <a:ext cx="485032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5F1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pPr algn="l" indent="0" marL="0">
              <a:lnSpc>
                <a:spcPts val="1519"/>
              </a:lnSpc>
              <a:buNone/>
            </a:pPr>
            <a:r>
              <a:rPr lang="en-US" sz="700" b="1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实验</a:t>
            </a:r>
            <a:endParaRPr lang="en-US" sz="1013" dirty="0"/>
          </a:p>
        </p:txBody>
      </p:sp>
      <p:sp>
        <p:nvSpPr>
          <p:cNvPr id="107" name="Text 95"/>
          <p:cNvSpPr/>
          <p:nvPr/>
        </p:nvSpPr>
        <p:spPr>
          <a:xfrm>
            <a:off x="7240860" y="4221956"/>
            <a:ext cx="1360103" cy="35719"/>
          </a:xfrm>
          <a:prstGeom prst="roundRect">
            <a:avLst>
              <a:gd name="adj" fmla="val 2639982"/>
            </a:avLst>
          </a:prstGeom>
          <a:solidFill>
            <a:srgbClr val="94A3B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8" name="Text 96"/>
          <p:cNvSpPr/>
          <p:nvPr/>
        </p:nvSpPr>
        <p:spPr>
          <a:xfrm>
            <a:off x="7240860" y="4221956"/>
            <a:ext cx="435211" cy="35719"/>
          </a:xfrm>
          <a:prstGeom prst="roundRect">
            <a:avLst>
              <a:gd name="adj" fmla="val 2639982"/>
            </a:avLst>
          </a:prstGeom>
          <a:solidFill>
            <a:srgbClr val="F871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Text 97"/>
          <p:cNvSpPr/>
          <p:nvPr/>
        </p:nvSpPr>
        <p:spPr>
          <a:xfrm>
            <a:off x="432197" y="4475559"/>
            <a:ext cx="4776267" cy="364331"/>
          </a:xfrm>
          <a:prstGeom prst="roundRect">
            <a:avLst>
              <a:gd name="adj" fmla="val 26144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0" name="Text 98"/>
          <p:cNvSpPr/>
          <p:nvPr/>
        </p:nvSpPr>
        <p:spPr>
          <a:xfrm>
            <a:off x="2484797" y="4573786"/>
            <a:ext cx="2720094" cy="181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构建篇 </a:t>
            </a:r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ch1–6</a:t>
            </a:r>
            <a:endParaRPr lang="en-US" sz="844" dirty="0"/>
          </a:p>
        </p:txBody>
      </p:sp>
      <p:sp>
        <p:nvSpPr>
          <p:cNvPr id="111" name="Text 99"/>
          <p:cNvSpPr/>
          <p:nvPr/>
        </p:nvSpPr>
        <p:spPr>
          <a:xfrm>
            <a:off x="5234538" y="4523065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828" dirty="0"/>
          </a:p>
        </p:txBody>
      </p:sp>
      <p:sp>
        <p:nvSpPr>
          <p:cNvPr id="112" name="Text 100"/>
          <p:cNvSpPr/>
          <p:nvPr/>
        </p:nvSpPr>
        <p:spPr>
          <a:xfrm>
            <a:off x="5529932" y="4475559"/>
            <a:ext cx="3181759" cy="364331"/>
          </a:xfrm>
          <a:prstGeom prst="roundRect">
            <a:avLst>
              <a:gd name="adj" fmla="val 26144"/>
            </a:avLst>
          </a:prstGeom>
          <a:solidFill>
            <a:srgbClr val="16223A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Text 101"/>
          <p:cNvSpPr/>
          <p:nvPr/>
        </p:nvSpPr>
        <p:spPr>
          <a:xfrm>
            <a:off x="6753076" y="4573786"/>
            <a:ext cx="1955043" cy="181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提升篇 </a:t>
            </a:r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ch7–10</a:t>
            </a:r>
            <a:endParaRPr lang="en-US" sz="84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71452" y="2725341"/>
            <a:ext cx="0" cy="214313"/>
          </a:xfrm>
          <a:prstGeom prst="line">
            <a:avLst/>
          </a:prstGeom>
          <a:noFill/>
          <a:ln w="14288">
            <a:solidFill>
              <a:srgbClr val="22D3EE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7172437" y="2725341"/>
            <a:ext cx="0" cy="214313"/>
          </a:xfrm>
          <a:prstGeom prst="line">
            <a:avLst/>
          </a:prstGeom>
          <a:noFill/>
          <a:ln w="14288">
            <a:solidFill>
              <a:srgbClr val="22D3EE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485775"/>
            <a:ext cx="185738" cy="14288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425946"/>
            <a:ext cx="182722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spc="225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主线二 · 结构主线</a:t>
            </a:r>
            <a:endParaRPr lang="en-US" sz="703" dirty="0"/>
          </a:p>
        </p:txBody>
      </p:sp>
      <p:sp>
        <p:nvSpPr>
          <p:cNvPr id="6" name="Text 4"/>
          <p:cNvSpPr/>
          <p:nvPr/>
        </p:nvSpPr>
        <p:spPr>
          <a:xfrm>
            <a:off x="457200" y="645616"/>
            <a:ext cx="4275769" cy="381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79"/>
              </a:lnSpc>
              <a:buNone/>
            </a:pPr>
            <a:r>
              <a:rPr lang="en-US" sz="2138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先能用，再好用；</a:t>
            </a:r>
            <a:pPr algn="l" indent="0" marL="0">
              <a:lnSpc>
                <a:spcPts val="2779"/>
              </a:lnSpc>
              <a:buNone/>
            </a:pPr>
            <a:r>
              <a:rPr lang="en-US" sz="2138" b="1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先闭环，再放大</a:t>
            </a:r>
            <a:endParaRPr lang="en-US" sz="2138" dirty="0"/>
          </a:p>
        </p:txBody>
      </p:sp>
      <p:sp>
        <p:nvSpPr>
          <p:cNvPr id="7" name="Text 5"/>
          <p:cNvSpPr/>
          <p:nvPr/>
        </p:nvSpPr>
        <p:spPr>
          <a:xfrm>
            <a:off x="7503951" y="807355"/>
            <a:ext cx="1480927" cy="206383"/>
          </a:xfrm>
          <a:prstGeom prst="rect">
            <a:avLst/>
          </a:prstGeom>
          <a:noFill/>
          <a:ln/>
        </p:spPr>
        <p:txBody>
          <a:bodyPr wrap="none" lIns="0" tIns="0" rIns="0" bIns="5715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spc="56" kern="0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两大问题 · 三个提升层面</a:t>
            </a:r>
            <a:endParaRPr lang="en-US" sz="703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12751"/>
            <a:ext cx="942975" cy="142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54840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67E8F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406" dirty="0"/>
          </a:p>
        </p:txBody>
      </p:sp>
      <p:sp>
        <p:nvSpPr>
          <p:cNvPr id="10" name="Text 7"/>
          <p:cNvSpPr/>
          <p:nvPr/>
        </p:nvSpPr>
        <p:spPr>
          <a:xfrm>
            <a:off x="655685" y="1518047"/>
            <a:ext cx="1165443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如何构建 </a:t>
            </a:r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</a:t>
            </a:r>
            <a:endParaRPr lang="en-US" sz="1069" dirty="0"/>
          </a:p>
        </p:txBody>
      </p:sp>
      <p:sp>
        <p:nvSpPr>
          <p:cNvPr id="11" name="Text 8"/>
          <p:cNvSpPr/>
          <p:nvPr/>
        </p:nvSpPr>
        <p:spPr>
          <a:xfrm>
            <a:off x="7974211" y="1563588"/>
            <a:ext cx="91932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83" kern="0" dirty="0">
                <a:solidFill>
                  <a:srgbClr val="F5F1E8">
                    <a:alpha val="2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构建篇 · </a:t>
            </a:r>
            <a:pPr algn="l" indent="0" marL="0">
              <a:lnSpc>
                <a:spcPts val="886"/>
              </a:lnSpc>
              <a:buNone/>
            </a:pPr>
            <a:r>
              <a:rPr lang="en-US" sz="700" spc="83" kern="0" dirty="0">
                <a:solidFill>
                  <a:srgbClr val="F5F1E8">
                    <a:alpha val="2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ch1</a:t>
            </a:r>
            <a:pPr algn="l" indent="0" marL="0">
              <a:lnSpc>
                <a:spcPts val="886"/>
              </a:lnSpc>
              <a:buNone/>
            </a:pPr>
            <a:r>
              <a:rPr lang="en-US" sz="700" spc="83" kern="0" dirty="0">
                <a:solidFill>
                  <a:srgbClr val="F5F1E8">
                    <a:alpha val="2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</a:t>
            </a:r>
            <a:pPr algn="l" indent="0" marL="0">
              <a:lnSpc>
                <a:spcPts val="886"/>
              </a:lnSpc>
              <a:buNone/>
            </a:pPr>
            <a:r>
              <a:rPr lang="en-US" sz="700" spc="83" kern="0" dirty="0">
                <a:solidFill>
                  <a:srgbClr val="F5F1E8">
                    <a:alpha val="2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7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07369"/>
            <a:ext cx="8229600" cy="7465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0772" y="1810941"/>
            <a:ext cx="8222456" cy="739378"/>
          </a:xfrm>
          <a:prstGeom prst="roundRect">
            <a:avLst>
              <a:gd name="adj" fmla="val 18035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653653" y="1989534"/>
            <a:ext cx="747192" cy="382191"/>
          </a:xfrm>
          <a:prstGeom prst="roundRect">
            <a:avLst>
              <a:gd name="adj" fmla="val 29907"/>
            </a:avLst>
          </a:prstGeom>
          <a:solidFill>
            <a:srgbClr val="F5F1E8">
              <a:alpha val="3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778669" y="2113657"/>
            <a:ext cx="25806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ch1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956126" y="2078831"/>
            <a:ext cx="367832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</a:t>
            </a:r>
            <a:endParaRPr lang="en-US" sz="1069" dirty="0"/>
          </a:p>
        </p:txBody>
      </p:sp>
      <p:sp>
        <p:nvSpPr>
          <p:cNvPr id="17" name="Text 13"/>
          <p:cNvSpPr/>
          <p:nvPr/>
        </p:nvSpPr>
        <p:spPr>
          <a:xfrm>
            <a:off x="1590377" y="211633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5F1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18" name="Text 14"/>
          <p:cNvSpPr/>
          <p:nvPr/>
        </p:nvSpPr>
        <p:spPr>
          <a:xfrm>
            <a:off x="1908497" y="1989534"/>
            <a:ext cx="882923" cy="382191"/>
          </a:xfrm>
          <a:prstGeom prst="roundRect">
            <a:avLst>
              <a:gd name="adj" fmla="val 29907"/>
            </a:avLst>
          </a:prstGeom>
          <a:solidFill>
            <a:srgbClr val="F5F1E8">
              <a:alpha val="3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2033513" y="2113657"/>
            <a:ext cx="25806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ch2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2198755" y="2078831"/>
            <a:ext cx="527995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</a:t>
            </a:r>
            <a:endParaRPr lang="en-US" sz="1069" dirty="0"/>
          </a:p>
        </p:txBody>
      </p:sp>
      <p:sp>
        <p:nvSpPr>
          <p:cNvPr id="21" name="Text 17"/>
          <p:cNvSpPr/>
          <p:nvPr/>
        </p:nvSpPr>
        <p:spPr>
          <a:xfrm>
            <a:off x="2980953" y="211633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5F1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2" name="Text 18"/>
          <p:cNvSpPr/>
          <p:nvPr/>
        </p:nvSpPr>
        <p:spPr>
          <a:xfrm>
            <a:off x="3299073" y="1989534"/>
            <a:ext cx="747192" cy="382191"/>
          </a:xfrm>
          <a:prstGeom prst="roundRect">
            <a:avLst>
              <a:gd name="adj" fmla="val 29907"/>
            </a:avLst>
          </a:prstGeom>
          <a:solidFill>
            <a:srgbClr val="F5F1E8">
              <a:alpha val="3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3424089" y="2113657"/>
            <a:ext cx="25806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ch3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3601546" y="2078831"/>
            <a:ext cx="367832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</a:t>
            </a:r>
            <a:endParaRPr lang="en-US" sz="1069" dirty="0"/>
          </a:p>
        </p:txBody>
      </p:sp>
      <p:sp>
        <p:nvSpPr>
          <p:cNvPr id="25" name="Text 21"/>
          <p:cNvSpPr/>
          <p:nvPr/>
        </p:nvSpPr>
        <p:spPr>
          <a:xfrm>
            <a:off x="4235797" y="211633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5F1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6" name="Text 22"/>
          <p:cNvSpPr/>
          <p:nvPr/>
        </p:nvSpPr>
        <p:spPr>
          <a:xfrm>
            <a:off x="4553917" y="1989534"/>
            <a:ext cx="747192" cy="382191"/>
          </a:xfrm>
          <a:prstGeom prst="roundRect">
            <a:avLst>
              <a:gd name="adj" fmla="val 29907"/>
            </a:avLst>
          </a:prstGeom>
          <a:solidFill>
            <a:srgbClr val="F5F1E8">
              <a:alpha val="3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4678933" y="2113657"/>
            <a:ext cx="25806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ch4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4856390" y="2078831"/>
            <a:ext cx="367832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069" dirty="0"/>
          </a:p>
        </p:txBody>
      </p:sp>
      <p:sp>
        <p:nvSpPr>
          <p:cNvPr id="29" name="Text 25"/>
          <p:cNvSpPr/>
          <p:nvPr/>
        </p:nvSpPr>
        <p:spPr>
          <a:xfrm>
            <a:off x="5490642" y="211633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5F1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30" name="Text 26"/>
          <p:cNvSpPr/>
          <p:nvPr/>
        </p:nvSpPr>
        <p:spPr>
          <a:xfrm>
            <a:off x="5808762" y="1989534"/>
            <a:ext cx="1154385" cy="382191"/>
          </a:xfrm>
          <a:prstGeom prst="roundRect">
            <a:avLst>
              <a:gd name="adj" fmla="val 29907"/>
            </a:avLst>
          </a:prstGeom>
          <a:solidFill>
            <a:srgbClr val="F5F1E8">
              <a:alpha val="3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5933777" y="2113657"/>
            <a:ext cx="25806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ch5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6074587" y="2078831"/>
            <a:ext cx="84832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代码元能力</a:t>
            </a:r>
            <a:endParaRPr lang="en-US" sz="1069" dirty="0"/>
          </a:p>
        </p:txBody>
      </p:sp>
      <p:sp>
        <p:nvSpPr>
          <p:cNvPr id="33" name="Text 29"/>
          <p:cNvSpPr/>
          <p:nvPr/>
        </p:nvSpPr>
        <p:spPr>
          <a:xfrm>
            <a:off x="7152680" y="211633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5F1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34" name="Text 30"/>
          <p:cNvSpPr/>
          <p:nvPr/>
        </p:nvSpPr>
        <p:spPr>
          <a:xfrm>
            <a:off x="7470800" y="1989534"/>
            <a:ext cx="1018654" cy="382191"/>
          </a:xfrm>
          <a:prstGeom prst="roundRect">
            <a:avLst>
              <a:gd name="adj" fmla="val 29907"/>
            </a:avLst>
          </a:prstGeom>
          <a:solidFill>
            <a:srgbClr val="F5F1E8">
              <a:alpha val="3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7595815" y="2113657"/>
            <a:ext cx="25806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ch6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7748841" y="2078831"/>
            <a:ext cx="688157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交互扩展</a:t>
            </a:r>
            <a:endParaRPr lang="en-US" sz="1069" dirty="0"/>
          </a:p>
        </p:txBody>
      </p:sp>
      <p:sp>
        <p:nvSpPr>
          <p:cNvPr id="37" name="Text 33"/>
          <p:cNvSpPr/>
          <p:nvPr/>
        </p:nvSpPr>
        <p:spPr>
          <a:xfrm>
            <a:off x="2107183" y="2738735"/>
            <a:ext cx="4929522" cy="202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7"/>
              </a:lnSpc>
              <a:buNone/>
            </a:pPr>
            <a:r>
              <a:rPr lang="en-US" sz="844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各章不是书架式并列，而是</a:t>
            </a:r>
            <a:pPr algn="ctr" indent="0" marL="0">
              <a:lnSpc>
                <a:spcPts val="1477"/>
              </a:lnSpc>
              <a:buNone/>
            </a:pPr>
            <a:r>
              <a:rPr lang="en-US" sz="844" b="1" dirty="0">
                <a:solidFill>
                  <a:srgbClr val="67E8F9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管道式衔接</a:t>
            </a:r>
            <a:pPr algn="ctr" indent="0" marL="0">
              <a:lnSpc>
                <a:spcPts val="1477"/>
              </a:lnSpc>
              <a:buNone/>
            </a:pPr>
            <a:r>
              <a:rPr lang="en-US" sz="844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——评估产生的环境与数据成为后训练的输入与更新提案的依据。</a:t>
            </a:r>
            <a:endParaRPr lang="en-US" sz="844" dirty="0"/>
          </a:p>
        </p:txBody>
      </p:sp>
      <p:sp>
        <p:nvSpPr>
          <p:cNvPr id="38" name="Text 34"/>
          <p:cNvSpPr/>
          <p:nvPr/>
        </p:nvSpPr>
        <p:spPr>
          <a:xfrm>
            <a:off x="457200" y="314146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67E8F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39" name="Text 35"/>
          <p:cNvSpPr/>
          <p:nvPr/>
        </p:nvSpPr>
        <p:spPr>
          <a:xfrm>
            <a:off x="652061" y="3111103"/>
            <a:ext cx="1530614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如何提升 </a:t>
            </a:r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</a:t>
            </a:r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能力</a:t>
            </a:r>
            <a:endParaRPr lang="en-US" sz="1069" dirty="0"/>
          </a:p>
        </p:txBody>
      </p:sp>
      <p:sp>
        <p:nvSpPr>
          <p:cNvPr id="40" name="Text 36"/>
          <p:cNvSpPr/>
          <p:nvPr/>
        </p:nvSpPr>
        <p:spPr>
          <a:xfrm>
            <a:off x="7918512" y="3156645"/>
            <a:ext cx="99118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83" kern="0" dirty="0">
                <a:solidFill>
                  <a:srgbClr val="F5F1E8">
                    <a:alpha val="2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提升篇 · </a:t>
            </a:r>
            <a:pPr algn="l" indent="0" marL="0">
              <a:lnSpc>
                <a:spcPts val="886"/>
              </a:lnSpc>
              <a:buNone/>
            </a:pPr>
            <a:r>
              <a:rPr lang="en-US" sz="700" spc="83" kern="0" dirty="0">
                <a:solidFill>
                  <a:srgbClr val="F5F1E8">
                    <a:alpha val="2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ch7</a:t>
            </a:r>
            <a:pPr algn="l" indent="0" marL="0">
              <a:lnSpc>
                <a:spcPts val="886"/>
              </a:lnSpc>
              <a:buNone/>
            </a:pPr>
            <a:r>
              <a:rPr lang="en-US" sz="700" spc="83" kern="0" dirty="0">
                <a:solidFill>
                  <a:srgbClr val="F5F1E8">
                    <a:alpha val="2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</a:t>
            </a:r>
            <a:pPr algn="l" indent="0" marL="0">
              <a:lnSpc>
                <a:spcPts val="886"/>
              </a:lnSpc>
              <a:buNone/>
            </a:pPr>
            <a:r>
              <a:rPr lang="en-US" sz="700" spc="83" kern="0" dirty="0">
                <a:solidFill>
                  <a:srgbClr val="F5F1E8">
                    <a:alpha val="2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700" dirty="0"/>
          </a:p>
        </p:txBody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00425"/>
            <a:ext cx="8229600" cy="803672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460772" y="3403997"/>
            <a:ext cx="8222456" cy="796528"/>
          </a:xfrm>
          <a:prstGeom prst="roundRect">
            <a:avLst>
              <a:gd name="adj" fmla="val 16741"/>
            </a:avLst>
          </a:prstGeom>
          <a:noFill/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8"/>
          <p:cNvSpPr/>
          <p:nvPr/>
        </p:nvSpPr>
        <p:spPr>
          <a:xfrm>
            <a:off x="682228" y="3596878"/>
            <a:ext cx="1132954" cy="410766"/>
          </a:xfrm>
          <a:prstGeom prst="roundRect">
            <a:avLst>
              <a:gd name="adj" fmla="val 27826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814388" y="3735288"/>
            <a:ext cx="25806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ch7</a:t>
            </a:r>
            <a:endParaRPr lang="en-US" sz="800" dirty="0"/>
          </a:p>
        </p:txBody>
      </p:sp>
      <p:sp>
        <p:nvSpPr>
          <p:cNvPr id="45" name="Text 40"/>
          <p:cNvSpPr/>
          <p:nvPr/>
        </p:nvSpPr>
        <p:spPr>
          <a:xfrm>
            <a:off x="1039974" y="3700463"/>
            <a:ext cx="434519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</a:t>
            </a:r>
            <a:endParaRPr lang="en-US" sz="1069" dirty="0"/>
          </a:p>
        </p:txBody>
      </p:sp>
      <p:sp>
        <p:nvSpPr>
          <p:cNvPr id="46" name="Text 41"/>
          <p:cNvSpPr/>
          <p:nvPr/>
        </p:nvSpPr>
        <p:spPr>
          <a:xfrm>
            <a:off x="1375842" y="3715250"/>
            <a:ext cx="307181" cy="174022"/>
          </a:xfrm>
          <a:prstGeom prst="roundRect">
            <a:avLst>
              <a:gd name="adj" fmla="val 5467972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2"/>
          <p:cNvSpPr/>
          <p:nvPr/>
        </p:nvSpPr>
        <p:spPr>
          <a:xfrm>
            <a:off x="1375842" y="3724573"/>
            <a:ext cx="3071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700" b="1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地基</a:t>
            </a:r>
            <a:endParaRPr lang="en-US" sz="700" dirty="0"/>
          </a:p>
        </p:txBody>
      </p:sp>
      <p:sp>
        <p:nvSpPr>
          <p:cNvPr id="48" name="Text 43"/>
          <p:cNvSpPr/>
          <p:nvPr/>
        </p:nvSpPr>
        <p:spPr>
          <a:xfrm>
            <a:off x="2333216" y="373796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5F1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49" name="Text 44"/>
          <p:cNvSpPr/>
          <p:nvPr/>
        </p:nvSpPr>
        <p:spPr>
          <a:xfrm>
            <a:off x="2979837" y="3596878"/>
            <a:ext cx="1032942" cy="410766"/>
          </a:xfrm>
          <a:prstGeom prst="roundRect">
            <a:avLst>
              <a:gd name="adj" fmla="val 27826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5"/>
          <p:cNvSpPr/>
          <p:nvPr/>
        </p:nvSpPr>
        <p:spPr>
          <a:xfrm>
            <a:off x="3111996" y="3735288"/>
            <a:ext cx="25806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ch8</a:t>
            </a:r>
            <a:endParaRPr lang="en-US" sz="800" dirty="0"/>
          </a:p>
        </p:txBody>
      </p:sp>
      <p:sp>
        <p:nvSpPr>
          <p:cNvPr id="51" name="Text 46"/>
          <p:cNvSpPr/>
          <p:nvPr/>
        </p:nvSpPr>
        <p:spPr>
          <a:xfrm>
            <a:off x="3265022" y="3700463"/>
            <a:ext cx="688157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模型参数</a:t>
            </a:r>
            <a:endParaRPr lang="en-US" sz="1069" dirty="0"/>
          </a:p>
        </p:txBody>
      </p:sp>
      <p:sp>
        <p:nvSpPr>
          <p:cNvPr id="52" name="Text 47"/>
          <p:cNvSpPr/>
          <p:nvPr/>
        </p:nvSpPr>
        <p:spPr>
          <a:xfrm>
            <a:off x="4530812" y="373796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5F1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53" name="Text 48"/>
          <p:cNvSpPr/>
          <p:nvPr/>
        </p:nvSpPr>
        <p:spPr>
          <a:xfrm>
            <a:off x="5177433" y="3596878"/>
            <a:ext cx="1032942" cy="410766"/>
          </a:xfrm>
          <a:prstGeom prst="roundRect">
            <a:avLst>
              <a:gd name="adj" fmla="val 27826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9"/>
          <p:cNvSpPr/>
          <p:nvPr/>
        </p:nvSpPr>
        <p:spPr>
          <a:xfrm>
            <a:off x="5309592" y="3735288"/>
            <a:ext cx="25806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ch9</a:t>
            </a:r>
            <a:endParaRPr lang="en-US" sz="800" dirty="0"/>
          </a:p>
        </p:txBody>
      </p:sp>
      <p:sp>
        <p:nvSpPr>
          <p:cNvPr id="55" name="Text 50"/>
          <p:cNvSpPr/>
          <p:nvPr/>
        </p:nvSpPr>
        <p:spPr>
          <a:xfrm>
            <a:off x="5462618" y="3700463"/>
            <a:ext cx="688157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单体系统</a:t>
            </a:r>
            <a:endParaRPr lang="en-US" sz="1069" dirty="0"/>
          </a:p>
        </p:txBody>
      </p:sp>
      <p:sp>
        <p:nvSpPr>
          <p:cNvPr id="56" name="Text 51"/>
          <p:cNvSpPr/>
          <p:nvPr/>
        </p:nvSpPr>
        <p:spPr>
          <a:xfrm>
            <a:off x="6728408" y="373796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5F1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57" name="Text 52"/>
          <p:cNvSpPr/>
          <p:nvPr/>
        </p:nvSpPr>
        <p:spPr>
          <a:xfrm>
            <a:off x="7375029" y="3596878"/>
            <a:ext cx="1086743" cy="410766"/>
          </a:xfrm>
          <a:prstGeom prst="roundRect">
            <a:avLst>
              <a:gd name="adj" fmla="val 27826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3"/>
          <p:cNvSpPr/>
          <p:nvPr/>
        </p:nvSpPr>
        <p:spPr>
          <a:xfrm>
            <a:off x="7507188" y="3735288"/>
            <a:ext cx="3441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ch10</a:t>
            </a:r>
            <a:endParaRPr lang="en-US" sz="800" dirty="0"/>
          </a:p>
        </p:txBody>
      </p:sp>
      <p:sp>
        <p:nvSpPr>
          <p:cNvPr id="59" name="Text 54"/>
          <p:cNvSpPr/>
          <p:nvPr/>
        </p:nvSpPr>
        <p:spPr>
          <a:xfrm>
            <a:off x="7714015" y="3700463"/>
            <a:ext cx="688157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群体系统</a:t>
            </a:r>
            <a:endParaRPr lang="en-US" sz="1069" dirty="0"/>
          </a:p>
        </p:txBody>
      </p:sp>
      <p:sp>
        <p:nvSpPr>
          <p:cNvPr id="60" name="Text 55"/>
          <p:cNvSpPr/>
          <p:nvPr/>
        </p:nvSpPr>
        <p:spPr>
          <a:xfrm>
            <a:off x="457200" y="4331791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16200000">
              <a:srgbClr val="22D3EE">
                <a:alpha val="5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6"/>
          <p:cNvSpPr/>
          <p:nvPr/>
        </p:nvSpPr>
        <p:spPr>
          <a:xfrm>
            <a:off x="564356" y="4282678"/>
            <a:ext cx="8122444" cy="152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F5F1E8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ch7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评估 —— 三层面的共同前提</a:t>
            </a:r>
            <a:endParaRPr lang="en-US" sz="70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4409" y="2215455"/>
            <a:ext cx="0" cy="257175"/>
          </a:xfrm>
          <a:prstGeom prst="line">
            <a:avLst/>
          </a:prstGeom>
          <a:noFill/>
          <a:ln w="14288">
            <a:solidFill>
              <a:srgbClr val="22D3EE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1362447" y="2465487"/>
            <a:ext cx="6419106" cy="0"/>
          </a:xfrm>
          <a:prstGeom prst="line">
            <a:avLst/>
          </a:prstGeom>
          <a:noFill/>
          <a:ln w="14288">
            <a:solidFill>
              <a:srgbClr val="22D3E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1369591" y="2215455"/>
            <a:ext cx="0" cy="257175"/>
          </a:xfrm>
          <a:prstGeom prst="line">
            <a:avLst/>
          </a:prstGeom>
          <a:noFill/>
          <a:ln w="14288">
            <a:solidFill>
              <a:srgbClr val="22D3EE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471488"/>
            <a:ext cx="185738" cy="14288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411659"/>
            <a:ext cx="20005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spc="225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主线三 · 方法论主线</a:t>
            </a:r>
            <a:endParaRPr lang="en-US" sz="703" dirty="0"/>
          </a:p>
        </p:txBody>
      </p:sp>
      <p:sp>
        <p:nvSpPr>
          <p:cNvPr id="7" name="Text 5"/>
          <p:cNvSpPr/>
          <p:nvPr/>
        </p:nvSpPr>
        <p:spPr>
          <a:xfrm>
            <a:off x="457200" y="631329"/>
            <a:ext cx="8636000" cy="381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79"/>
              </a:lnSpc>
              <a:buNone/>
            </a:pPr>
            <a:r>
              <a:rPr lang="en-US" sz="2138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</a:t>
            </a:r>
            <a:pPr algn="l" indent="0" marL="0">
              <a:lnSpc>
                <a:spcPts val="2779"/>
              </a:lnSpc>
              <a:buNone/>
            </a:pPr>
            <a:r>
              <a:rPr lang="en-US" sz="2138" b="1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</a:t>
            </a:r>
            <a:pPr algn="l" indent="0" marL="0">
              <a:lnSpc>
                <a:spcPts val="2779"/>
              </a:lnSpc>
              <a:buNone/>
            </a:pPr>
            <a:r>
              <a:rPr lang="en-US" sz="2138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开发从炼金术变成</a:t>
            </a:r>
            <a:pPr algn="l" indent="0" marL="0">
              <a:lnSpc>
                <a:spcPts val="2779"/>
              </a:lnSpc>
              <a:buNone/>
            </a:pPr>
            <a:r>
              <a:rPr lang="en-US" sz="2138" b="1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科学工程</a:t>
            </a:r>
            <a:endParaRPr lang="en-US" sz="2138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8463"/>
            <a:ext cx="942975" cy="142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46714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67E8F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406" dirty="0"/>
          </a:p>
        </p:txBody>
      </p:sp>
      <p:sp>
        <p:nvSpPr>
          <p:cNvPr id="10" name="Text 7"/>
          <p:cNvSpPr/>
          <p:nvPr/>
        </p:nvSpPr>
        <p:spPr>
          <a:xfrm>
            <a:off x="664369" y="1436787"/>
            <a:ext cx="857998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科学循环</a:t>
            </a:r>
            <a:endParaRPr lang="en-US" sz="1069" dirty="0"/>
          </a:p>
        </p:txBody>
      </p:sp>
      <p:sp>
        <p:nvSpPr>
          <p:cNvPr id="11" name="Text 8"/>
          <p:cNvSpPr/>
          <p:nvPr/>
        </p:nvSpPr>
        <p:spPr>
          <a:xfrm>
            <a:off x="7930679" y="1482328"/>
            <a:ext cx="104439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71" kern="0" dirty="0">
                <a:solidFill>
                  <a:srgbClr val="F5F1E8">
                    <a:alpha val="2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每轮验证产出新认识</a:t>
            </a:r>
            <a:endParaRPr lang="en-US" sz="7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26109"/>
            <a:ext cx="1843088" cy="43219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0772" y="1729680"/>
            <a:ext cx="1835944" cy="425053"/>
          </a:xfrm>
          <a:prstGeom prst="roundRect">
            <a:avLst>
              <a:gd name="adj" fmla="val 31373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72615" y="1875234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57684" y="1840409"/>
            <a:ext cx="142116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</a:t>
            </a:r>
            <a:endParaRPr lang="en-US" sz="1069" dirty="0"/>
          </a:p>
        </p:txBody>
      </p:sp>
      <p:sp>
        <p:nvSpPr>
          <p:cNvPr id="16" name="Text 12"/>
          <p:cNvSpPr/>
          <p:nvPr/>
        </p:nvSpPr>
        <p:spPr>
          <a:xfrm>
            <a:off x="2371725" y="187077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038" y="1726109"/>
            <a:ext cx="1843088" cy="43219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589609" y="1729680"/>
            <a:ext cx="1835944" cy="425053"/>
          </a:xfrm>
          <a:prstGeom prst="roundRect">
            <a:avLst>
              <a:gd name="adj" fmla="val 31373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2701453" y="1875234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2886521" y="1840409"/>
            <a:ext cx="142116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</a:t>
            </a:r>
            <a:endParaRPr lang="en-US" sz="1069" dirty="0"/>
          </a:p>
        </p:txBody>
      </p:sp>
      <p:sp>
        <p:nvSpPr>
          <p:cNvPr id="21" name="Text 16"/>
          <p:cNvSpPr/>
          <p:nvPr/>
        </p:nvSpPr>
        <p:spPr>
          <a:xfrm>
            <a:off x="4500563" y="187077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1726109"/>
            <a:ext cx="1843088" cy="43219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18447" y="1729680"/>
            <a:ext cx="1835944" cy="425053"/>
          </a:xfrm>
          <a:prstGeom prst="roundRect">
            <a:avLst>
              <a:gd name="adj" fmla="val 31373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4830290" y="1875234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5015359" y="1840409"/>
            <a:ext cx="142116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</a:t>
            </a:r>
            <a:endParaRPr lang="en-US" sz="1069" dirty="0"/>
          </a:p>
        </p:txBody>
      </p:sp>
      <p:sp>
        <p:nvSpPr>
          <p:cNvPr id="26" name="Text 20"/>
          <p:cNvSpPr/>
          <p:nvPr/>
        </p:nvSpPr>
        <p:spPr>
          <a:xfrm>
            <a:off x="6629400" y="187077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3713" y="1726109"/>
            <a:ext cx="1843088" cy="43219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847284" y="1729680"/>
            <a:ext cx="1835944" cy="425053"/>
          </a:xfrm>
          <a:prstGeom prst="roundRect">
            <a:avLst>
              <a:gd name="adj" fmla="val 31373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6959128" y="1875234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7144196" y="1840409"/>
            <a:ext cx="142116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069" dirty="0"/>
          </a:p>
        </p:txBody>
      </p:sp>
      <p:sp>
        <p:nvSpPr>
          <p:cNvPr id="31" name="Text 24"/>
          <p:cNvSpPr/>
          <p:nvPr/>
        </p:nvSpPr>
        <p:spPr>
          <a:xfrm>
            <a:off x="1305297" y="2265462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↑</a:t>
            </a:r>
            <a:endParaRPr lang="en-US" sz="1336" dirty="0"/>
          </a:p>
        </p:txBody>
      </p:sp>
      <p:sp>
        <p:nvSpPr>
          <p:cNvPr id="32" name="Text 25"/>
          <p:cNvSpPr/>
          <p:nvPr/>
        </p:nvSpPr>
        <p:spPr>
          <a:xfrm>
            <a:off x="3789614" y="2402086"/>
            <a:ext cx="1564771" cy="150019"/>
          </a:xfrm>
          <a:prstGeom prst="rect">
            <a:avLst/>
          </a:prstGeom>
          <a:solidFill>
            <a:srgbClr val="0B12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3812474" y="2410123"/>
            <a:ext cx="151905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新认识 → 新假设，回到观察</a:t>
            </a:r>
            <a:endParaRPr lang="en-US" sz="703" dirty="0"/>
          </a:p>
        </p:txBody>
      </p:sp>
      <p:sp>
        <p:nvSpPr>
          <p:cNvPr id="34" name="Text 27"/>
          <p:cNvSpPr/>
          <p:nvPr/>
        </p:nvSpPr>
        <p:spPr>
          <a:xfrm>
            <a:off x="457200" y="268872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67E8F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406" dirty="0"/>
          </a:p>
        </p:txBody>
      </p:sp>
      <p:sp>
        <p:nvSpPr>
          <p:cNvPr id="35" name="Text 28"/>
          <p:cNvSpPr/>
          <p:nvPr/>
        </p:nvSpPr>
        <p:spPr>
          <a:xfrm>
            <a:off x="664369" y="2658368"/>
            <a:ext cx="1042559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三条更新路径</a:t>
            </a:r>
            <a:endParaRPr lang="en-US" sz="1069" dirty="0"/>
          </a:p>
        </p:txBody>
      </p:sp>
      <p:sp>
        <p:nvSpPr>
          <p:cNvPr id="36" name="Text 29"/>
          <p:cNvSpPr/>
          <p:nvPr/>
        </p:nvSpPr>
        <p:spPr>
          <a:xfrm>
            <a:off x="7841435" y="2703909"/>
            <a:ext cx="108013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71" kern="0" dirty="0">
                <a:solidFill>
                  <a:srgbClr val="F5F1E8">
                    <a:alpha val="2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按可回滚程度从高到低</a:t>
            </a:r>
            <a:endParaRPr lang="en-US" sz="7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947690"/>
            <a:ext cx="2657475" cy="1110853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460772" y="2951262"/>
            <a:ext cx="2650331" cy="1103709"/>
          </a:xfrm>
          <a:prstGeom prst="roundRect">
            <a:avLst>
              <a:gd name="adj" fmla="val 12082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1"/>
          <p:cNvSpPr/>
          <p:nvPr/>
        </p:nvSpPr>
        <p:spPr>
          <a:xfrm>
            <a:off x="607219" y="3083421"/>
            <a:ext cx="1719411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dirty="0">
                <a:solidFill>
                  <a:srgbClr val="FFFFFF">
                    <a:alpha val="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575" dirty="0"/>
          </a:p>
        </p:txBody>
      </p:sp>
      <p:sp>
        <p:nvSpPr>
          <p:cNvPr id="40" name="Text 32"/>
          <p:cNvSpPr/>
          <p:nvPr/>
        </p:nvSpPr>
        <p:spPr>
          <a:xfrm>
            <a:off x="2318058" y="3088422"/>
            <a:ext cx="669459" cy="190024"/>
          </a:xfrm>
          <a:prstGeom prst="roundRect">
            <a:avLst>
              <a:gd name="adj" fmla="val 5007512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3"/>
          <p:cNvSpPr/>
          <p:nvPr/>
        </p:nvSpPr>
        <p:spPr>
          <a:xfrm>
            <a:off x="2321999" y="3098602"/>
            <a:ext cx="661576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任务内 · 周级</a:t>
            </a:r>
            <a:endParaRPr lang="en-US" sz="700" dirty="0"/>
          </a:p>
        </p:txBody>
      </p:sp>
      <p:sp>
        <p:nvSpPr>
          <p:cNvPr id="42" name="Text 34"/>
          <p:cNvSpPr/>
          <p:nvPr/>
        </p:nvSpPr>
        <p:spPr>
          <a:xfrm>
            <a:off x="607219" y="3347740"/>
            <a:ext cx="235743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上下文内适应</a:t>
            </a:r>
            <a:endParaRPr lang="en-US" sz="956" dirty="0"/>
          </a:p>
        </p:txBody>
      </p:sp>
      <p:sp>
        <p:nvSpPr>
          <p:cNvPr id="43" name="Text 35"/>
          <p:cNvSpPr/>
          <p:nvPr/>
        </p:nvSpPr>
        <p:spPr>
          <a:xfrm>
            <a:off x="607219" y="3594199"/>
            <a:ext cx="2357438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改提示与上下文，即时生效即时撤销。</a:t>
            </a:r>
            <a:endParaRPr lang="en-US" sz="703" dirty="0"/>
          </a:p>
        </p:txBody>
      </p:sp>
      <p:sp>
        <p:nvSpPr>
          <p:cNvPr id="44" name="Text 36"/>
          <p:cNvSpPr/>
          <p:nvPr/>
        </p:nvSpPr>
        <p:spPr>
          <a:xfrm>
            <a:off x="607219" y="3810298"/>
            <a:ext cx="41058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83" kern="0" dirty="0">
                <a:solidFill>
                  <a:srgbClr val="F5F1E8">
                    <a:alpha val="2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可回滚</a:t>
            </a:r>
            <a:endParaRPr lang="en-US" sz="700" dirty="0"/>
          </a:p>
        </p:txBody>
      </p:sp>
      <p:sp>
        <p:nvSpPr>
          <p:cNvPr id="45" name="Text 37"/>
          <p:cNvSpPr/>
          <p:nvPr/>
        </p:nvSpPr>
        <p:spPr>
          <a:xfrm>
            <a:off x="924558" y="3837980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22D3EE"/>
          </a:solidFill>
          <a:ln w="7144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50800" dir="16200000">
              <a:srgbClr val="22D3EE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38"/>
          <p:cNvSpPr/>
          <p:nvPr/>
        </p:nvSpPr>
        <p:spPr>
          <a:xfrm>
            <a:off x="1046001" y="3837980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22D3EE"/>
          </a:solidFill>
          <a:ln w="7144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50800" dir="16200000">
              <a:srgbClr val="22D3EE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39"/>
          <p:cNvSpPr/>
          <p:nvPr/>
        </p:nvSpPr>
        <p:spPr>
          <a:xfrm>
            <a:off x="1167445" y="3837980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22D3EE"/>
          </a:solidFill>
          <a:ln w="7144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50800" dir="16200000">
              <a:srgbClr val="22D3EE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3263" y="2947690"/>
            <a:ext cx="2657475" cy="1110853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3246834" y="2951262"/>
            <a:ext cx="2650331" cy="1103709"/>
          </a:xfrm>
          <a:prstGeom prst="roundRect">
            <a:avLst>
              <a:gd name="adj" fmla="val 12082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1"/>
          <p:cNvSpPr/>
          <p:nvPr/>
        </p:nvSpPr>
        <p:spPr>
          <a:xfrm>
            <a:off x="3393281" y="3083421"/>
            <a:ext cx="1719411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dirty="0">
                <a:solidFill>
                  <a:srgbClr val="FFFFFF">
                    <a:alpha val="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575" dirty="0"/>
          </a:p>
        </p:txBody>
      </p:sp>
      <p:sp>
        <p:nvSpPr>
          <p:cNvPr id="51" name="Text 42"/>
          <p:cNvSpPr/>
          <p:nvPr/>
        </p:nvSpPr>
        <p:spPr>
          <a:xfrm>
            <a:off x="5104120" y="3088422"/>
            <a:ext cx="669459" cy="190024"/>
          </a:xfrm>
          <a:prstGeom prst="roundRect">
            <a:avLst>
              <a:gd name="adj" fmla="val 5007512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3"/>
          <p:cNvSpPr/>
          <p:nvPr/>
        </p:nvSpPr>
        <p:spPr>
          <a:xfrm>
            <a:off x="5108061" y="3098602"/>
            <a:ext cx="661576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跨任务 · 月级</a:t>
            </a:r>
            <a:endParaRPr lang="en-US" sz="700" dirty="0"/>
          </a:p>
        </p:txBody>
      </p:sp>
      <p:sp>
        <p:nvSpPr>
          <p:cNvPr id="53" name="Text 44"/>
          <p:cNvSpPr/>
          <p:nvPr/>
        </p:nvSpPr>
        <p:spPr>
          <a:xfrm>
            <a:off x="3393281" y="3347740"/>
            <a:ext cx="235743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外部产物更新</a:t>
            </a:r>
            <a:endParaRPr lang="en-US" sz="956" dirty="0"/>
          </a:p>
        </p:txBody>
      </p:sp>
      <p:sp>
        <p:nvSpPr>
          <p:cNvPr id="54" name="Text 45"/>
          <p:cNvSpPr/>
          <p:nvPr/>
        </p:nvSpPr>
        <p:spPr>
          <a:xfrm>
            <a:off x="3393281" y="3594199"/>
            <a:ext cx="2357438" cy="163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 / 知识 / 技能沉淀，最小 </a:t>
            </a:r>
            <a:pPr algn="l" indent="0" marL="0">
              <a:lnSpc>
                <a:spcPts val="1360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</a:t>
            </a:r>
            <a:pPr algn="l" indent="0" marL="0">
              <a:lnSpc>
                <a:spcPts val="136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提案审核。</a:t>
            </a:r>
            <a:endParaRPr lang="en-US" sz="703" dirty="0"/>
          </a:p>
        </p:txBody>
      </p:sp>
      <p:sp>
        <p:nvSpPr>
          <p:cNvPr id="55" name="Text 46"/>
          <p:cNvSpPr/>
          <p:nvPr/>
        </p:nvSpPr>
        <p:spPr>
          <a:xfrm>
            <a:off x="3393281" y="3810298"/>
            <a:ext cx="41058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83" kern="0" dirty="0">
                <a:solidFill>
                  <a:srgbClr val="F5F1E8">
                    <a:alpha val="2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可回滚</a:t>
            </a:r>
            <a:endParaRPr lang="en-US" sz="700" dirty="0"/>
          </a:p>
        </p:txBody>
      </p:sp>
      <p:sp>
        <p:nvSpPr>
          <p:cNvPr id="56" name="Text 47"/>
          <p:cNvSpPr/>
          <p:nvPr/>
        </p:nvSpPr>
        <p:spPr>
          <a:xfrm>
            <a:off x="3710620" y="3837980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22D3EE"/>
          </a:solidFill>
          <a:ln w="7144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50800" dir="16200000">
              <a:srgbClr val="22D3EE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48"/>
          <p:cNvSpPr/>
          <p:nvPr/>
        </p:nvSpPr>
        <p:spPr>
          <a:xfrm>
            <a:off x="3832064" y="3837980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22D3EE"/>
          </a:solidFill>
          <a:ln w="7144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50800" dir="16200000">
              <a:srgbClr val="22D3EE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49"/>
          <p:cNvSpPr/>
          <p:nvPr/>
        </p:nvSpPr>
        <p:spPr>
          <a:xfrm>
            <a:off x="3953508" y="3837980"/>
            <a:ext cx="57150" cy="57150"/>
          </a:xfrm>
          <a:prstGeom prst="roundRect">
            <a:avLst>
              <a:gd name="adj" fmla="val 16650000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9325" y="2947690"/>
            <a:ext cx="2657475" cy="1110853"/>
          </a:xfrm>
          <a:prstGeom prst="rect">
            <a:avLst/>
          </a:prstGeom>
        </p:spPr>
      </p:pic>
      <p:sp>
        <p:nvSpPr>
          <p:cNvPr id="60" name="Text 50"/>
          <p:cNvSpPr/>
          <p:nvPr/>
        </p:nvSpPr>
        <p:spPr>
          <a:xfrm>
            <a:off x="6032897" y="2951262"/>
            <a:ext cx="2650331" cy="1103709"/>
          </a:xfrm>
          <a:prstGeom prst="roundRect">
            <a:avLst>
              <a:gd name="adj" fmla="val 12082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1"/>
          <p:cNvSpPr/>
          <p:nvPr/>
        </p:nvSpPr>
        <p:spPr>
          <a:xfrm>
            <a:off x="6179344" y="3083421"/>
            <a:ext cx="1569393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dirty="0">
                <a:solidFill>
                  <a:srgbClr val="FFFFFF">
                    <a:alpha val="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575" dirty="0"/>
          </a:p>
        </p:txBody>
      </p:sp>
      <p:sp>
        <p:nvSpPr>
          <p:cNvPr id="62" name="Text 52"/>
          <p:cNvSpPr/>
          <p:nvPr/>
        </p:nvSpPr>
        <p:spPr>
          <a:xfrm>
            <a:off x="7740164" y="3088422"/>
            <a:ext cx="819477" cy="190024"/>
          </a:xfrm>
          <a:prstGeom prst="roundRect">
            <a:avLst>
              <a:gd name="adj" fmla="val 5007512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3"/>
          <p:cNvSpPr/>
          <p:nvPr/>
        </p:nvSpPr>
        <p:spPr>
          <a:xfrm>
            <a:off x="7714213" y="3098602"/>
            <a:ext cx="87138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训练周期 · 季度级</a:t>
            </a:r>
            <a:endParaRPr lang="en-US" sz="700" dirty="0"/>
          </a:p>
        </p:txBody>
      </p:sp>
      <p:sp>
        <p:nvSpPr>
          <p:cNvPr id="64" name="Text 54"/>
          <p:cNvSpPr/>
          <p:nvPr/>
        </p:nvSpPr>
        <p:spPr>
          <a:xfrm>
            <a:off x="6179344" y="3347740"/>
            <a:ext cx="235743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参数更新</a:t>
            </a:r>
            <a:endParaRPr lang="en-US" sz="956" dirty="0"/>
          </a:p>
        </p:txBody>
      </p:sp>
      <p:sp>
        <p:nvSpPr>
          <p:cNvPr id="65" name="Text 55"/>
          <p:cNvSpPr/>
          <p:nvPr/>
        </p:nvSpPr>
        <p:spPr>
          <a:xfrm>
            <a:off x="6179344" y="3594199"/>
            <a:ext cx="2357438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SFT</a:t>
            </a:r>
            <a:pPr algn="l" indent="0" marL="0">
              <a:lnSpc>
                <a:spcPts val="136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记忆、</a:t>
            </a:r>
            <a:pPr algn="l" indent="0" marL="0">
              <a:lnSpc>
                <a:spcPts val="136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RL</a:t>
            </a:r>
            <a:pPr algn="l" indent="0" marL="0">
              <a:lnSpc>
                <a:spcPts val="136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泛化，需 </a:t>
            </a:r>
            <a:pPr algn="l" indent="0" marL="0">
              <a:lnSpc>
                <a:spcPts val="136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GPU</a:t>
            </a:r>
            <a:pPr algn="l" indent="0" marL="0">
              <a:lnSpc>
                <a:spcPts val="136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pPr algn="l" indent="0" marL="0">
              <a:lnSpc>
                <a:spcPts val="1360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ch8</a:t>
            </a:r>
            <a:pPr algn="l" indent="0" marL="0">
              <a:lnSpc>
                <a:spcPts val="136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）。</a:t>
            </a:r>
            <a:endParaRPr lang="en-US" sz="703" dirty="0"/>
          </a:p>
        </p:txBody>
      </p:sp>
      <p:sp>
        <p:nvSpPr>
          <p:cNvPr id="66" name="Text 56"/>
          <p:cNvSpPr/>
          <p:nvPr/>
        </p:nvSpPr>
        <p:spPr>
          <a:xfrm>
            <a:off x="6179344" y="3810298"/>
            <a:ext cx="41058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83" kern="0" dirty="0">
                <a:solidFill>
                  <a:srgbClr val="F5F1E8">
                    <a:alpha val="2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可回滚</a:t>
            </a:r>
            <a:endParaRPr lang="en-US" sz="700" dirty="0"/>
          </a:p>
        </p:txBody>
      </p:sp>
      <p:sp>
        <p:nvSpPr>
          <p:cNvPr id="67" name="Text 57"/>
          <p:cNvSpPr/>
          <p:nvPr/>
        </p:nvSpPr>
        <p:spPr>
          <a:xfrm>
            <a:off x="6496683" y="3837980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22D3EE"/>
          </a:solidFill>
          <a:ln w="7144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50800" dir="16200000">
              <a:srgbClr val="22D3EE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58"/>
          <p:cNvSpPr/>
          <p:nvPr/>
        </p:nvSpPr>
        <p:spPr>
          <a:xfrm>
            <a:off x="6618126" y="3837980"/>
            <a:ext cx="57150" cy="57150"/>
          </a:xfrm>
          <a:prstGeom prst="roundRect">
            <a:avLst>
              <a:gd name="adj" fmla="val 16650000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59"/>
          <p:cNvSpPr/>
          <p:nvPr/>
        </p:nvSpPr>
        <p:spPr>
          <a:xfrm>
            <a:off x="6739570" y="3837980"/>
            <a:ext cx="57150" cy="57150"/>
          </a:xfrm>
          <a:prstGeom prst="roundRect">
            <a:avLst>
              <a:gd name="adj" fmla="val 16650000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0"/>
          <p:cNvSpPr/>
          <p:nvPr/>
        </p:nvSpPr>
        <p:spPr>
          <a:xfrm>
            <a:off x="457200" y="4244280"/>
            <a:ext cx="8229600" cy="7144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1"/>
          <p:cNvSpPr/>
          <p:nvPr/>
        </p:nvSpPr>
        <p:spPr>
          <a:xfrm>
            <a:off x="457200" y="437108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7E8F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72" name="Text 62"/>
          <p:cNvSpPr/>
          <p:nvPr/>
        </p:nvSpPr>
        <p:spPr>
          <a:xfrm>
            <a:off x="664369" y="4351437"/>
            <a:ext cx="8022431" cy="181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67E8F9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109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个实验与 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5F1E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EXPERIMENT_LEDGER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台账文化——</a:t>
            </a:r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67E8F9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『没有评估，就没有进步』</a:t>
            </a:r>
            <a:endParaRPr lang="en-US" sz="84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1488"/>
            <a:ext cx="185738" cy="14288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11659"/>
            <a:ext cx="217377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spc="225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主线四 · 设计模式主线</a:t>
            </a:r>
            <a:endParaRPr lang="en-US" sz="703" dirty="0"/>
          </a:p>
        </p:txBody>
      </p:sp>
      <p:sp>
        <p:nvSpPr>
          <p:cNvPr id="4" name="Text 2"/>
          <p:cNvSpPr/>
          <p:nvPr/>
        </p:nvSpPr>
        <p:spPr>
          <a:xfrm>
            <a:off x="457200" y="631329"/>
            <a:ext cx="8636000" cy="381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79"/>
              </a:lnSpc>
              <a:buNone/>
            </a:pPr>
            <a:r>
              <a:rPr lang="en-US" sz="2138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五个模式，</a:t>
            </a:r>
            <a:pPr algn="l" indent="0" marL="0">
              <a:lnSpc>
                <a:spcPts val="2779"/>
              </a:lnSpc>
              <a:buNone/>
            </a:pPr>
            <a:r>
              <a:rPr lang="en-US" sz="2138" b="1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全书复用层</a:t>
            </a:r>
            <a:endParaRPr lang="en-US" sz="2138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8463"/>
            <a:ext cx="942975" cy="1428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9913"/>
            <a:ext cx="4050506" cy="15876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0772" y="1273485"/>
            <a:ext cx="4043363" cy="1580555"/>
          </a:xfrm>
          <a:prstGeom prst="roundRect">
            <a:avLst>
              <a:gd name="adj" fmla="val 8437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21506" y="1405644"/>
            <a:ext cx="3564731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dirty="0">
                <a:solidFill>
                  <a:srgbClr val="FFFFFF">
                    <a:alpha val="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463" dirty="0"/>
          </a:p>
        </p:txBody>
      </p:sp>
      <p:sp>
        <p:nvSpPr>
          <p:cNvPr id="9" name="Text 5"/>
          <p:cNvSpPr/>
          <p:nvPr/>
        </p:nvSpPr>
        <p:spPr>
          <a:xfrm>
            <a:off x="4200525" y="142707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0" name="Text 6"/>
          <p:cNvSpPr/>
          <p:nvPr/>
        </p:nvSpPr>
        <p:spPr>
          <a:xfrm>
            <a:off x="621506" y="1648532"/>
            <a:ext cx="3721894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提议者—审核者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621506" y="1898563"/>
            <a:ext cx="3721894" cy="163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产出与评判由不共享上下文的两个角色分别承担——</a:t>
            </a:r>
            <a:pPr algn="l" indent="0" marL="0">
              <a:lnSpc>
                <a:spcPts val="1195"/>
              </a:lnSpc>
              <a:buNone/>
            </a:pPr>
            <a:r>
              <a:rPr lang="en-US" sz="703" b="1" dirty="0">
                <a:solidFill>
                  <a:srgbClr val="67E8F9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自审不可靠</a:t>
            </a:r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703" dirty="0"/>
          </a:p>
        </p:txBody>
      </p:sp>
      <p:sp>
        <p:nvSpPr>
          <p:cNvPr id="12" name="Text 8"/>
          <p:cNvSpPr/>
          <p:nvPr/>
        </p:nvSpPr>
        <p:spPr>
          <a:xfrm>
            <a:off x="621506" y="2586930"/>
            <a:ext cx="3721894" cy="1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700" dirty="0">
                <a:solidFill>
                  <a:srgbClr val="F5F1E8">
                    <a:alpha val="2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首次大放异彩 ·</a:t>
            </a:r>
            <a:pPr algn="l" indent="0" marL="0">
              <a:lnSpc>
                <a:spcPts val="1215"/>
              </a:lnSpc>
              <a:buNone/>
            </a:pPr>
            <a:r>
              <a:rPr lang="en-US" sz="700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67E8F9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ch4</a:t>
            </a:r>
            <a:pPr algn="l" indent="0" marL="0">
              <a:lnSpc>
                <a:spcPts val="1215"/>
              </a:lnSpc>
              <a:buNone/>
            </a:pPr>
            <a:r>
              <a:rPr lang="en-US" sz="700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工具审批/验证、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67E8F9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ch5</a:t>
            </a:r>
            <a:pPr algn="l" indent="0" marL="0">
              <a:lnSpc>
                <a:spcPts val="1215"/>
              </a:lnSpc>
              <a:buNone/>
            </a:pPr>
            <a:r>
              <a:rPr lang="en-US" sz="700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产物审查、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67E8F9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ch9</a:t>
            </a:r>
            <a:pPr algn="l" indent="0" marL="0">
              <a:lnSpc>
                <a:spcPts val="1215"/>
              </a:lnSpc>
              <a:buNone/>
            </a:pPr>
            <a:r>
              <a:rPr lang="en-US" sz="700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更新提案</a:t>
            </a:r>
            <a:endParaRPr lang="en-US" sz="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294" y="1269913"/>
            <a:ext cx="4050506" cy="158769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39866" y="1273485"/>
            <a:ext cx="4043363" cy="1580555"/>
          </a:xfrm>
          <a:prstGeom prst="roundRect">
            <a:avLst>
              <a:gd name="adj" fmla="val 8437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4800600" y="1405644"/>
            <a:ext cx="3564731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dirty="0">
                <a:solidFill>
                  <a:srgbClr val="FFFFFF">
                    <a:alpha val="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463" dirty="0"/>
          </a:p>
        </p:txBody>
      </p:sp>
      <p:sp>
        <p:nvSpPr>
          <p:cNvPr id="16" name="Text 11"/>
          <p:cNvSpPr/>
          <p:nvPr/>
        </p:nvSpPr>
        <p:spPr>
          <a:xfrm>
            <a:off x="8379619" y="142707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7" name="Text 12"/>
          <p:cNvSpPr/>
          <p:nvPr/>
        </p:nvSpPr>
        <p:spPr>
          <a:xfrm>
            <a:off x="4800600" y="1648532"/>
            <a:ext cx="3721894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渐进式披露</a:t>
            </a:r>
            <a:endParaRPr lang="en-US" sz="1013" dirty="0"/>
          </a:p>
        </p:txBody>
      </p:sp>
      <p:sp>
        <p:nvSpPr>
          <p:cNvPr id="18" name="Text 13"/>
          <p:cNvSpPr/>
          <p:nvPr/>
        </p:nvSpPr>
        <p:spPr>
          <a:xfrm>
            <a:off x="4800600" y="1898563"/>
            <a:ext cx="3721894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先给可检索的目录，再按需加载细节。</a:t>
            </a:r>
            <a:endParaRPr lang="en-US" sz="703" dirty="0"/>
          </a:p>
        </p:txBody>
      </p:sp>
      <p:sp>
        <p:nvSpPr>
          <p:cNvPr id="19" name="Text 14"/>
          <p:cNvSpPr/>
          <p:nvPr/>
        </p:nvSpPr>
        <p:spPr>
          <a:xfrm>
            <a:off x="4800600" y="2586930"/>
            <a:ext cx="3721894" cy="1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700" dirty="0">
                <a:solidFill>
                  <a:srgbClr val="F5F1E8">
                    <a:alpha val="2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首次大放异彩 ·</a:t>
            </a:r>
            <a:pPr algn="l" indent="0" marL="0">
              <a:lnSpc>
                <a:spcPts val="1215"/>
              </a:lnSpc>
              <a:buNone/>
            </a:pPr>
            <a:r>
              <a:rPr lang="en-US" sz="700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67E8F9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ch2</a:t>
            </a:r>
            <a:pPr algn="l" indent="0" marL="0">
              <a:lnSpc>
                <a:spcPts val="1215"/>
              </a:lnSpc>
              <a:buNone/>
            </a:pPr>
            <a:r>
              <a:rPr lang="en-US" sz="700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Agent Skills、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67E8F9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ch4</a:t>
            </a:r>
            <a:pPr algn="l" indent="0" marL="0">
              <a:lnSpc>
                <a:spcPts val="1215"/>
              </a:lnSpc>
              <a:buNone/>
            </a:pPr>
            <a:r>
              <a:rPr lang="en-US" sz="700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工具发现、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67E8F9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ch10</a:t>
            </a:r>
            <a:pPr algn="l" indent="0" marL="0">
              <a:lnSpc>
                <a:spcPts val="1215"/>
              </a:lnSpc>
              <a:buNone/>
            </a:pPr>
            <a:r>
              <a:rPr lang="en-US" sz="700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15"/>
              </a:lnSpc>
              <a:buNone/>
            </a:pPr>
            <a:r>
              <a:rPr lang="en-US" sz="700" dirty="0">
                <a:solidFill>
                  <a:srgbClr val="F5F1E8">
                    <a:alpha val="4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</a:t>
            </a:r>
            <a:pPr algn="l" indent="0" marL="0">
              <a:lnSpc>
                <a:spcPts val="1215"/>
              </a:lnSpc>
              <a:buNone/>
            </a:pPr>
            <a:r>
              <a:rPr lang="en-US" sz="700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发现</a:t>
            </a:r>
            <a:endParaRPr lang="en-US" sz="7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86199"/>
            <a:ext cx="2657475" cy="158769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60772" y="2989771"/>
            <a:ext cx="2650331" cy="1580555"/>
          </a:xfrm>
          <a:prstGeom prst="roundRect">
            <a:avLst>
              <a:gd name="adj" fmla="val 8437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607219" y="3121930"/>
            <a:ext cx="2200275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dirty="0">
                <a:solidFill>
                  <a:srgbClr val="FFFFFF">
                    <a:alpha val="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463" dirty="0"/>
          </a:p>
        </p:txBody>
      </p:sp>
      <p:sp>
        <p:nvSpPr>
          <p:cNvPr id="23" name="Text 17"/>
          <p:cNvSpPr/>
          <p:nvPr/>
        </p:nvSpPr>
        <p:spPr>
          <a:xfrm>
            <a:off x="2821781" y="314336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＋</a:t>
            </a:r>
            <a:endParaRPr lang="en-US" sz="1406" dirty="0"/>
          </a:p>
        </p:txBody>
      </p:sp>
      <p:sp>
        <p:nvSpPr>
          <p:cNvPr id="24" name="Text 18"/>
          <p:cNvSpPr/>
          <p:nvPr/>
        </p:nvSpPr>
        <p:spPr>
          <a:xfrm>
            <a:off x="607219" y="3364818"/>
            <a:ext cx="235743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只增不改</a:t>
            </a:r>
            <a:endParaRPr lang="en-US" sz="1013" dirty="0"/>
          </a:p>
        </p:txBody>
      </p:sp>
      <p:sp>
        <p:nvSpPr>
          <p:cNvPr id="25" name="Text 19"/>
          <p:cNvSpPr/>
          <p:nvPr/>
        </p:nvSpPr>
        <p:spPr>
          <a:xfrm>
            <a:off x="607219" y="3614849"/>
            <a:ext cx="2357438" cy="327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状态以追加方式演进，写下不再回头改——可缓存、可重放、可审计。</a:t>
            </a:r>
            <a:endParaRPr lang="en-US" sz="703" dirty="0"/>
          </a:p>
        </p:txBody>
      </p:sp>
      <p:sp>
        <p:nvSpPr>
          <p:cNvPr id="26" name="Text 20"/>
          <p:cNvSpPr/>
          <p:nvPr/>
        </p:nvSpPr>
        <p:spPr>
          <a:xfrm>
            <a:off x="607219" y="4303216"/>
            <a:ext cx="2357438" cy="1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600" dirty="0">
                <a:solidFill>
                  <a:srgbClr val="F5F1E8">
                    <a:alpha val="2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首次大放异彩 ·</a:t>
            </a:r>
            <a:pPr algn="l" indent="0" marL="0">
              <a:lnSpc>
                <a:spcPts val="1215"/>
              </a:lnSpc>
              <a:buNone/>
            </a:pPr>
            <a:r>
              <a:rPr lang="en-US" sz="600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15"/>
              </a:lnSpc>
              <a:buNone/>
            </a:pPr>
            <a:r>
              <a:rPr lang="en-US" sz="686" dirty="0">
                <a:solidFill>
                  <a:srgbClr val="67E8F9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ch2</a:t>
            </a:r>
            <a:pPr algn="l" indent="0" marL="0">
              <a:lnSpc>
                <a:spcPts val="1215"/>
              </a:lnSpc>
              <a:buNone/>
            </a:pPr>
            <a:r>
              <a:rPr lang="en-US" sz="600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15"/>
              </a:lnSpc>
              <a:buNone/>
            </a:pPr>
            <a:r>
              <a:rPr lang="en-US" sz="600" dirty="0">
                <a:solidFill>
                  <a:srgbClr val="F5F1E8">
                    <a:alpha val="4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KV</a:t>
            </a:r>
            <a:pPr algn="l" indent="0" marL="0">
              <a:lnSpc>
                <a:spcPts val="1215"/>
              </a:lnSpc>
              <a:buNone/>
            </a:pPr>
            <a:r>
              <a:rPr lang="en-US" sz="600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15"/>
              </a:lnSpc>
              <a:buNone/>
            </a:pPr>
            <a:r>
              <a:rPr lang="en-US" sz="600" dirty="0">
                <a:solidFill>
                  <a:srgbClr val="F5F1E8">
                    <a:alpha val="4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Cache</a:t>
            </a:r>
            <a:pPr algn="l" indent="0" marL="0">
              <a:lnSpc>
                <a:spcPts val="1215"/>
              </a:lnSpc>
              <a:buNone/>
            </a:pPr>
            <a:r>
              <a:rPr lang="en-US" sz="600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前缀稳定、</a:t>
            </a:r>
            <a:pPr algn="l" indent="0" marL="0">
              <a:lnSpc>
                <a:spcPts val="1215"/>
              </a:lnSpc>
              <a:buNone/>
            </a:pPr>
            <a:r>
              <a:rPr lang="en-US" sz="686" dirty="0">
                <a:solidFill>
                  <a:srgbClr val="67E8F9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ch3</a:t>
            </a:r>
            <a:pPr algn="l" indent="0" marL="0">
              <a:lnSpc>
                <a:spcPts val="1215"/>
              </a:lnSpc>
              <a:buNone/>
            </a:pPr>
            <a:r>
              <a:rPr lang="en-US" sz="600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事件式记忆</a:t>
            </a:r>
            <a:endParaRPr lang="en-US" sz="6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3263" y="2986199"/>
            <a:ext cx="2657475" cy="158769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246834" y="2989771"/>
            <a:ext cx="2650331" cy="1580555"/>
          </a:xfrm>
          <a:prstGeom prst="roundRect">
            <a:avLst>
              <a:gd name="adj" fmla="val 8437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3393281" y="3121930"/>
            <a:ext cx="2200275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dirty="0">
                <a:solidFill>
                  <a:srgbClr val="FFFFFF">
                    <a:alpha val="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463" dirty="0"/>
          </a:p>
        </p:txBody>
      </p:sp>
      <p:sp>
        <p:nvSpPr>
          <p:cNvPr id="30" name="Text 23"/>
          <p:cNvSpPr/>
          <p:nvPr/>
        </p:nvSpPr>
        <p:spPr>
          <a:xfrm>
            <a:off x="5607844" y="314336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406" dirty="0"/>
          </a:p>
        </p:txBody>
      </p:sp>
      <p:sp>
        <p:nvSpPr>
          <p:cNvPr id="31" name="Text 24"/>
          <p:cNvSpPr/>
          <p:nvPr/>
        </p:nvSpPr>
        <p:spPr>
          <a:xfrm>
            <a:off x="3393281" y="3364818"/>
            <a:ext cx="235743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边界集 + 保留集</a:t>
            </a:r>
            <a:endParaRPr lang="en-US" sz="1013" dirty="0"/>
          </a:p>
        </p:txBody>
      </p:sp>
      <p:sp>
        <p:nvSpPr>
          <p:cNvPr id="32" name="Text 25"/>
          <p:cNvSpPr/>
          <p:nvPr/>
        </p:nvSpPr>
        <p:spPr>
          <a:xfrm>
            <a:off x="3393281" y="3614849"/>
            <a:ext cx="2357438" cy="327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每次修改同时在『应改变的样本』与『不应影响的样本』上验证。</a:t>
            </a:r>
            <a:endParaRPr lang="en-US" sz="703" dirty="0"/>
          </a:p>
        </p:txBody>
      </p:sp>
      <p:sp>
        <p:nvSpPr>
          <p:cNvPr id="33" name="Text 26"/>
          <p:cNvSpPr/>
          <p:nvPr/>
        </p:nvSpPr>
        <p:spPr>
          <a:xfrm>
            <a:off x="3393281" y="4303216"/>
            <a:ext cx="2357438" cy="1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700" dirty="0">
                <a:solidFill>
                  <a:srgbClr val="F5F1E8">
                    <a:alpha val="2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首次大放异彩 ·</a:t>
            </a:r>
            <a:pPr algn="l" indent="0" marL="0">
              <a:lnSpc>
                <a:spcPts val="1215"/>
              </a:lnSpc>
              <a:buNone/>
            </a:pPr>
            <a:r>
              <a:rPr lang="en-US" sz="700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67E8F9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ch7</a:t>
            </a:r>
            <a:pPr algn="l" indent="0" marL="0">
              <a:lnSpc>
                <a:spcPts val="1215"/>
              </a:lnSpc>
              <a:buNone/>
            </a:pPr>
            <a:r>
              <a:rPr lang="en-US" sz="700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回归、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67E8F9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ch8</a:t>
            </a:r>
            <a:pPr algn="l" indent="0" marL="0">
              <a:lnSpc>
                <a:spcPts val="1215"/>
              </a:lnSpc>
              <a:buNone/>
            </a:pPr>
            <a:r>
              <a:rPr lang="en-US" sz="700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训练/评估隔离</a:t>
            </a:r>
            <a:endParaRPr lang="en-US" sz="7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9325" y="2986199"/>
            <a:ext cx="2657475" cy="158769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032897" y="2989771"/>
            <a:ext cx="2650331" cy="1580555"/>
          </a:xfrm>
          <a:prstGeom prst="roundRect">
            <a:avLst>
              <a:gd name="adj" fmla="val 8437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8"/>
          <p:cNvSpPr/>
          <p:nvPr/>
        </p:nvSpPr>
        <p:spPr>
          <a:xfrm>
            <a:off x="6179344" y="3121930"/>
            <a:ext cx="2200275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dirty="0">
                <a:solidFill>
                  <a:srgbClr val="FFFFFF">
                    <a:alpha val="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463" dirty="0"/>
          </a:p>
        </p:txBody>
      </p:sp>
      <p:sp>
        <p:nvSpPr>
          <p:cNvPr id="37" name="Text 29"/>
          <p:cNvSpPr/>
          <p:nvPr/>
        </p:nvSpPr>
        <p:spPr>
          <a:xfrm>
            <a:off x="8393906" y="314336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↶</a:t>
            </a:r>
            <a:endParaRPr lang="en-US" sz="1406" dirty="0"/>
          </a:p>
        </p:txBody>
      </p:sp>
      <p:sp>
        <p:nvSpPr>
          <p:cNvPr id="38" name="Text 30"/>
          <p:cNvSpPr/>
          <p:nvPr/>
        </p:nvSpPr>
        <p:spPr>
          <a:xfrm>
            <a:off x="6179344" y="3364818"/>
            <a:ext cx="2357438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 </a:t>
            </a:r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</a:t>
            </a:r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可回滚</a:t>
            </a:r>
            <a:endParaRPr lang="en-US" sz="1013" dirty="0"/>
          </a:p>
        </p:txBody>
      </p:sp>
      <p:sp>
        <p:nvSpPr>
          <p:cNvPr id="39" name="Text 31"/>
          <p:cNvSpPr/>
          <p:nvPr/>
        </p:nvSpPr>
        <p:spPr>
          <a:xfrm>
            <a:off x="6179344" y="3621993"/>
            <a:ext cx="2357438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修改尽量小、带来源、可单独回滚。</a:t>
            </a:r>
            <a:endParaRPr lang="en-US" sz="703" dirty="0"/>
          </a:p>
        </p:txBody>
      </p:sp>
      <p:sp>
        <p:nvSpPr>
          <p:cNvPr id="40" name="Text 32"/>
          <p:cNvSpPr/>
          <p:nvPr/>
        </p:nvSpPr>
        <p:spPr>
          <a:xfrm>
            <a:off x="6179344" y="4303216"/>
            <a:ext cx="2357438" cy="1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600" dirty="0">
                <a:solidFill>
                  <a:srgbClr val="F5F1E8">
                    <a:alpha val="2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首次大放异彩 ·</a:t>
            </a:r>
            <a:pPr algn="l" indent="0" marL="0">
              <a:lnSpc>
                <a:spcPts val="1215"/>
              </a:lnSpc>
              <a:buNone/>
            </a:pPr>
            <a:r>
              <a:rPr lang="en-US" sz="600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15"/>
              </a:lnSpc>
              <a:buNone/>
            </a:pPr>
            <a:r>
              <a:rPr lang="en-US" sz="686" dirty="0">
                <a:solidFill>
                  <a:srgbClr val="67E8F9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ch3</a:t>
            </a:r>
            <a:pPr algn="l" indent="0" marL="0">
              <a:lnSpc>
                <a:spcPts val="1215"/>
              </a:lnSpc>
              <a:buNone/>
            </a:pPr>
            <a:r>
              <a:rPr lang="en-US" sz="600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知识更新、</a:t>
            </a:r>
            <a:pPr algn="l" indent="0" marL="0">
              <a:lnSpc>
                <a:spcPts val="1215"/>
              </a:lnSpc>
              <a:buNone/>
            </a:pPr>
            <a:r>
              <a:rPr lang="en-US" sz="686" dirty="0">
                <a:solidFill>
                  <a:srgbClr val="67E8F9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ch5</a:t>
            </a:r>
            <a:pPr algn="l" indent="0" marL="0">
              <a:lnSpc>
                <a:spcPts val="1215"/>
              </a:lnSpc>
              <a:buNone/>
            </a:pPr>
            <a:r>
              <a:rPr lang="en-US" sz="600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代码补丁、</a:t>
            </a:r>
            <a:pPr algn="l" indent="0" marL="0">
              <a:lnSpc>
                <a:spcPts val="1215"/>
              </a:lnSpc>
              <a:buNone/>
            </a:pPr>
            <a:r>
              <a:rPr lang="en-US" sz="686" dirty="0">
                <a:solidFill>
                  <a:srgbClr val="67E8F9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ch9</a:t>
            </a:r>
            <a:pPr algn="l" indent="0" marL="0">
              <a:lnSpc>
                <a:spcPts val="1215"/>
              </a:lnSpc>
              <a:buNone/>
            </a:pPr>
            <a:r>
              <a:rPr lang="en-US" sz="600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更新发布</a:t>
            </a:r>
            <a:endParaRPr lang="en-US" sz="600" dirty="0"/>
          </a:p>
        </p:txBody>
      </p:sp>
      <p:sp>
        <p:nvSpPr>
          <p:cNvPr id="41" name="Text 33"/>
          <p:cNvSpPr/>
          <p:nvPr/>
        </p:nvSpPr>
        <p:spPr>
          <a:xfrm>
            <a:off x="2236105" y="4769346"/>
            <a:ext cx="1357313" cy="7144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4"/>
          <p:cNvSpPr/>
          <p:nvPr/>
        </p:nvSpPr>
        <p:spPr>
          <a:xfrm>
            <a:off x="3722005" y="4702373"/>
            <a:ext cx="1784872" cy="152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7E8F9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章一次性命名，第 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7E8F9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2–10</a:t>
            </a:r>
            <a:pPr algn="l" indent="0" marL="0">
              <a:lnSpc>
                <a:spcPts val="1200"/>
              </a:lnSpc>
              <a:buNone/>
            </a:pPr>
            <a:r>
              <a:rPr lang="en-US" sz="703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章逐章复用。</a:t>
            </a:r>
            <a:endParaRPr lang="en-US" sz="703" dirty="0"/>
          </a:p>
        </p:txBody>
      </p:sp>
      <p:sp>
        <p:nvSpPr>
          <p:cNvPr id="43" name="Text 35"/>
          <p:cNvSpPr/>
          <p:nvPr/>
        </p:nvSpPr>
        <p:spPr>
          <a:xfrm>
            <a:off x="5550471" y="4769346"/>
            <a:ext cx="1357313" cy="7144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1488"/>
            <a:ext cx="185738" cy="14288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11659"/>
            <a:ext cx="182722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spc="225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主线五 · 演化主线</a:t>
            </a:r>
            <a:endParaRPr lang="en-US" sz="703" dirty="0"/>
          </a:p>
        </p:txBody>
      </p:sp>
      <p:sp>
        <p:nvSpPr>
          <p:cNvPr id="4" name="Text 2"/>
          <p:cNvSpPr/>
          <p:nvPr/>
        </p:nvSpPr>
        <p:spPr>
          <a:xfrm>
            <a:off x="457200" y="631329"/>
            <a:ext cx="3837316" cy="411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79"/>
              </a:lnSpc>
              <a:buNone/>
            </a:pPr>
            <a:r>
              <a:rPr lang="en-US" sz="2138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模型吃掉 </a:t>
            </a:r>
            <a:pPr algn="l" indent="0" marL="0">
              <a:lnSpc>
                <a:spcPts val="2779"/>
              </a:lnSpc>
              <a:buNone/>
            </a:pPr>
            <a:r>
              <a:rPr lang="en-US" sz="2138" b="1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Harness</a:t>
            </a:r>
            <a:pPr algn="l" indent="0" marL="0">
              <a:lnSpc>
                <a:spcPts val="2779"/>
              </a:lnSpc>
              <a:buNone/>
            </a:pPr>
            <a:r>
              <a:rPr lang="en-US" sz="2138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pPr algn="l" indent="0" marL="0">
              <a:lnSpc>
                <a:spcPts val="2779"/>
              </a:lnSpc>
              <a:buNone/>
            </a:pPr>
            <a:r>
              <a:rPr lang="en-US" sz="2138" b="1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飞轮向前</a:t>
            </a:r>
            <a:endParaRPr lang="en-US" sz="2138" dirty="0"/>
          </a:p>
        </p:txBody>
      </p:sp>
      <p:sp>
        <p:nvSpPr>
          <p:cNvPr id="5" name="Text 3"/>
          <p:cNvSpPr/>
          <p:nvPr/>
        </p:nvSpPr>
        <p:spPr>
          <a:xfrm>
            <a:off x="7626065" y="821643"/>
            <a:ext cx="1328041" cy="206383"/>
          </a:xfrm>
          <a:prstGeom prst="rect">
            <a:avLst/>
          </a:prstGeom>
          <a:noFill/>
          <a:ln/>
        </p:spPr>
        <p:txBody>
          <a:bodyPr wrap="none" lIns="0" tIns="0" rIns="0" bIns="5715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spc="56" kern="0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飞轮 · 两朵乌云 · 安全观</a:t>
            </a:r>
            <a:endParaRPr lang="en-US" sz="703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27038"/>
            <a:ext cx="942975" cy="14288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8488"/>
            <a:ext cx="3785518" cy="35306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0772" y="1302060"/>
            <a:ext cx="3778374" cy="3523543"/>
          </a:xfrm>
          <a:prstGeom prst="roundRect">
            <a:avLst>
              <a:gd name="adj" fmla="val 3785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621506" y="147886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67E8F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406" dirty="0"/>
          </a:p>
        </p:txBody>
      </p:sp>
      <p:sp>
        <p:nvSpPr>
          <p:cNvPr id="10" name="Text 6"/>
          <p:cNvSpPr/>
          <p:nvPr/>
        </p:nvSpPr>
        <p:spPr>
          <a:xfrm>
            <a:off x="828675" y="1448507"/>
            <a:ext cx="3249737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能力飞轮</a:t>
            </a:r>
            <a:endParaRPr lang="en-US" sz="1069" dirty="0"/>
          </a:p>
        </p:txBody>
      </p:sp>
      <p:sp>
        <p:nvSpPr>
          <p:cNvPr id="11" name="Text 7"/>
          <p:cNvSpPr/>
          <p:nvPr/>
        </p:nvSpPr>
        <p:spPr>
          <a:xfrm>
            <a:off x="625078" y="1741401"/>
            <a:ext cx="1392696" cy="1011622"/>
          </a:xfrm>
          <a:prstGeom prst="roundRect">
            <a:avLst>
              <a:gd name="adj" fmla="val 9416"/>
            </a:avLst>
          </a:prstGeom>
          <a:solidFill>
            <a:srgbClr val="F5F1E8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721519" y="2026593"/>
            <a:ext cx="1199815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59" kern="0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21519" y="2181969"/>
            <a:ext cx="1199815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b="1" spc="59" kern="0" dirty="0">
                <a:solidFill>
                  <a:srgbClr val="67E8F9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Harness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补上模型暂时做不稳的事</a:t>
            </a:r>
            <a:endParaRPr lang="en-US" sz="703" dirty="0"/>
          </a:p>
        </p:txBody>
      </p:sp>
      <p:sp>
        <p:nvSpPr>
          <p:cNvPr id="14" name="Text 10"/>
          <p:cNvSpPr/>
          <p:nvPr/>
        </p:nvSpPr>
        <p:spPr>
          <a:xfrm>
            <a:off x="2246375" y="2143627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sp>
        <p:nvSpPr>
          <p:cNvPr id="15" name="Text 11"/>
          <p:cNvSpPr/>
          <p:nvPr/>
        </p:nvSpPr>
        <p:spPr>
          <a:xfrm>
            <a:off x="2682143" y="1741401"/>
            <a:ext cx="1392696" cy="1011622"/>
          </a:xfrm>
          <a:prstGeom prst="roundRect">
            <a:avLst>
              <a:gd name="adj" fmla="val 9416"/>
            </a:avLst>
          </a:prstGeom>
          <a:solidFill>
            <a:srgbClr val="F5F1E8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778584" y="2098030"/>
            <a:ext cx="1199815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59" kern="0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2730643" y="2253407"/>
            <a:ext cx="1295698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补救沉淀为下一轮训练信号</a:t>
            </a:r>
            <a:endParaRPr lang="en-US" sz="703" dirty="0"/>
          </a:p>
        </p:txBody>
      </p:sp>
      <p:sp>
        <p:nvSpPr>
          <p:cNvPr id="18" name="Text 14"/>
          <p:cNvSpPr/>
          <p:nvPr/>
        </p:nvSpPr>
        <p:spPr>
          <a:xfrm>
            <a:off x="3274907" y="2960191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406" dirty="0"/>
          </a:p>
        </p:txBody>
      </p:sp>
      <p:sp>
        <p:nvSpPr>
          <p:cNvPr id="19" name="Text 15"/>
          <p:cNvSpPr/>
          <p:nvPr/>
        </p:nvSpPr>
        <p:spPr>
          <a:xfrm>
            <a:off x="2682143" y="3374529"/>
            <a:ext cx="1392696" cy="1011734"/>
          </a:xfrm>
          <a:prstGeom prst="roundRect">
            <a:avLst>
              <a:gd name="adj" fmla="val 9415"/>
            </a:avLst>
          </a:prstGeom>
          <a:solidFill>
            <a:srgbClr val="F5F1E8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2778584" y="3659832"/>
            <a:ext cx="1199815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59" kern="0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2778584" y="3815209"/>
            <a:ext cx="1199815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模型内化后对应 </a:t>
            </a:r>
            <a:pPr algn="l" indent="0" marL="0">
              <a:lnSpc>
                <a:spcPts val="1280"/>
              </a:lnSpc>
              <a:buNone/>
            </a:pPr>
            <a:r>
              <a:rPr lang="en-US" sz="800" b="1" spc="59" kern="0" dirty="0">
                <a:solidFill>
                  <a:srgbClr val="67E8F9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Harness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层被删掉</a:t>
            </a:r>
            <a:endParaRPr lang="en-US" sz="703" dirty="0"/>
          </a:p>
        </p:txBody>
      </p:sp>
      <p:sp>
        <p:nvSpPr>
          <p:cNvPr id="22" name="Text 18"/>
          <p:cNvSpPr/>
          <p:nvPr/>
        </p:nvSpPr>
        <p:spPr>
          <a:xfrm>
            <a:off x="2246375" y="3776811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←</a:t>
            </a:r>
            <a:endParaRPr lang="en-US" sz="1406" dirty="0"/>
          </a:p>
        </p:txBody>
      </p:sp>
      <p:sp>
        <p:nvSpPr>
          <p:cNvPr id="23" name="Text 19"/>
          <p:cNvSpPr/>
          <p:nvPr/>
        </p:nvSpPr>
        <p:spPr>
          <a:xfrm>
            <a:off x="625078" y="3374529"/>
            <a:ext cx="1392696" cy="1011734"/>
          </a:xfrm>
          <a:prstGeom prst="roundRect">
            <a:avLst>
              <a:gd name="adj" fmla="val 9415"/>
            </a:avLst>
          </a:prstGeom>
          <a:solidFill>
            <a:srgbClr val="F5F1E8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721519" y="3731270"/>
            <a:ext cx="1199815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59" kern="0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21519" y="3886646"/>
            <a:ext cx="1199815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b="1" spc="59" kern="0" dirty="0">
                <a:solidFill>
                  <a:srgbClr val="67E8F9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Harness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向新的能力前沿迁移</a:t>
            </a:r>
            <a:endParaRPr lang="en-US" sz="703" dirty="0"/>
          </a:p>
        </p:txBody>
      </p:sp>
      <p:sp>
        <p:nvSpPr>
          <p:cNvPr id="26" name="Text 22"/>
          <p:cNvSpPr/>
          <p:nvPr/>
        </p:nvSpPr>
        <p:spPr>
          <a:xfrm>
            <a:off x="1217842" y="2960191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↑</a:t>
            </a:r>
            <a:endParaRPr lang="en-US" sz="1406" dirty="0"/>
          </a:p>
        </p:txBody>
      </p:sp>
      <p:sp>
        <p:nvSpPr>
          <p:cNvPr id="27" name="Text 23"/>
          <p:cNvSpPr/>
          <p:nvPr/>
        </p:nvSpPr>
        <p:spPr>
          <a:xfrm>
            <a:off x="2067781" y="2781598"/>
            <a:ext cx="564356" cy="564356"/>
          </a:xfrm>
          <a:prstGeom prst="roundRect">
            <a:avLst>
              <a:gd name="adj" fmla="val 1686077"/>
            </a:avLst>
          </a:prstGeom>
          <a:solidFill>
            <a:srgbClr val="111A2E"/>
          </a:solidFill>
          <a:ln w="7144">
            <a:solidFill>
              <a:srgbClr val="22D3EE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2215299" y="2929116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67E8F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828" dirty="0"/>
          </a:p>
        </p:txBody>
      </p:sp>
      <p:sp>
        <p:nvSpPr>
          <p:cNvPr id="29" name="Text 25"/>
          <p:cNvSpPr/>
          <p:nvPr/>
        </p:nvSpPr>
        <p:spPr>
          <a:xfrm>
            <a:off x="1544613" y="4510385"/>
            <a:ext cx="6193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F5F1E8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092784" y="4475559"/>
            <a:ext cx="1985628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52.8% → 66.5%</a:t>
            </a:r>
            <a:endParaRPr lang="en-US" sz="1069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880" y="1298488"/>
            <a:ext cx="4286920" cy="1838846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403452" y="1302060"/>
            <a:ext cx="4279776" cy="1831702"/>
          </a:xfrm>
          <a:prstGeom prst="roundRect">
            <a:avLst>
              <a:gd name="adj" fmla="val 7280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4549899" y="146458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67E8F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406" dirty="0"/>
          </a:p>
        </p:txBody>
      </p:sp>
      <p:sp>
        <p:nvSpPr>
          <p:cNvPr id="34" name="Text 29"/>
          <p:cNvSpPr/>
          <p:nvPr/>
        </p:nvSpPr>
        <p:spPr>
          <a:xfrm>
            <a:off x="4757068" y="1434219"/>
            <a:ext cx="3779713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两朵乌云</a:t>
            </a:r>
            <a:endParaRPr lang="en-US" sz="1069" dirty="0"/>
          </a:p>
        </p:txBody>
      </p:sp>
      <p:sp>
        <p:nvSpPr>
          <p:cNvPr id="35" name="Text 30"/>
          <p:cNvSpPr/>
          <p:nvPr/>
        </p:nvSpPr>
        <p:spPr>
          <a:xfrm>
            <a:off x="4549899" y="1720505"/>
            <a:ext cx="410766" cy="190024"/>
          </a:xfrm>
          <a:prstGeom prst="roundRect">
            <a:avLst>
              <a:gd name="adj" fmla="val 5007512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4549899" y="1730685"/>
            <a:ext cx="410766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乌云一</a:t>
            </a:r>
            <a:endParaRPr lang="en-US" sz="700" dirty="0"/>
          </a:p>
        </p:txBody>
      </p:sp>
      <p:sp>
        <p:nvSpPr>
          <p:cNvPr id="37" name="Text 32"/>
          <p:cNvSpPr/>
          <p:nvPr/>
        </p:nvSpPr>
        <p:spPr>
          <a:xfrm>
            <a:off x="5039246" y="1716398"/>
            <a:ext cx="1819329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如何流式、实时地与环境交互</a:t>
            </a:r>
            <a:endParaRPr lang="en-US" sz="844" dirty="0"/>
          </a:p>
        </p:txBody>
      </p:sp>
      <p:sp>
        <p:nvSpPr>
          <p:cNvPr id="38" name="Text 33"/>
          <p:cNvSpPr/>
          <p:nvPr/>
        </p:nvSpPr>
        <p:spPr>
          <a:xfrm>
            <a:off x="5039246" y="1898563"/>
            <a:ext cx="181932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快慢分离 / 推理提速两条路</a:t>
            </a:r>
            <a:endParaRPr lang="en-US" sz="703" dirty="0"/>
          </a:p>
        </p:txBody>
      </p:sp>
      <p:sp>
        <p:nvSpPr>
          <p:cNvPr id="39" name="Text 34"/>
          <p:cNvSpPr/>
          <p:nvPr/>
        </p:nvSpPr>
        <p:spPr>
          <a:xfrm>
            <a:off x="4549899" y="2115197"/>
            <a:ext cx="410766" cy="190024"/>
          </a:xfrm>
          <a:prstGeom prst="roundRect">
            <a:avLst>
              <a:gd name="adj" fmla="val 5007512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5"/>
          <p:cNvSpPr/>
          <p:nvPr/>
        </p:nvSpPr>
        <p:spPr>
          <a:xfrm>
            <a:off x="4549899" y="2125377"/>
            <a:ext cx="410766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乌云二</a:t>
            </a:r>
            <a:endParaRPr lang="en-US" sz="700" dirty="0"/>
          </a:p>
        </p:txBody>
      </p:sp>
      <p:sp>
        <p:nvSpPr>
          <p:cNvPr id="41" name="Text 36"/>
          <p:cNvSpPr/>
          <p:nvPr/>
        </p:nvSpPr>
        <p:spPr>
          <a:xfrm>
            <a:off x="5039246" y="2111090"/>
            <a:ext cx="3197157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如何从交互成败中持续积累经验</a:t>
            </a:r>
            <a:endParaRPr lang="en-US" sz="844" dirty="0"/>
          </a:p>
        </p:txBody>
      </p:sp>
      <p:sp>
        <p:nvSpPr>
          <p:cNvPr id="42" name="Text 37"/>
          <p:cNvSpPr/>
          <p:nvPr/>
        </p:nvSpPr>
        <p:spPr>
          <a:xfrm>
            <a:off x="5039246" y="2293255"/>
            <a:ext cx="3044912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小世界 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F5F1E8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大世界假设之争——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67E8F9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ch3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记忆与 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67E8F9">
                    <a:alpha val="4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ch9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进化正是对第二朵乌云的回应</a:t>
            </a:r>
            <a:endParaRPr lang="en-US" sz="703" dirty="0"/>
          </a:p>
        </p:txBody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9880" y="3251634"/>
            <a:ext cx="4286920" cy="1577541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4403452" y="3255206"/>
            <a:ext cx="4279776" cy="1570397"/>
          </a:xfrm>
          <a:prstGeom prst="roundRect">
            <a:avLst>
              <a:gd name="adj" fmla="val 8491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4549899" y="341772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67E8F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46" name="Text 40"/>
          <p:cNvSpPr/>
          <p:nvPr/>
        </p:nvSpPr>
        <p:spPr>
          <a:xfrm>
            <a:off x="4757068" y="3387365"/>
            <a:ext cx="3779713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三层安全护栏</a:t>
            </a:r>
            <a:endParaRPr lang="en-US" sz="1069" dirty="0"/>
          </a:p>
        </p:txBody>
      </p:sp>
      <p:sp>
        <p:nvSpPr>
          <p:cNvPr id="47" name="Text 41"/>
          <p:cNvSpPr/>
          <p:nvPr/>
        </p:nvSpPr>
        <p:spPr>
          <a:xfrm>
            <a:off x="4530119" y="3676687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48" name="Text 42"/>
          <p:cNvSpPr/>
          <p:nvPr/>
        </p:nvSpPr>
        <p:spPr>
          <a:xfrm>
            <a:off x="4711750" y="3655256"/>
            <a:ext cx="382503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上下文层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提示注入防御</a:t>
            </a:r>
            <a:endParaRPr lang="en-US" sz="703" dirty="0"/>
          </a:p>
        </p:txBody>
      </p:sp>
      <p:sp>
        <p:nvSpPr>
          <p:cNvPr id="49" name="Text 43"/>
          <p:cNvSpPr/>
          <p:nvPr/>
        </p:nvSpPr>
        <p:spPr>
          <a:xfrm>
            <a:off x="4530119" y="3874926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50" name="Text 44"/>
          <p:cNvSpPr/>
          <p:nvPr/>
        </p:nvSpPr>
        <p:spPr>
          <a:xfrm>
            <a:off x="4711750" y="3853495"/>
            <a:ext cx="382503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执行层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参数校验、审批、沙箱</a:t>
            </a:r>
            <a:endParaRPr lang="en-US" sz="703" dirty="0"/>
          </a:p>
        </p:txBody>
      </p:sp>
      <p:sp>
        <p:nvSpPr>
          <p:cNvPr id="51" name="Text 45"/>
          <p:cNvSpPr/>
          <p:nvPr/>
        </p:nvSpPr>
        <p:spPr>
          <a:xfrm>
            <a:off x="4530119" y="4073165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52" name="Text 46"/>
          <p:cNvSpPr/>
          <p:nvPr/>
        </p:nvSpPr>
        <p:spPr>
          <a:xfrm>
            <a:off x="4711750" y="4051734"/>
            <a:ext cx="382503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脱敏与权限</a:t>
            </a:r>
            <a:endParaRPr lang="en-US" sz="703" dirty="0"/>
          </a:p>
        </p:txBody>
      </p:sp>
      <p:sp>
        <p:nvSpPr>
          <p:cNvPr id="53" name="Text 47"/>
          <p:cNvSpPr/>
          <p:nvPr/>
        </p:nvSpPr>
        <p:spPr>
          <a:xfrm>
            <a:off x="4549899" y="456932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125" dirty="0"/>
          </a:p>
        </p:txBody>
      </p:sp>
      <p:sp>
        <p:nvSpPr>
          <p:cNvPr id="54" name="Text 48"/>
          <p:cNvSpPr/>
          <p:nvPr/>
        </p:nvSpPr>
        <p:spPr>
          <a:xfrm>
            <a:off x="4721349" y="4559498"/>
            <a:ext cx="3815432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——从第一行代码就要考虑</a:t>
            </a:r>
            <a:endParaRPr lang="en-US" sz="70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87773"/>
            <a:ext cx="2638388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92016" y="1284201"/>
            <a:ext cx="0" cy="3544974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25603"/>
            <a:ext cx="2638388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7916" y="1284201"/>
            <a:ext cx="0" cy="3544974"/>
          </a:xfrm>
          <a:prstGeom prst="line">
            <a:avLst/>
          </a:prstGeom>
          <a:noFill/>
          <a:ln w="21431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0081" y="4439841"/>
            <a:ext cx="2266913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252750" y="1287773"/>
            <a:ext cx="2638388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87566" y="1284201"/>
            <a:ext cx="0" cy="3544974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52750" y="4825603"/>
            <a:ext cx="2638388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3466" y="1284201"/>
            <a:ext cx="0" cy="3544974"/>
          </a:xfrm>
          <a:prstGeom prst="line">
            <a:avLst/>
          </a:prstGeom>
          <a:noFill/>
          <a:ln w="21431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45632" y="4439841"/>
            <a:ext cx="2266913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048301" y="1287773"/>
            <a:ext cx="2638499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3228" y="1284201"/>
            <a:ext cx="0" cy="3544974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48301" y="4825603"/>
            <a:ext cx="2638499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59016" y="1284201"/>
            <a:ext cx="0" cy="3544974"/>
          </a:xfrm>
          <a:prstGeom prst="line">
            <a:avLst/>
          </a:prstGeom>
          <a:noFill/>
          <a:ln w="21431">
            <a:solidFill>
              <a:srgbClr val="22D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41182" y="4439841"/>
            <a:ext cx="2267024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57200" y="471488"/>
            <a:ext cx="185738" cy="14288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7200" y="411659"/>
            <a:ext cx="217377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spc="225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 · 更新路径细化</a:t>
            </a:r>
            <a:endParaRPr lang="en-US" sz="703" dirty="0"/>
          </a:p>
        </p:txBody>
      </p:sp>
      <p:sp>
        <p:nvSpPr>
          <p:cNvPr id="19" name="Text 17"/>
          <p:cNvSpPr/>
          <p:nvPr/>
        </p:nvSpPr>
        <p:spPr>
          <a:xfrm>
            <a:off x="457200" y="631329"/>
            <a:ext cx="8636000" cy="381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79"/>
              </a:lnSpc>
              <a:buNone/>
            </a:pPr>
            <a:r>
              <a:rPr lang="en-US" sz="2138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经验写到哪里，</a:t>
            </a:r>
            <a:pPr algn="l" indent="0" marL="0">
              <a:lnSpc>
                <a:spcPts val="2779"/>
              </a:lnSpc>
              <a:buNone/>
            </a:pPr>
            <a:r>
              <a:rPr lang="en-US" sz="2138" b="1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就去哪一章</a:t>
            </a:r>
            <a:endParaRPr lang="en-US" sz="2138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8463"/>
            <a:ext cx="942975" cy="14288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4201"/>
            <a:ext cx="2638388" cy="354497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50081" y="1448507"/>
            <a:ext cx="1888182" cy="262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913" dirty="0">
                <a:solidFill>
                  <a:srgbClr val="FFFFFF">
                    <a:alpha val="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913" dirty="0"/>
          </a:p>
        </p:txBody>
      </p:sp>
      <p:sp>
        <p:nvSpPr>
          <p:cNvPr id="23" name="Text 19"/>
          <p:cNvSpPr/>
          <p:nvPr/>
        </p:nvSpPr>
        <p:spPr>
          <a:xfrm>
            <a:off x="2537973" y="1437041"/>
            <a:ext cx="393598" cy="214027"/>
          </a:xfrm>
          <a:prstGeom prst="roundRect">
            <a:avLst>
              <a:gd name="adj" fmla="val 4445923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2552551" y="1448507"/>
            <a:ext cx="36444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周级</a:t>
            </a:r>
            <a:endParaRPr lang="en-US" sz="703" dirty="0"/>
          </a:p>
        </p:txBody>
      </p:sp>
      <p:sp>
        <p:nvSpPr>
          <p:cNvPr id="25" name="Text 21"/>
          <p:cNvSpPr/>
          <p:nvPr/>
        </p:nvSpPr>
        <p:spPr>
          <a:xfrm>
            <a:off x="650081" y="1734257"/>
            <a:ext cx="2266913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上下文内适应</a:t>
            </a:r>
            <a:endParaRPr lang="en-US" sz="1463" dirty="0"/>
          </a:p>
        </p:txBody>
      </p:sp>
      <p:sp>
        <p:nvSpPr>
          <p:cNvPr id="26" name="Text 22"/>
          <p:cNvSpPr/>
          <p:nvPr/>
        </p:nvSpPr>
        <p:spPr>
          <a:xfrm>
            <a:off x="650081" y="2098588"/>
            <a:ext cx="72009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18" kern="0" dirty="0">
                <a:solidFill>
                  <a:srgbClr val="F5F1E8">
                    <a:alpha val="2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可回滚程度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1153716" y="2126270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22D3EE"/>
          </a:solidFill>
          <a:ln w="7144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50800" dir="16200000">
              <a:srgbClr val="22D3EE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1268016" y="2126270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22D3EE"/>
          </a:solidFill>
          <a:ln w="7144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50800" dir="16200000">
              <a:srgbClr val="22D3EE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1382316" y="2126270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22D3EE"/>
          </a:solidFill>
          <a:ln w="7144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50800" dir="16200000">
              <a:srgbClr val="22D3EE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650081" y="2311115"/>
            <a:ext cx="2266913" cy="7144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650081" y="2403983"/>
            <a:ext cx="226691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18" kern="0" dirty="0">
                <a:solidFill>
                  <a:srgbClr val="F5F1E8">
                    <a:alpha val="2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手段</a:t>
            </a:r>
            <a:endParaRPr lang="en-US" sz="700" dirty="0"/>
          </a:p>
        </p:txBody>
      </p:sp>
      <p:sp>
        <p:nvSpPr>
          <p:cNvPr id="32" name="Text 28"/>
          <p:cNvSpPr/>
          <p:nvPr/>
        </p:nvSpPr>
        <p:spPr>
          <a:xfrm>
            <a:off x="650081" y="260222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984" dirty="0"/>
          </a:p>
        </p:txBody>
      </p:sp>
      <p:sp>
        <p:nvSpPr>
          <p:cNvPr id="33" name="Text 29"/>
          <p:cNvSpPr/>
          <p:nvPr/>
        </p:nvSpPr>
        <p:spPr>
          <a:xfrm>
            <a:off x="792956" y="2580791"/>
            <a:ext cx="2124038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上下文压缩</a:t>
            </a:r>
            <a:endParaRPr lang="en-US" sz="703" dirty="0"/>
          </a:p>
        </p:txBody>
      </p:sp>
      <p:sp>
        <p:nvSpPr>
          <p:cNvPr id="34" name="Text 30"/>
          <p:cNvSpPr/>
          <p:nvPr/>
        </p:nvSpPr>
        <p:spPr>
          <a:xfrm>
            <a:off x="650081" y="279510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984" dirty="0"/>
          </a:p>
        </p:txBody>
      </p:sp>
      <p:sp>
        <p:nvSpPr>
          <p:cNvPr id="35" name="Text 31"/>
          <p:cNvSpPr/>
          <p:nvPr/>
        </p:nvSpPr>
        <p:spPr>
          <a:xfrm>
            <a:off x="792956" y="2773673"/>
            <a:ext cx="2124038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提示优化</a:t>
            </a:r>
            <a:endParaRPr lang="en-US" sz="703" dirty="0"/>
          </a:p>
        </p:txBody>
      </p:sp>
      <p:sp>
        <p:nvSpPr>
          <p:cNvPr id="36" name="Text 32"/>
          <p:cNvSpPr/>
          <p:nvPr/>
        </p:nvSpPr>
        <p:spPr>
          <a:xfrm>
            <a:off x="650081" y="2987985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984" dirty="0"/>
          </a:p>
        </p:txBody>
      </p:sp>
      <p:sp>
        <p:nvSpPr>
          <p:cNvPr id="37" name="Text 33"/>
          <p:cNvSpPr/>
          <p:nvPr/>
        </p:nvSpPr>
        <p:spPr>
          <a:xfrm>
            <a:off x="792956" y="2966554"/>
            <a:ext cx="212403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Agent Skills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650081" y="318086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984" dirty="0"/>
          </a:p>
        </p:txBody>
      </p:sp>
      <p:sp>
        <p:nvSpPr>
          <p:cNvPr id="39" name="Text 35"/>
          <p:cNvSpPr/>
          <p:nvPr/>
        </p:nvSpPr>
        <p:spPr>
          <a:xfrm>
            <a:off x="792956" y="3159435"/>
            <a:ext cx="2124038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KV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Cache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友好设计</a:t>
            </a:r>
            <a:endParaRPr lang="en-US" sz="703" dirty="0"/>
          </a:p>
        </p:txBody>
      </p:sp>
      <p:sp>
        <p:nvSpPr>
          <p:cNvPr id="40" name="Text 36"/>
          <p:cNvSpPr/>
          <p:nvPr/>
        </p:nvSpPr>
        <p:spPr>
          <a:xfrm>
            <a:off x="650081" y="4037112"/>
            <a:ext cx="57614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18" kern="0" dirty="0">
                <a:solidFill>
                  <a:srgbClr val="F5F1E8">
                    <a:alpha val="2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对应章节</a:t>
            </a:r>
            <a:endParaRPr lang="en-US" sz="700" dirty="0"/>
          </a:p>
        </p:txBody>
      </p:sp>
      <p:sp>
        <p:nvSpPr>
          <p:cNvPr id="41" name="Text 37"/>
          <p:cNvSpPr/>
          <p:nvPr/>
        </p:nvSpPr>
        <p:spPr>
          <a:xfrm>
            <a:off x="1074465" y="4013002"/>
            <a:ext cx="1842529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ch2</a:t>
            </a:r>
            <a:endParaRPr lang="en-US" sz="844" dirty="0"/>
          </a:p>
        </p:txBody>
      </p:sp>
      <p:sp>
        <p:nvSpPr>
          <p:cNvPr id="42" name="Text 38"/>
          <p:cNvSpPr/>
          <p:nvPr/>
        </p:nvSpPr>
        <p:spPr>
          <a:xfrm>
            <a:off x="650081" y="4216598"/>
            <a:ext cx="226691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可回滚程度最高</a:t>
            </a:r>
            <a:endParaRPr lang="en-US" sz="703" dirty="0"/>
          </a:p>
        </p:txBody>
      </p:sp>
      <p:sp>
        <p:nvSpPr>
          <p:cNvPr id="43" name="Text 39"/>
          <p:cNvSpPr/>
          <p:nvPr/>
        </p:nvSpPr>
        <p:spPr>
          <a:xfrm>
            <a:off x="650081" y="4536281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67E8F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1055" dirty="0"/>
          </a:p>
        </p:txBody>
      </p:sp>
      <p:sp>
        <p:nvSpPr>
          <p:cNvPr id="44" name="Text 40"/>
          <p:cNvSpPr/>
          <p:nvPr/>
        </p:nvSpPr>
        <p:spPr>
          <a:xfrm>
            <a:off x="807244" y="4521994"/>
            <a:ext cx="21097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改前问一句：这个改动，撤销的代价是多少？</a:t>
            </a:r>
            <a:endParaRPr lang="en-US" sz="703" dirty="0"/>
          </a:p>
        </p:txBody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2750" y="1284201"/>
            <a:ext cx="2638388" cy="3544974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3445632" y="1448507"/>
            <a:ext cx="1888182" cy="262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913" dirty="0">
                <a:solidFill>
                  <a:srgbClr val="FFFFFF">
                    <a:alpha val="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913" dirty="0"/>
          </a:p>
        </p:txBody>
      </p:sp>
      <p:sp>
        <p:nvSpPr>
          <p:cNvPr id="47" name="Text 42"/>
          <p:cNvSpPr/>
          <p:nvPr/>
        </p:nvSpPr>
        <p:spPr>
          <a:xfrm>
            <a:off x="5333524" y="1437041"/>
            <a:ext cx="393598" cy="214027"/>
          </a:xfrm>
          <a:prstGeom prst="roundRect">
            <a:avLst>
              <a:gd name="adj" fmla="val 4445923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3"/>
          <p:cNvSpPr/>
          <p:nvPr/>
        </p:nvSpPr>
        <p:spPr>
          <a:xfrm>
            <a:off x="5348101" y="1448507"/>
            <a:ext cx="36444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月级</a:t>
            </a:r>
            <a:endParaRPr lang="en-US" sz="703" dirty="0"/>
          </a:p>
        </p:txBody>
      </p:sp>
      <p:sp>
        <p:nvSpPr>
          <p:cNvPr id="49" name="Text 44"/>
          <p:cNvSpPr/>
          <p:nvPr/>
        </p:nvSpPr>
        <p:spPr>
          <a:xfrm>
            <a:off x="3445632" y="1734257"/>
            <a:ext cx="2266913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外部产物沉淀</a:t>
            </a:r>
            <a:endParaRPr lang="en-US" sz="1463" dirty="0"/>
          </a:p>
        </p:txBody>
      </p:sp>
      <p:sp>
        <p:nvSpPr>
          <p:cNvPr id="50" name="Text 45"/>
          <p:cNvSpPr/>
          <p:nvPr/>
        </p:nvSpPr>
        <p:spPr>
          <a:xfrm>
            <a:off x="3445632" y="2098588"/>
            <a:ext cx="72009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18" kern="0" dirty="0">
                <a:solidFill>
                  <a:srgbClr val="F5F1E8">
                    <a:alpha val="2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可回滚程度</a:t>
            </a:r>
            <a:endParaRPr lang="en-US" sz="700" dirty="0"/>
          </a:p>
        </p:txBody>
      </p:sp>
      <p:sp>
        <p:nvSpPr>
          <p:cNvPr id="51" name="Text 46"/>
          <p:cNvSpPr/>
          <p:nvPr/>
        </p:nvSpPr>
        <p:spPr>
          <a:xfrm>
            <a:off x="3949266" y="2126270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22D3EE"/>
          </a:solidFill>
          <a:ln w="7144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50800" dir="16200000">
              <a:srgbClr val="22D3EE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7"/>
          <p:cNvSpPr/>
          <p:nvPr/>
        </p:nvSpPr>
        <p:spPr>
          <a:xfrm>
            <a:off x="4063566" y="2126270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22D3EE"/>
          </a:solidFill>
          <a:ln w="7144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50800" dir="16200000">
              <a:srgbClr val="22D3EE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8"/>
          <p:cNvSpPr/>
          <p:nvPr/>
        </p:nvSpPr>
        <p:spPr>
          <a:xfrm>
            <a:off x="4177866" y="2126270"/>
            <a:ext cx="57150" cy="57150"/>
          </a:xfrm>
          <a:prstGeom prst="roundRect">
            <a:avLst>
              <a:gd name="adj" fmla="val 16650000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9"/>
          <p:cNvSpPr/>
          <p:nvPr/>
        </p:nvSpPr>
        <p:spPr>
          <a:xfrm>
            <a:off x="3445632" y="2311115"/>
            <a:ext cx="2266913" cy="7144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0"/>
          <p:cNvSpPr/>
          <p:nvPr/>
        </p:nvSpPr>
        <p:spPr>
          <a:xfrm>
            <a:off x="3445632" y="2403983"/>
            <a:ext cx="226691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18" kern="0" dirty="0">
                <a:solidFill>
                  <a:srgbClr val="F5F1E8">
                    <a:alpha val="2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手段</a:t>
            </a:r>
            <a:endParaRPr lang="en-US" sz="700" dirty="0"/>
          </a:p>
        </p:txBody>
      </p:sp>
      <p:sp>
        <p:nvSpPr>
          <p:cNvPr id="56" name="Text 51"/>
          <p:cNvSpPr/>
          <p:nvPr/>
        </p:nvSpPr>
        <p:spPr>
          <a:xfrm>
            <a:off x="3445632" y="260222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984" dirty="0"/>
          </a:p>
        </p:txBody>
      </p:sp>
      <p:sp>
        <p:nvSpPr>
          <p:cNvPr id="57" name="Text 52"/>
          <p:cNvSpPr/>
          <p:nvPr/>
        </p:nvSpPr>
        <p:spPr>
          <a:xfrm>
            <a:off x="3588507" y="2580791"/>
            <a:ext cx="2124038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用户记忆</a:t>
            </a:r>
            <a:endParaRPr lang="en-US" sz="703" dirty="0"/>
          </a:p>
        </p:txBody>
      </p:sp>
      <p:sp>
        <p:nvSpPr>
          <p:cNvPr id="58" name="Text 53"/>
          <p:cNvSpPr/>
          <p:nvPr/>
        </p:nvSpPr>
        <p:spPr>
          <a:xfrm>
            <a:off x="3445632" y="279510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984" dirty="0"/>
          </a:p>
        </p:txBody>
      </p:sp>
      <p:sp>
        <p:nvSpPr>
          <p:cNvPr id="59" name="Text 54"/>
          <p:cNvSpPr/>
          <p:nvPr/>
        </p:nvSpPr>
        <p:spPr>
          <a:xfrm>
            <a:off x="3588507" y="2773673"/>
            <a:ext cx="2124038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 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endParaRPr lang="en-US" sz="703" dirty="0"/>
          </a:p>
        </p:txBody>
      </p:sp>
      <p:sp>
        <p:nvSpPr>
          <p:cNvPr id="60" name="Text 55"/>
          <p:cNvSpPr/>
          <p:nvPr/>
        </p:nvSpPr>
        <p:spPr>
          <a:xfrm>
            <a:off x="3445632" y="2987985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984" dirty="0"/>
          </a:p>
        </p:txBody>
      </p:sp>
      <p:sp>
        <p:nvSpPr>
          <p:cNvPr id="61" name="Text 56"/>
          <p:cNvSpPr/>
          <p:nvPr/>
        </p:nvSpPr>
        <p:spPr>
          <a:xfrm>
            <a:off x="3588507" y="2966554"/>
            <a:ext cx="2124038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技能包</a:t>
            </a:r>
            <a:endParaRPr lang="en-US" sz="703" dirty="0"/>
          </a:p>
        </p:txBody>
      </p:sp>
      <p:sp>
        <p:nvSpPr>
          <p:cNvPr id="62" name="Text 57"/>
          <p:cNvSpPr/>
          <p:nvPr/>
        </p:nvSpPr>
        <p:spPr>
          <a:xfrm>
            <a:off x="3445632" y="318086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984" dirty="0"/>
          </a:p>
        </p:txBody>
      </p:sp>
      <p:sp>
        <p:nvSpPr>
          <p:cNvPr id="63" name="Text 58"/>
          <p:cNvSpPr/>
          <p:nvPr/>
        </p:nvSpPr>
        <p:spPr>
          <a:xfrm>
            <a:off x="3588507" y="3159435"/>
            <a:ext cx="2124038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工具与代码自演化</a:t>
            </a:r>
            <a:endParaRPr lang="en-US" sz="703" dirty="0"/>
          </a:p>
        </p:txBody>
      </p:sp>
      <p:sp>
        <p:nvSpPr>
          <p:cNvPr id="64" name="Text 59"/>
          <p:cNvSpPr/>
          <p:nvPr/>
        </p:nvSpPr>
        <p:spPr>
          <a:xfrm>
            <a:off x="3445632" y="4029968"/>
            <a:ext cx="57614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18" kern="0" dirty="0">
                <a:solidFill>
                  <a:srgbClr val="F5F1E8">
                    <a:alpha val="2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对应章节</a:t>
            </a:r>
            <a:endParaRPr lang="en-US" sz="700" dirty="0"/>
          </a:p>
        </p:txBody>
      </p:sp>
      <p:sp>
        <p:nvSpPr>
          <p:cNvPr id="65" name="Text 60"/>
          <p:cNvSpPr/>
          <p:nvPr/>
        </p:nvSpPr>
        <p:spPr>
          <a:xfrm>
            <a:off x="3870015" y="4005858"/>
            <a:ext cx="1209694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ch3 / ch4 / ch9</a:t>
            </a:r>
            <a:endParaRPr lang="en-US" sz="844" dirty="0"/>
          </a:p>
        </p:txBody>
      </p:sp>
      <p:sp>
        <p:nvSpPr>
          <p:cNvPr id="66" name="Text 61"/>
          <p:cNvSpPr/>
          <p:nvPr/>
        </p:nvSpPr>
        <p:spPr>
          <a:xfrm>
            <a:off x="4902064" y="4019252"/>
            <a:ext cx="81048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的提案段</a:t>
            </a:r>
            <a:endParaRPr lang="en-US" sz="703" dirty="0"/>
          </a:p>
        </p:txBody>
      </p:sp>
      <p:sp>
        <p:nvSpPr>
          <p:cNvPr id="67" name="Text 62"/>
          <p:cNvSpPr/>
          <p:nvPr/>
        </p:nvSpPr>
        <p:spPr>
          <a:xfrm>
            <a:off x="3445632" y="4209455"/>
            <a:ext cx="2266913" cy="152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03" b="1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 </a:t>
            </a:r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</a:t>
            </a:r>
            <a:pPr algn="l" indent="0" marL="0">
              <a:lnSpc>
                <a:spcPts val="1200"/>
              </a:lnSpc>
              <a:buNone/>
            </a:pPr>
            <a:r>
              <a:rPr lang="en-US" sz="703" b="1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、带来源、可回滚</a:t>
            </a:r>
            <a:endParaRPr lang="en-US" sz="703" dirty="0"/>
          </a:p>
        </p:txBody>
      </p:sp>
      <p:sp>
        <p:nvSpPr>
          <p:cNvPr id="68" name="Text 63"/>
          <p:cNvSpPr/>
          <p:nvPr/>
        </p:nvSpPr>
        <p:spPr>
          <a:xfrm>
            <a:off x="3445632" y="4536281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67E8F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1055" dirty="0"/>
          </a:p>
        </p:txBody>
      </p:sp>
      <p:sp>
        <p:nvSpPr>
          <p:cNvPr id="69" name="Text 64"/>
          <p:cNvSpPr/>
          <p:nvPr/>
        </p:nvSpPr>
        <p:spPr>
          <a:xfrm>
            <a:off x="3602794" y="4521994"/>
            <a:ext cx="21097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改前问一句：这个改动，撤销的代价是多少？</a:t>
            </a:r>
            <a:endParaRPr lang="en-US" sz="703" dirty="0"/>
          </a:p>
        </p:txBody>
      </p:sp>
      <p:pic>
        <p:nvPicPr>
          <p:cNvPr id="7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8301" y="1284201"/>
            <a:ext cx="2638499" cy="3544974"/>
          </a:xfrm>
          <a:prstGeom prst="rect">
            <a:avLst/>
          </a:prstGeom>
        </p:spPr>
      </p:pic>
      <p:sp>
        <p:nvSpPr>
          <p:cNvPr id="71" name="Text 65"/>
          <p:cNvSpPr/>
          <p:nvPr/>
        </p:nvSpPr>
        <p:spPr>
          <a:xfrm>
            <a:off x="6241182" y="1448507"/>
            <a:ext cx="1798997" cy="262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913" dirty="0">
                <a:solidFill>
                  <a:srgbClr val="FFFFFF">
                    <a:alpha val="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913" dirty="0"/>
          </a:p>
        </p:txBody>
      </p:sp>
      <p:sp>
        <p:nvSpPr>
          <p:cNvPr id="72" name="Text 66"/>
          <p:cNvSpPr/>
          <p:nvPr/>
        </p:nvSpPr>
        <p:spPr>
          <a:xfrm>
            <a:off x="8036317" y="1437041"/>
            <a:ext cx="490039" cy="214027"/>
          </a:xfrm>
          <a:prstGeom prst="roundRect">
            <a:avLst>
              <a:gd name="adj" fmla="val 4445923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67"/>
          <p:cNvSpPr/>
          <p:nvPr/>
        </p:nvSpPr>
        <p:spPr>
          <a:xfrm>
            <a:off x="8054467" y="1448507"/>
            <a:ext cx="45374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季度级</a:t>
            </a:r>
            <a:endParaRPr lang="en-US" sz="703" dirty="0"/>
          </a:p>
        </p:txBody>
      </p:sp>
      <p:sp>
        <p:nvSpPr>
          <p:cNvPr id="74" name="Text 68"/>
          <p:cNvSpPr/>
          <p:nvPr/>
        </p:nvSpPr>
        <p:spPr>
          <a:xfrm>
            <a:off x="6241182" y="1734257"/>
            <a:ext cx="2267024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参数更新</a:t>
            </a:r>
            <a:endParaRPr lang="en-US" sz="1463" dirty="0"/>
          </a:p>
        </p:txBody>
      </p:sp>
      <p:sp>
        <p:nvSpPr>
          <p:cNvPr id="75" name="Text 69"/>
          <p:cNvSpPr/>
          <p:nvPr/>
        </p:nvSpPr>
        <p:spPr>
          <a:xfrm>
            <a:off x="6241182" y="2098588"/>
            <a:ext cx="72009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18" kern="0" dirty="0">
                <a:solidFill>
                  <a:srgbClr val="F5F1E8">
                    <a:alpha val="2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可回滚程度</a:t>
            </a:r>
            <a:endParaRPr lang="en-US" sz="700" dirty="0"/>
          </a:p>
        </p:txBody>
      </p:sp>
      <p:sp>
        <p:nvSpPr>
          <p:cNvPr id="76" name="Text 70"/>
          <p:cNvSpPr/>
          <p:nvPr/>
        </p:nvSpPr>
        <p:spPr>
          <a:xfrm>
            <a:off x="6744816" y="2126270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22D3EE"/>
          </a:solidFill>
          <a:ln w="7144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50800" dir="16200000">
              <a:srgbClr val="22D3EE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1"/>
          <p:cNvSpPr/>
          <p:nvPr/>
        </p:nvSpPr>
        <p:spPr>
          <a:xfrm>
            <a:off x="6859116" y="2126270"/>
            <a:ext cx="57150" cy="57150"/>
          </a:xfrm>
          <a:prstGeom prst="roundRect">
            <a:avLst>
              <a:gd name="adj" fmla="val 16650000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2"/>
          <p:cNvSpPr/>
          <p:nvPr/>
        </p:nvSpPr>
        <p:spPr>
          <a:xfrm>
            <a:off x="6973416" y="2126270"/>
            <a:ext cx="57150" cy="57150"/>
          </a:xfrm>
          <a:prstGeom prst="roundRect">
            <a:avLst>
              <a:gd name="adj" fmla="val 16650000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3"/>
          <p:cNvSpPr/>
          <p:nvPr/>
        </p:nvSpPr>
        <p:spPr>
          <a:xfrm>
            <a:off x="6241182" y="2311115"/>
            <a:ext cx="2267024" cy="7144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4"/>
          <p:cNvSpPr/>
          <p:nvPr/>
        </p:nvSpPr>
        <p:spPr>
          <a:xfrm>
            <a:off x="6241182" y="2403983"/>
            <a:ext cx="2267024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18" kern="0" dirty="0">
                <a:solidFill>
                  <a:srgbClr val="F5F1E8">
                    <a:alpha val="2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手段</a:t>
            </a:r>
            <a:endParaRPr lang="en-US" sz="700" dirty="0"/>
          </a:p>
        </p:txBody>
      </p:sp>
      <p:sp>
        <p:nvSpPr>
          <p:cNvPr id="81" name="Text 75"/>
          <p:cNvSpPr/>
          <p:nvPr/>
        </p:nvSpPr>
        <p:spPr>
          <a:xfrm>
            <a:off x="6241182" y="260222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984" dirty="0"/>
          </a:p>
        </p:txBody>
      </p:sp>
      <p:sp>
        <p:nvSpPr>
          <p:cNvPr id="82" name="Text 76"/>
          <p:cNvSpPr/>
          <p:nvPr/>
        </p:nvSpPr>
        <p:spPr>
          <a:xfrm>
            <a:off x="6384057" y="2580791"/>
            <a:ext cx="212414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SFT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记忆</a:t>
            </a:r>
            <a:endParaRPr lang="en-US" sz="703" dirty="0"/>
          </a:p>
        </p:txBody>
      </p:sp>
      <p:sp>
        <p:nvSpPr>
          <p:cNvPr id="83" name="Text 77"/>
          <p:cNvSpPr/>
          <p:nvPr/>
        </p:nvSpPr>
        <p:spPr>
          <a:xfrm>
            <a:off x="6241182" y="279510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984" dirty="0"/>
          </a:p>
        </p:txBody>
      </p:sp>
      <p:sp>
        <p:nvSpPr>
          <p:cNvPr id="84" name="Text 78"/>
          <p:cNvSpPr/>
          <p:nvPr/>
        </p:nvSpPr>
        <p:spPr>
          <a:xfrm>
            <a:off x="6384057" y="2773673"/>
            <a:ext cx="212414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RL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泛化</a:t>
            </a:r>
            <a:endParaRPr lang="en-US" sz="703" dirty="0"/>
          </a:p>
        </p:txBody>
      </p:sp>
      <p:sp>
        <p:nvSpPr>
          <p:cNvPr id="85" name="Text 79"/>
          <p:cNvSpPr/>
          <p:nvPr/>
        </p:nvSpPr>
        <p:spPr>
          <a:xfrm>
            <a:off x="6241182" y="2987985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984" dirty="0"/>
          </a:p>
        </p:txBody>
      </p:sp>
      <p:sp>
        <p:nvSpPr>
          <p:cNvPr id="86" name="Text 80"/>
          <p:cNvSpPr/>
          <p:nvPr/>
        </p:nvSpPr>
        <p:spPr>
          <a:xfrm>
            <a:off x="6384057" y="2966554"/>
            <a:ext cx="212414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在轨蒸馏</a:t>
            </a:r>
            <a:endParaRPr lang="en-US" sz="703" dirty="0"/>
          </a:p>
        </p:txBody>
      </p:sp>
      <p:sp>
        <p:nvSpPr>
          <p:cNvPr id="87" name="Text 81"/>
          <p:cNvSpPr/>
          <p:nvPr/>
        </p:nvSpPr>
        <p:spPr>
          <a:xfrm>
            <a:off x="6241182" y="3871020"/>
            <a:ext cx="57614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18" kern="0" dirty="0">
                <a:solidFill>
                  <a:srgbClr val="F5F1E8">
                    <a:alpha val="2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对应章节</a:t>
            </a:r>
            <a:endParaRPr lang="en-US" sz="700" dirty="0"/>
          </a:p>
        </p:txBody>
      </p:sp>
      <p:sp>
        <p:nvSpPr>
          <p:cNvPr id="88" name="Text 82"/>
          <p:cNvSpPr/>
          <p:nvPr/>
        </p:nvSpPr>
        <p:spPr>
          <a:xfrm>
            <a:off x="6665565" y="3846909"/>
            <a:ext cx="1842641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ch8</a:t>
            </a:r>
            <a:endParaRPr lang="en-US" sz="844" dirty="0"/>
          </a:p>
        </p:txBody>
      </p:sp>
      <p:sp>
        <p:nvSpPr>
          <p:cNvPr id="89" name="Text 83"/>
          <p:cNvSpPr/>
          <p:nvPr/>
        </p:nvSpPr>
        <p:spPr>
          <a:xfrm>
            <a:off x="6241182" y="4050506"/>
            <a:ext cx="2267024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703" b="1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可回滚程度最低，需本地 </a:t>
            </a:r>
            <a:pPr algn="l" indent="0" marL="0">
              <a:lnSpc>
                <a:spcPts val="1280"/>
              </a:lnSpc>
              <a:buNone/>
            </a:pPr>
            <a:r>
              <a:rPr lang="en-US" sz="703" b="1" dirty="0">
                <a:solidFill>
                  <a:srgbClr val="67E8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GPU</a:t>
            </a:r>
            <a:pPr algn="l" indent="0" marL="0">
              <a:lnSpc>
                <a:spcPts val="1280"/>
              </a:lnSpc>
              <a:buNone/>
            </a:pPr>
            <a:r>
              <a:rPr lang="en-US" sz="703" b="1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</a:t>
            </a:r>
            <a:pPr algn="l" indent="0" marL="0">
              <a:lnSpc>
                <a:spcPts val="1280"/>
              </a:lnSpc>
              <a:buNone/>
            </a:pPr>
            <a:r>
              <a:rPr lang="en-US" sz="703" b="1" dirty="0">
                <a:solidFill>
                  <a:srgbClr val="67E8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Python</a:t>
            </a:r>
            <a:pPr algn="l" indent="0" marL="0">
              <a:lnSpc>
                <a:spcPts val="1280"/>
              </a:lnSpc>
              <a:buNone/>
            </a:pPr>
            <a:r>
              <a:rPr lang="en-US" sz="703" b="1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280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3.12+</a:t>
            </a:r>
            <a:pPr algn="l" indent="0" marL="0">
              <a:lnSpc>
                <a:spcPts val="1280"/>
              </a:lnSpc>
              <a:buNone/>
            </a:pPr>
            <a:r>
              <a:rPr lang="en-US" sz="703" b="1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pPr algn="l" indent="0" marL="0">
              <a:lnSpc>
                <a:spcPts val="1280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--extra vllm/unsloth</a:t>
            </a:r>
            <a:pPr algn="l" indent="0" marL="0">
              <a:lnSpc>
                <a:spcPts val="1280"/>
              </a:lnSpc>
              <a:buNone/>
            </a:pPr>
            <a:r>
              <a:rPr lang="en-US" sz="703" b="1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703" dirty="0"/>
          </a:p>
        </p:txBody>
      </p:sp>
      <p:sp>
        <p:nvSpPr>
          <p:cNvPr id="90" name="Text 84"/>
          <p:cNvSpPr/>
          <p:nvPr/>
        </p:nvSpPr>
        <p:spPr>
          <a:xfrm>
            <a:off x="6241182" y="4536281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67E8F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1055" dirty="0"/>
          </a:p>
        </p:txBody>
      </p:sp>
      <p:sp>
        <p:nvSpPr>
          <p:cNvPr id="91" name="Text 85"/>
          <p:cNvSpPr/>
          <p:nvPr/>
        </p:nvSpPr>
        <p:spPr>
          <a:xfrm>
            <a:off x="6398344" y="4521994"/>
            <a:ext cx="210986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F5F1E8">
                    <a:alpha val="4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改前问一句：这个改动，撤销的代价是多少？</a:t>
            </a:r>
            <a:endParaRPr lang="en-US" sz="70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794" y="4196953"/>
            <a:ext cx="2252625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45632" y="4021038"/>
            <a:ext cx="2252625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55469" y="4196953"/>
            <a:ext cx="2252737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1488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433090"/>
            <a:ext cx="163820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spc="225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实践路线 · 上半场</a:t>
            </a:r>
            <a:endParaRPr lang="en-US" sz="703" dirty="0"/>
          </a:p>
        </p:txBody>
      </p:sp>
      <p:sp>
        <p:nvSpPr>
          <p:cNvPr id="7" name="Text 5"/>
          <p:cNvSpPr/>
          <p:nvPr/>
        </p:nvSpPr>
        <p:spPr>
          <a:xfrm>
            <a:off x="457200" y="671513"/>
            <a:ext cx="2640862" cy="382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构建期：第 </a:t>
            </a:r>
            <a:pPr algn="l" indent="0" marL="0">
              <a:lnSpc>
                <a:spcPts val="2565"/>
              </a:lnSpc>
              <a:buNone/>
            </a:pPr>
            <a:r>
              <a:rPr lang="en-US" sz="2138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1–4</a:t>
            </a:r>
            <a:pPr algn="l" indent="0" marL="0">
              <a:lnSpc>
                <a:spcPts val="2565"/>
              </a:lnSpc>
              <a:buNone/>
            </a:pPr>
            <a:r>
              <a:rPr lang="en-US" sz="2138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周</a:t>
            </a:r>
            <a:endParaRPr lang="en-US" sz="2138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0098"/>
            <a:ext cx="800100" cy="142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00813" y="457200"/>
            <a:ext cx="328613" cy="42863"/>
          </a:xfrm>
          <a:prstGeom prst="roundRect">
            <a:avLst>
              <a:gd name="adj" fmla="val 22199741"/>
            </a:avLst>
          </a:prstGeom>
          <a:solidFill>
            <a:srgbClr val="22D3EE"/>
          </a:solidFill>
          <a:ln/>
          <a:effectLst>
            <a:outerShdw sx="100000" sy="100000" kx="0" ky="0" algn="bl" rotWithShape="0" blurRad="95250" dist="50800" dir="16200000">
              <a:srgbClr val="22D3EE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872288" y="457200"/>
            <a:ext cx="328613" cy="42863"/>
          </a:xfrm>
          <a:prstGeom prst="roundRect">
            <a:avLst>
              <a:gd name="adj" fmla="val 22199741"/>
            </a:avLst>
          </a:prstGeom>
          <a:solidFill>
            <a:srgbClr val="22D3EE"/>
          </a:solidFill>
          <a:ln/>
          <a:effectLst>
            <a:outerShdw sx="100000" sy="100000" kx="0" ky="0" algn="bl" rotWithShape="0" blurRad="95250" dist="50800" dir="16200000">
              <a:srgbClr val="22D3EE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243763" y="457200"/>
            <a:ext cx="328613" cy="42863"/>
          </a:xfrm>
          <a:prstGeom prst="roundRect">
            <a:avLst>
              <a:gd name="adj" fmla="val 22199741"/>
            </a:avLst>
          </a:prstGeom>
          <a:solidFill>
            <a:srgbClr val="22D3EE"/>
          </a:solidFill>
          <a:ln/>
          <a:effectLst>
            <a:outerShdw sx="100000" sy="100000" kx="0" ky="0" algn="bl" rotWithShape="0" blurRad="95250" dist="50800" dir="16200000">
              <a:srgbClr val="22D3EE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615238" y="457200"/>
            <a:ext cx="328613" cy="42863"/>
          </a:xfrm>
          <a:prstGeom prst="roundRect">
            <a:avLst>
              <a:gd name="adj" fmla="val 22199741"/>
            </a:avLst>
          </a:prstGeom>
          <a:solidFill>
            <a:srgbClr val="94A3B8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986713" y="457200"/>
            <a:ext cx="328613" cy="42863"/>
          </a:xfrm>
          <a:prstGeom prst="roundRect">
            <a:avLst>
              <a:gd name="adj" fmla="val 22199741"/>
            </a:avLst>
          </a:prstGeom>
          <a:solidFill>
            <a:srgbClr val="94A3B8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358188" y="457200"/>
            <a:ext cx="328613" cy="42863"/>
          </a:xfrm>
          <a:prstGeom prst="roundRect">
            <a:avLst>
              <a:gd name="adj" fmla="val 22199741"/>
            </a:avLst>
          </a:prstGeom>
          <a:solidFill>
            <a:srgbClr val="94A3B8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402229" y="557213"/>
            <a:ext cx="5257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773704" y="557213"/>
            <a:ext cx="5257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145179" y="557213"/>
            <a:ext cx="5257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516654" y="557213"/>
            <a:ext cx="5257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888129" y="557213"/>
            <a:ext cx="5257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259604" y="557213"/>
            <a:ext cx="5257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500813" y="712589"/>
            <a:ext cx="189711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30" kern="0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构建期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8412212" y="712589"/>
            <a:ext cx="439341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30" kern="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提升期</a:t>
            </a:r>
            <a:endParaRPr lang="en-US" sz="7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3" y="1597298"/>
            <a:ext cx="8186738" cy="1428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57200" y="1575867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16200000">
              <a:srgbClr val="22D3EE">
                <a:alpha val="5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614363" y="1440135"/>
            <a:ext cx="633115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588" dirty="0">
                <a:solidFill>
                  <a:srgbClr val="FFFFFF">
                    <a:alpha val="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2588" dirty="0"/>
          </a:p>
        </p:txBody>
      </p:sp>
      <p:sp>
        <p:nvSpPr>
          <p:cNvPr id="26" name="Text 22"/>
          <p:cNvSpPr/>
          <p:nvPr/>
        </p:nvSpPr>
        <p:spPr>
          <a:xfrm>
            <a:off x="1110072" y="1393344"/>
            <a:ext cx="276151" cy="190024"/>
          </a:xfrm>
          <a:prstGeom prst="roundRect">
            <a:avLst>
              <a:gd name="adj" fmla="val 5007512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1110072" y="1403524"/>
            <a:ext cx="276151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W1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1443372" y="1432099"/>
            <a:ext cx="446484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42" kern="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</a:t>
            </a:r>
            <a:endParaRPr lang="en-US" sz="700" dirty="0"/>
          </a:p>
        </p:txBody>
      </p:sp>
      <p:sp>
        <p:nvSpPr>
          <p:cNvPr id="29" name="Text 25"/>
          <p:cNvSpPr/>
          <p:nvPr/>
        </p:nvSpPr>
        <p:spPr>
          <a:xfrm>
            <a:off x="1110072" y="1601763"/>
            <a:ext cx="967518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立框架</a:t>
            </a:r>
            <a:endParaRPr lang="en-US" sz="1069" dirty="0"/>
          </a:p>
        </p:txBody>
      </p:sp>
      <p:sp>
        <p:nvSpPr>
          <p:cNvPr id="30" name="Text 26"/>
          <p:cNvSpPr/>
          <p:nvPr/>
        </p:nvSpPr>
        <p:spPr>
          <a:xfrm>
            <a:off x="3267038" y="1575867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16200000">
              <a:srgbClr val="22D3EE">
                <a:alpha val="5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3424200" y="1440135"/>
            <a:ext cx="633115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588" dirty="0">
                <a:solidFill>
                  <a:srgbClr val="FFFFFF">
                    <a:alpha val="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2588" dirty="0"/>
          </a:p>
        </p:txBody>
      </p:sp>
      <p:sp>
        <p:nvSpPr>
          <p:cNvPr id="32" name="Text 28"/>
          <p:cNvSpPr/>
          <p:nvPr/>
        </p:nvSpPr>
        <p:spPr>
          <a:xfrm>
            <a:off x="3919910" y="1393344"/>
            <a:ext cx="366452" cy="190024"/>
          </a:xfrm>
          <a:prstGeom prst="roundRect">
            <a:avLst>
              <a:gd name="adj" fmla="val 5007512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3919910" y="1403524"/>
            <a:ext cx="366452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W2–3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4343512" y="1432099"/>
            <a:ext cx="446484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42" kern="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</a:t>
            </a:r>
            <a:endParaRPr lang="en-US" sz="700" dirty="0"/>
          </a:p>
        </p:txBody>
      </p:sp>
      <p:sp>
        <p:nvSpPr>
          <p:cNvPr id="35" name="Text 31"/>
          <p:cNvSpPr/>
          <p:nvPr/>
        </p:nvSpPr>
        <p:spPr>
          <a:xfrm>
            <a:off x="3919910" y="1601763"/>
            <a:ext cx="1110195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眼睛主线</a:t>
            </a:r>
            <a:endParaRPr lang="en-US" sz="1069" dirty="0"/>
          </a:p>
        </p:txBody>
      </p:sp>
      <p:sp>
        <p:nvSpPr>
          <p:cNvPr id="36" name="Text 32"/>
          <p:cNvSpPr/>
          <p:nvPr/>
        </p:nvSpPr>
        <p:spPr>
          <a:xfrm>
            <a:off x="6076876" y="1575867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16200000">
              <a:srgbClr val="22D3EE">
                <a:alpha val="5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6234038" y="1440135"/>
            <a:ext cx="633115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588" dirty="0">
                <a:solidFill>
                  <a:srgbClr val="FFFFFF">
                    <a:alpha val="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2588" dirty="0"/>
          </a:p>
        </p:txBody>
      </p:sp>
      <p:sp>
        <p:nvSpPr>
          <p:cNvPr id="38" name="Text 34"/>
          <p:cNvSpPr/>
          <p:nvPr/>
        </p:nvSpPr>
        <p:spPr>
          <a:xfrm>
            <a:off x="6729747" y="1393344"/>
            <a:ext cx="276151" cy="190024"/>
          </a:xfrm>
          <a:prstGeom prst="roundRect">
            <a:avLst>
              <a:gd name="adj" fmla="val 5007512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6729747" y="1403524"/>
            <a:ext cx="276151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W4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7063048" y="1432099"/>
            <a:ext cx="446484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42" kern="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</a:t>
            </a:r>
            <a:endParaRPr lang="en-US" sz="700" dirty="0"/>
          </a:p>
        </p:txBody>
      </p:sp>
      <p:sp>
        <p:nvSpPr>
          <p:cNvPr id="41" name="Text 37"/>
          <p:cNvSpPr/>
          <p:nvPr/>
        </p:nvSpPr>
        <p:spPr>
          <a:xfrm>
            <a:off x="6729747" y="1601763"/>
            <a:ext cx="967518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手脚主线</a:t>
            </a:r>
            <a:endParaRPr lang="en-US" sz="1069" dirty="0"/>
          </a:p>
        </p:txBody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40198"/>
            <a:ext cx="2609813" cy="2846115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460772" y="1943770"/>
            <a:ext cx="2602669" cy="2838971"/>
          </a:xfrm>
          <a:prstGeom prst="roundRect">
            <a:avLst>
              <a:gd name="adj" fmla="val 5124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635794" y="2104504"/>
            <a:ext cx="2252625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77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</a:t>
            </a:r>
            <a:endParaRPr lang="en-US" sz="700" dirty="0"/>
          </a:p>
        </p:txBody>
      </p:sp>
      <p:sp>
        <p:nvSpPr>
          <p:cNvPr id="45" name="Text 40"/>
          <p:cNvSpPr/>
          <p:nvPr/>
        </p:nvSpPr>
        <p:spPr>
          <a:xfrm>
            <a:off x="635794" y="2274168"/>
            <a:ext cx="2252625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精读第 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F5F1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章与引言</a:t>
            </a:r>
            <a:endParaRPr lang="en-US" sz="844" dirty="0"/>
          </a:p>
        </p:txBody>
      </p:sp>
      <p:sp>
        <p:nvSpPr>
          <p:cNvPr id="46" name="Text 41"/>
          <p:cNvSpPr/>
          <p:nvPr/>
        </p:nvSpPr>
        <p:spPr>
          <a:xfrm>
            <a:off x="635794" y="2584921"/>
            <a:ext cx="225262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77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</a:t>
            </a:r>
            <a:endParaRPr lang="en-US" sz="700" dirty="0"/>
          </a:p>
        </p:txBody>
      </p:sp>
      <p:sp>
        <p:nvSpPr>
          <p:cNvPr id="47" name="Text 42"/>
          <p:cNvSpPr/>
          <p:nvPr/>
        </p:nvSpPr>
        <p:spPr>
          <a:xfrm>
            <a:off x="612934" y="2752407"/>
            <a:ext cx="911230" cy="174022"/>
          </a:xfrm>
          <a:prstGeom prst="roundRect">
            <a:avLst>
              <a:gd name="adj" fmla="val 32841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3"/>
          <p:cNvSpPr/>
          <p:nvPr/>
        </p:nvSpPr>
        <p:spPr>
          <a:xfrm>
            <a:off x="635794" y="2761729"/>
            <a:ext cx="86551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chapter1/context</a:t>
            </a:r>
            <a:endParaRPr lang="en-US" sz="800" dirty="0"/>
          </a:p>
        </p:txBody>
      </p:sp>
      <p:sp>
        <p:nvSpPr>
          <p:cNvPr id="49" name="Text 44"/>
          <p:cNvSpPr/>
          <p:nvPr/>
        </p:nvSpPr>
        <p:spPr>
          <a:xfrm>
            <a:off x="635794" y="2981399"/>
            <a:ext cx="2252625" cy="159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用代码指出 </a:t>
            </a:r>
            <a:pPr algn="l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Harness</a:t>
            </a:r>
            <a:pPr algn="l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五要素对应哪些行</a:t>
            </a:r>
            <a:endParaRPr lang="en-US" sz="703" dirty="0"/>
          </a:p>
        </p:txBody>
      </p:sp>
      <p:sp>
        <p:nvSpPr>
          <p:cNvPr id="50" name="Text 45"/>
          <p:cNvSpPr/>
          <p:nvPr/>
        </p:nvSpPr>
        <p:spPr>
          <a:xfrm>
            <a:off x="635794" y="4300538"/>
            <a:ext cx="2252625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77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</a:t>
            </a:r>
            <a:endParaRPr lang="en-US" sz="700" dirty="0"/>
          </a:p>
        </p:txBody>
      </p:sp>
      <p:sp>
        <p:nvSpPr>
          <p:cNvPr id="51" name="Text 46"/>
          <p:cNvSpPr/>
          <p:nvPr/>
        </p:nvSpPr>
        <p:spPr>
          <a:xfrm>
            <a:off x="635794" y="4470202"/>
            <a:ext cx="2252625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《第 </a:t>
            </a:r>
            <a:pPr algn="l" indent="0" marL="0">
              <a:lnSpc>
                <a:spcPts val="1360"/>
              </a:lnSpc>
              <a:buNone/>
            </a:pPr>
            <a:r>
              <a:rPr lang="en-US" sz="800" dirty="0">
                <a:solidFill>
                  <a:srgbClr val="F5F1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pPr algn="l" indent="0" marL="0">
              <a:lnSpc>
                <a:spcPts val="136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章精读笔记：公式三层理解 + 五模式卡片》</a:t>
            </a:r>
            <a:endParaRPr lang="en-US" sz="703" dirty="0"/>
          </a:p>
        </p:txBody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7038" y="1940198"/>
            <a:ext cx="2609813" cy="2846115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3270610" y="1943770"/>
            <a:ext cx="2602669" cy="2838971"/>
          </a:xfrm>
          <a:prstGeom prst="roundRect">
            <a:avLst>
              <a:gd name="adj" fmla="val 5124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8"/>
          <p:cNvSpPr/>
          <p:nvPr/>
        </p:nvSpPr>
        <p:spPr>
          <a:xfrm>
            <a:off x="3445632" y="2104504"/>
            <a:ext cx="2252625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77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</a:t>
            </a:r>
            <a:endParaRPr lang="en-US" sz="700" dirty="0"/>
          </a:p>
        </p:txBody>
      </p:sp>
      <p:sp>
        <p:nvSpPr>
          <p:cNvPr id="55" name="Text 49"/>
          <p:cNvSpPr/>
          <p:nvPr/>
        </p:nvSpPr>
        <p:spPr>
          <a:xfrm>
            <a:off x="3445632" y="2274168"/>
            <a:ext cx="2252625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精读第 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F5F1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F5F1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章</a:t>
            </a:r>
            <a:endParaRPr lang="en-US" sz="844" dirty="0"/>
          </a:p>
        </p:txBody>
      </p:sp>
      <p:sp>
        <p:nvSpPr>
          <p:cNvPr id="56" name="Text 50"/>
          <p:cNvSpPr/>
          <p:nvPr/>
        </p:nvSpPr>
        <p:spPr>
          <a:xfrm>
            <a:off x="3445632" y="2584921"/>
            <a:ext cx="225262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77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</a:t>
            </a:r>
            <a:endParaRPr lang="en-US" sz="700" dirty="0"/>
          </a:p>
        </p:txBody>
      </p:sp>
      <p:sp>
        <p:nvSpPr>
          <p:cNvPr id="57" name="Text 51"/>
          <p:cNvSpPr/>
          <p:nvPr/>
        </p:nvSpPr>
        <p:spPr>
          <a:xfrm>
            <a:off x="3445632" y="2752407"/>
            <a:ext cx="504192" cy="174022"/>
          </a:xfrm>
          <a:prstGeom prst="roundRect">
            <a:avLst>
              <a:gd name="adj" fmla="val 32841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2"/>
          <p:cNvSpPr/>
          <p:nvPr/>
        </p:nvSpPr>
        <p:spPr>
          <a:xfrm>
            <a:off x="3434777" y="2761729"/>
            <a:ext cx="5259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kv-cache</a:t>
            </a:r>
            <a:endParaRPr lang="en-US" sz="800" dirty="0"/>
          </a:p>
        </p:txBody>
      </p:sp>
      <p:sp>
        <p:nvSpPr>
          <p:cNvPr id="59" name="Text 53"/>
          <p:cNvSpPr/>
          <p:nvPr/>
        </p:nvSpPr>
        <p:spPr>
          <a:xfrm>
            <a:off x="3992687" y="2792983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F5F1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14" dirty="0"/>
          </a:p>
        </p:txBody>
      </p:sp>
      <p:sp>
        <p:nvSpPr>
          <p:cNvPr id="60" name="Text 54"/>
          <p:cNvSpPr/>
          <p:nvPr/>
        </p:nvSpPr>
        <p:spPr>
          <a:xfrm>
            <a:off x="4128418" y="2752407"/>
            <a:ext cx="1000906" cy="174022"/>
          </a:xfrm>
          <a:prstGeom prst="roundRect">
            <a:avLst>
              <a:gd name="adj" fmla="val 32841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5"/>
          <p:cNvSpPr/>
          <p:nvPr/>
        </p:nvSpPr>
        <p:spPr>
          <a:xfrm>
            <a:off x="4128418" y="2761729"/>
            <a:ext cx="10009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context-compression</a:t>
            </a:r>
            <a:endParaRPr lang="en-US" sz="800" dirty="0"/>
          </a:p>
        </p:txBody>
      </p:sp>
      <p:sp>
        <p:nvSpPr>
          <p:cNvPr id="62" name="Text 56"/>
          <p:cNvSpPr/>
          <p:nvPr/>
        </p:nvSpPr>
        <p:spPr>
          <a:xfrm>
            <a:off x="5172187" y="2792983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F5F1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14" dirty="0"/>
          </a:p>
        </p:txBody>
      </p:sp>
      <p:sp>
        <p:nvSpPr>
          <p:cNvPr id="63" name="Text 57"/>
          <p:cNvSpPr/>
          <p:nvPr/>
        </p:nvSpPr>
        <p:spPr>
          <a:xfrm>
            <a:off x="3445632" y="2950646"/>
            <a:ext cx="865510" cy="174022"/>
          </a:xfrm>
          <a:prstGeom prst="roundRect">
            <a:avLst>
              <a:gd name="adj" fmla="val 32841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58"/>
          <p:cNvSpPr/>
          <p:nvPr/>
        </p:nvSpPr>
        <p:spPr>
          <a:xfrm>
            <a:off x="3445632" y="2959968"/>
            <a:ext cx="86551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prompt-injection</a:t>
            </a:r>
            <a:endParaRPr lang="en-US" sz="800" dirty="0"/>
          </a:p>
        </p:txBody>
      </p:sp>
      <p:sp>
        <p:nvSpPr>
          <p:cNvPr id="65" name="Text 59"/>
          <p:cNvSpPr/>
          <p:nvPr/>
        </p:nvSpPr>
        <p:spPr>
          <a:xfrm>
            <a:off x="4354004" y="2991222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F5F1E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14" dirty="0"/>
          </a:p>
        </p:txBody>
      </p:sp>
      <p:sp>
        <p:nvSpPr>
          <p:cNvPr id="66" name="Text 60"/>
          <p:cNvSpPr/>
          <p:nvPr/>
        </p:nvSpPr>
        <p:spPr>
          <a:xfrm>
            <a:off x="4489735" y="2950646"/>
            <a:ext cx="639700" cy="174022"/>
          </a:xfrm>
          <a:prstGeom prst="roundRect">
            <a:avLst>
              <a:gd name="adj" fmla="val 32841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1"/>
          <p:cNvSpPr/>
          <p:nvPr/>
        </p:nvSpPr>
        <p:spPr>
          <a:xfrm>
            <a:off x="4453122" y="2959968"/>
            <a:ext cx="71292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user-memory</a:t>
            </a:r>
            <a:endParaRPr lang="en-US" sz="800" dirty="0"/>
          </a:p>
        </p:txBody>
      </p:sp>
      <p:sp>
        <p:nvSpPr>
          <p:cNvPr id="68" name="Text 62"/>
          <p:cNvSpPr/>
          <p:nvPr/>
        </p:nvSpPr>
        <p:spPr>
          <a:xfrm>
            <a:off x="3445632" y="4124623"/>
            <a:ext cx="2252625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77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</a:t>
            </a:r>
            <a:endParaRPr lang="en-US" sz="700" dirty="0"/>
          </a:p>
        </p:txBody>
      </p:sp>
      <p:sp>
        <p:nvSpPr>
          <p:cNvPr id="69" name="Text 63"/>
          <p:cNvSpPr/>
          <p:nvPr/>
        </p:nvSpPr>
        <p:spPr>
          <a:xfrm>
            <a:off x="3445632" y="4294287"/>
            <a:ext cx="2252625" cy="152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《上下文与记忆实验记录》</a:t>
            </a:r>
            <a:endParaRPr lang="en-US" sz="703" dirty="0"/>
          </a:p>
        </p:txBody>
      </p:sp>
      <p:sp>
        <p:nvSpPr>
          <p:cNvPr id="70" name="Text 64"/>
          <p:cNvSpPr/>
          <p:nvPr/>
        </p:nvSpPr>
        <p:spPr>
          <a:xfrm>
            <a:off x="3445632" y="4474666"/>
            <a:ext cx="2252625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六种压缩策略对比表 + 记忆系统生命周期图</a:t>
            </a:r>
            <a:endParaRPr lang="en-US" sz="703" dirty="0"/>
          </a:p>
        </p:txBody>
      </p:sp>
      <p:pic>
        <p:nvPicPr>
          <p:cNvPr id="7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6876" y="1940198"/>
            <a:ext cx="2609924" cy="2846115"/>
          </a:xfrm>
          <a:prstGeom prst="rect">
            <a:avLst/>
          </a:prstGeom>
        </p:spPr>
      </p:pic>
      <p:sp>
        <p:nvSpPr>
          <p:cNvPr id="72" name="Text 65"/>
          <p:cNvSpPr/>
          <p:nvPr/>
        </p:nvSpPr>
        <p:spPr>
          <a:xfrm>
            <a:off x="6080447" y="1943770"/>
            <a:ext cx="2602781" cy="2838971"/>
          </a:xfrm>
          <a:prstGeom prst="roundRect">
            <a:avLst>
              <a:gd name="adj" fmla="val 5123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66"/>
          <p:cNvSpPr/>
          <p:nvPr/>
        </p:nvSpPr>
        <p:spPr>
          <a:xfrm>
            <a:off x="6255469" y="2104504"/>
            <a:ext cx="2252737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77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</a:t>
            </a:r>
            <a:endParaRPr lang="en-US" sz="700" dirty="0"/>
          </a:p>
        </p:txBody>
      </p:sp>
      <p:sp>
        <p:nvSpPr>
          <p:cNvPr id="74" name="Text 67"/>
          <p:cNvSpPr/>
          <p:nvPr/>
        </p:nvSpPr>
        <p:spPr>
          <a:xfrm>
            <a:off x="6255469" y="2274168"/>
            <a:ext cx="2252737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精读第 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F5F1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F5F1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章</a:t>
            </a:r>
            <a:endParaRPr lang="en-US" sz="844" dirty="0"/>
          </a:p>
        </p:txBody>
      </p:sp>
      <p:sp>
        <p:nvSpPr>
          <p:cNvPr id="75" name="Text 68"/>
          <p:cNvSpPr/>
          <p:nvPr/>
        </p:nvSpPr>
        <p:spPr>
          <a:xfrm>
            <a:off x="6255469" y="2584921"/>
            <a:ext cx="2252737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77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</a:t>
            </a:r>
            <a:endParaRPr lang="en-US" sz="700" dirty="0"/>
          </a:p>
        </p:txBody>
      </p:sp>
      <p:sp>
        <p:nvSpPr>
          <p:cNvPr id="76" name="Text 69"/>
          <p:cNvSpPr/>
          <p:nvPr/>
        </p:nvSpPr>
        <p:spPr>
          <a:xfrm>
            <a:off x="6255469" y="2752407"/>
            <a:ext cx="820303" cy="174022"/>
          </a:xfrm>
          <a:prstGeom prst="roundRect">
            <a:avLst>
              <a:gd name="adj" fmla="val 32841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0"/>
          <p:cNvSpPr/>
          <p:nvPr/>
        </p:nvSpPr>
        <p:spPr>
          <a:xfrm>
            <a:off x="6255469" y="2761729"/>
            <a:ext cx="8203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execution-tools</a:t>
            </a:r>
            <a:endParaRPr lang="en-US" sz="800" dirty="0"/>
          </a:p>
        </p:txBody>
      </p:sp>
      <p:sp>
        <p:nvSpPr>
          <p:cNvPr id="78" name="Text 71"/>
          <p:cNvSpPr/>
          <p:nvPr/>
        </p:nvSpPr>
        <p:spPr>
          <a:xfrm>
            <a:off x="7118635" y="2783160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800" dirty="0"/>
          </a:p>
        </p:txBody>
      </p:sp>
      <p:sp>
        <p:nvSpPr>
          <p:cNvPr id="79" name="Text 72"/>
          <p:cNvSpPr/>
          <p:nvPr/>
        </p:nvSpPr>
        <p:spPr>
          <a:xfrm>
            <a:off x="7206704" y="2752407"/>
            <a:ext cx="684795" cy="174022"/>
          </a:xfrm>
          <a:prstGeom prst="roundRect">
            <a:avLst>
              <a:gd name="adj" fmla="val 32841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3"/>
          <p:cNvSpPr/>
          <p:nvPr/>
        </p:nvSpPr>
        <p:spPr>
          <a:xfrm>
            <a:off x="7161468" y="2761729"/>
            <a:ext cx="7752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coding-agent</a:t>
            </a:r>
            <a:endParaRPr lang="en-US" sz="800" dirty="0"/>
          </a:p>
        </p:txBody>
      </p:sp>
      <p:sp>
        <p:nvSpPr>
          <p:cNvPr id="81" name="Text 74"/>
          <p:cNvSpPr/>
          <p:nvPr/>
        </p:nvSpPr>
        <p:spPr>
          <a:xfrm>
            <a:off x="6255469" y="2981399"/>
            <a:ext cx="2252737" cy="159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MCP</a:t>
            </a:r>
            <a:pPr algn="l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Server</a:t>
            </a:r>
            <a:pPr algn="l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全安全链</a:t>
            </a:r>
            <a:endParaRPr lang="en-US" sz="703" dirty="0"/>
          </a:p>
        </p:txBody>
      </p:sp>
      <p:sp>
        <p:nvSpPr>
          <p:cNvPr id="82" name="Text 75"/>
          <p:cNvSpPr/>
          <p:nvPr/>
        </p:nvSpPr>
        <p:spPr>
          <a:xfrm>
            <a:off x="6255469" y="4300538"/>
            <a:ext cx="2252737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77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</a:t>
            </a:r>
            <a:endParaRPr lang="en-US" sz="700" dirty="0"/>
          </a:p>
        </p:txBody>
      </p:sp>
      <p:sp>
        <p:nvSpPr>
          <p:cNvPr id="83" name="Text 76"/>
          <p:cNvSpPr/>
          <p:nvPr/>
        </p:nvSpPr>
        <p:spPr>
          <a:xfrm>
            <a:off x="6255469" y="4470202"/>
            <a:ext cx="2252737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《工具安全链路记录》+ 自定义工具 </a:t>
            </a:r>
            <a:pPr algn="l" indent="0" marL="0">
              <a:lnSpc>
                <a:spcPts val="1360"/>
              </a:lnSpc>
              <a:buNone/>
            </a:pPr>
            <a:r>
              <a:rPr lang="en-US" sz="800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</a:t>
            </a:r>
            <a:endParaRPr lang="en-US" sz="70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506" y="3316263"/>
            <a:ext cx="2271713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36144" y="3323406"/>
            <a:ext cx="2271713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50781" y="3323406"/>
            <a:ext cx="2271713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1488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433090"/>
            <a:ext cx="163820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spc="225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实践路线 · 下半场</a:t>
            </a:r>
            <a:endParaRPr lang="en-US" sz="703" dirty="0"/>
          </a:p>
        </p:txBody>
      </p:sp>
      <p:sp>
        <p:nvSpPr>
          <p:cNvPr id="7" name="Text 5"/>
          <p:cNvSpPr/>
          <p:nvPr/>
        </p:nvSpPr>
        <p:spPr>
          <a:xfrm>
            <a:off x="457200" y="671513"/>
            <a:ext cx="8636000" cy="382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提升与创造期：第 </a:t>
            </a:r>
            <a:pPr algn="l" indent="0" marL="0">
              <a:lnSpc>
                <a:spcPts val="2565"/>
              </a:lnSpc>
              <a:buNone/>
            </a:pPr>
            <a:r>
              <a:rPr lang="en-US" sz="2138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5–10</a:t>
            </a:r>
            <a:pPr algn="l" indent="0" marL="0">
              <a:lnSpc>
                <a:spcPts val="2565"/>
              </a:lnSpc>
              <a:buNone/>
            </a:pPr>
            <a:r>
              <a:rPr lang="en-US" sz="2138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周</a:t>
            </a:r>
            <a:endParaRPr lang="en-US" sz="2138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0098"/>
            <a:ext cx="800100" cy="14288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68698"/>
            <a:ext cx="2600325" cy="25038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0772" y="1372270"/>
            <a:ext cx="2593181" cy="2496741"/>
          </a:xfrm>
          <a:prstGeom prst="roundRect">
            <a:avLst>
              <a:gd name="adj" fmla="val 5341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21506" y="1573188"/>
            <a:ext cx="550605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FFFFFF">
                    <a:alpha val="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2250" dirty="0"/>
          </a:p>
        </p:txBody>
      </p:sp>
      <p:sp>
        <p:nvSpPr>
          <p:cNvPr id="12" name="Text 8"/>
          <p:cNvSpPr/>
          <p:nvPr/>
        </p:nvSpPr>
        <p:spPr>
          <a:xfrm>
            <a:off x="1051359" y="1508537"/>
            <a:ext cx="276151" cy="190024"/>
          </a:xfrm>
          <a:prstGeom prst="roundRect">
            <a:avLst>
              <a:gd name="adj" fmla="val 5007512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1051359" y="1518717"/>
            <a:ext cx="276151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W5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1384660" y="1547292"/>
            <a:ext cx="446484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42" kern="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阶段四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1051359" y="1709812"/>
            <a:ext cx="967518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1069" dirty="0"/>
          </a:p>
        </p:txBody>
      </p:sp>
      <p:sp>
        <p:nvSpPr>
          <p:cNvPr id="16" name="Text 12"/>
          <p:cNvSpPr/>
          <p:nvPr/>
        </p:nvSpPr>
        <p:spPr>
          <a:xfrm>
            <a:off x="621506" y="2006278"/>
            <a:ext cx="2271713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77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1185751" y="2168798"/>
            <a:ext cx="806016" cy="166539"/>
          </a:xfrm>
          <a:prstGeom prst="roundRect">
            <a:avLst>
              <a:gd name="adj" fmla="val 34316"/>
            </a:avLst>
          </a:prstGeom>
          <a:solidFill>
            <a:srgbClr val="22D3EE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621506" y="2168798"/>
            <a:ext cx="2271713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精读 </a:t>
            </a:r>
            <a:pPr algn="l" indent="0" marL="0">
              <a:lnSpc>
                <a:spcPts val="1320"/>
              </a:lnSpc>
              <a:buNone/>
            </a:pPr>
            <a:r>
              <a:rPr lang="en-US" sz="800" dirty="0">
                <a:solidFill>
                  <a:srgbClr val="F5F1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ch7</a:t>
            </a:r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，跑 </a:t>
            </a:r>
            <a:pPr algn="l" indent="0" marL="0">
              <a:lnSpc>
                <a:spcPts val="1320"/>
              </a:lnSpc>
              <a:buNone/>
            </a:pPr>
            <a:r>
              <a:rPr lang="en-US" sz="800" dirty="0">
                <a:solidFill>
                  <a:srgbClr val="67E8F9"/>
                </a:solidFill>
                <a:highlight>
                  <a:srgbClr val="22D3EE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tau2-bench-eval</a:t>
            </a:r>
            <a:endParaRPr lang="en-US" sz="703" dirty="0"/>
          </a:p>
        </p:txBody>
      </p:sp>
      <p:sp>
        <p:nvSpPr>
          <p:cNvPr id="19" name="Text 15"/>
          <p:cNvSpPr/>
          <p:nvPr/>
        </p:nvSpPr>
        <p:spPr>
          <a:xfrm>
            <a:off x="621506" y="2428205"/>
            <a:ext cx="2271713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77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621506" y="2590726"/>
            <a:ext cx="2271713" cy="325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 </a:t>
            </a:r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mini</a:t>
            </a:r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</a:t>
            </a:r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预建评估集（</a:t>
            </a:r>
            <a:pPr algn="l" indent="0" marL="0">
              <a:lnSpc>
                <a:spcPts val="1320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10–20</a:t>
            </a:r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条端到端任务 + 轨迹前缀边界任务，定义边界集与保留集）</a:t>
            </a:r>
            <a:endParaRPr lang="en-US" sz="703" dirty="0"/>
          </a:p>
        </p:txBody>
      </p:sp>
      <p:sp>
        <p:nvSpPr>
          <p:cNvPr id="21" name="Text 17"/>
          <p:cNvSpPr/>
          <p:nvPr/>
        </p:nvSpPr>
        <p:spPr>
          <a:xfrm>
            <a:off x="621506" y="3405560"/>
            <a:ext cx="2271713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77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621506" y="3568080"/>
            <a:ext cx="2271713" cy="154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</a:t>
            </a:r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mini</a:t>
            </a:r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</a:t>
            </a:r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评估集 </a:t>
            </a:r>
            <a:pPr algn="l" indent="0" marL="0">
              <a:lnSpc>
                <a:spcPts val="1320"/>
              </a:lnSpc>
              <a:buNone/>
            </a:pPr>
            <a:r>
              <a:rPr lang="en-US" sz="800" dirty="0">
                <a:solidFill>
                  <a:srgbClr val="F5F1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v1</a:t>
            </a:r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》</a:t>
            </a:r>
            <a:endParaRPr lang="en-US" sz="703" dirty="0"/>
          </a:p>
        </p:txBody>
      </p:sp>
      <p:sp>
        <p:nvSpPr>
          <p:cNvPr id="23" name="Text 19"/>
          <p:cNvSpPr/>
          <p:nvPr/>
        </p:nvSpPr>
        <p:spPr>
          <a:xfrm>
            <a:off x="3057525" y="251348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838" y="1368698"/>
            <a:ext cx="2600325" cy="25038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275409" y="1372270"/>
            <a:ext cx="2593181" cy="2496741"/>
          </a:xfrm>
          <a:prstGeom prst="roundRect">
            <a:avLst>
              <a:gd name="adj" fmla="val 5341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3436144" y="1573188"/>
            <a:ext cx="550605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FFFFFF">
                    <a:alpha val="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2250" dirty="0"/>
          </a:p>
        </p:txBody>
      </p:sp>
      <p:sp>
        <p:nvSpPr>
          <p:cNvPr id="27" name="Text 22"/>
          <p:cNvSpPr/>
          <p:nvPr/>
        </p:nvSpPr>
        <p:spPr>
          <a:xfrm>
            <a:off x="3865997" y="1508537"/>
            <a:ext cx="366452" cy="190024"/>
          </a:xfrm>
          <a:prstGeom prst="roundRect">
            <a:avLst>
              <a:gd name="adj" fmla="val 5007512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3865997" y="1518717"/>
            <a:ext cx="366452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W6–8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4289599" y="1547292"/>
            <a:ext cx="446484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42" kern="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阶段五</a:t>
            </a:r>
            <a:endParaRPr lang="en-US" sz="700" dirty="0"/>
          </a:p>
        </p:txBody>
      </p:sp>
      <p:sp>
        <p:nvSpPr>
          <p:cNvPr id="30" name="Text 25"/>
          <p:cNvSpPr/>
          <p:nvPr/>
        </p:nvSpPr>
        <p:spPr>
          <a:xfrm>
            <a:off x="3865997" y="1709812"/>
            <a:ext cx="1110195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创造</a:t>
            </a:r>
            <a:endParaRPr lang="en-US" sz="1069" dirty="0"/>
          </a:p>
        </p:txBody>
      </p:sp>
      <p:sp>
        <p:nvSpPr>
          <p:cNvPr id="31" name="Text 26"/>
          <p:cNvSpPr/>
          <p:nvPr/>
        </p:nvSpPr>
        <p:spPr>
          <a:xfrm>
            <a:off x="3436144" y="2006278"/>
            <a:ext cx="2271713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77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</a:t>
            </a:r>
            <a:endParaRPr lang="en-US" sz="700" dirty="0"/>
          </a:p>
        </p:txBody>
      </p:sp>
      <p:sp>
        <p:nvSpPr>
          <p:cNvPr id="32" name="Text 27"/>
          <p:cNvSpPr/>
          <p:nvPr/>
        </p:nvSpPr>
        <p:spPr>
          <a:xfrm>
            <a:off x="3436144" y="2168798"/>
            <a:ext cx="2271713" cy="325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 </a:t>
            </a:r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coding</a:t>
            </a:r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</a:t>
            </a:r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参照第 </a:t>
            </a:r>
            <a:pPr algn="l" indent="0" marL="0">
              <a:lnSpc>
                <a:spcPts val="1320"/>
              </a:lnSpc>
              <a:buNone/>
            </a:pPr>
            <a:r>
              <a:rPr lang="en-US" sz="800" dirty="0">
                <a:solidFill>
                  <a:srgbClr val="F5F1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1–5</a:t>
            </a:r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章从头实现 </a:t>
            </a:r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mini</a:t>
            </a:r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coding</a:t>
            </a:r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</a:t>
            </a:r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（文件系统+终端+编辑+</a:t>
            </a:r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ReAct</a:t>
            </a:r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703" dirty="0"/>
          </a:p>
        </p:txBody>
      </p:sp>
      <p:sp>
        <p:nvSpPr>
          <p:cNvPr id="33" name="Text 28"/>
          <p:cNvSpPr/>
          <p:nvPr/>
        </p:nvSpPr>
        <p:spPr>
          <a:xfrm>
            <a:off x="3436144" y="2563490"/>
            <a:ext cx="2271713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77" kern="0" dirty="0">
                <a:solidFill>
                  <a:srgbClr val="22D3E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GPU</a:t>
            </a:r>
            <a:pPr algn="l" indent="0" marL="0">
              <a:lnSpc>
                <a:spcPts val="886"/>
              </a:lnSpc>
              <a:buNone/>
            </a:pPr>
            <a:r>
              <a:rPr lang="en-US" sz="700" spc="177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主场</a:t>
            </a:r>
            <a:endParaRPr lang="en-US" sz="700" dirty="0"/>
          </a:p>
        </p:txBody>
      </p:sp>
      <p:sp>
        <p:nvSpPr>
          <p:cNvPr id="34" name="Text 29"/>
          <p:cNvSpPr/>
          <p:nvPr/>
        </p:nvSpPr>
        <p:spPr>
          <a:xfrm>
            <a:off x="3436144" y="2726010"/>
            <a:ext cx="2271713" cy="1627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ch8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3436144" y="2906890"/>
            <a:ext cx="851222" cy="174022"/>
          </a:xfrm>
          <a:prstGeom prst="roundRect">
            <a:avLst>
              <a:gd name="adj" fmla="val 32841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3436144" y="2916213"/>
            <a:ext cx="85122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cot-distillation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4330229" y="2906890"/>
            <a:ext cx="806016" cy="174022"/>
          </a:xfrm>
          <a:prstGeom prst="roundRect">
            <a:avLst>
              <a:gd name="adj" fmla="val 32841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4330229" y="2916213"/>
            <a:ext cx="8060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curly-quote-sft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3436144" y="3114452"/>
            <a:ext cx="22717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--extra vllm/unsloth</a:t>
            </a:r>
            <a:endParaRPr lang="en-US" sz="800" dirty="0"/>
          </a:p>
        </p:txBody>
      </p:sp>
      <p:sp>
        <p:nvSpPr>
          <p:cNvPr id="40" name="Text 35"/>
          <p:cNvSpPr/>
          <p:nvPr/>
        </p:nvSpPr>
        <p:spPr>
          <a:xfrm>
            <a:off x="3436144" y="3412703"/>
            <a:ext cx="2271713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77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</a:t>
            </a:r>
            <a:endParaRPr lang="en-US" sz="700" dirty="0"/>
          </a:p>
        </p:txBody>
      </p:sp>
      <p:sp>
        <p:nvSpPr>
          <p:cNvPr id="41" name="Text 36"/>
          <p:cNvSpPr/>
          <p:nvPr/>
        </p:nvSpPr>
        <p:spPr>
          <a:xfrm>
            <a:off x="3436144" y="3575224"/>
            <a:ext cx="2271713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</a:t>
            </a:r>
            <a:pPr algn="l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mini</a:t>
            </a:r>
            <a:pPr algn="l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</a:t>
            </a:r>
            <a:pPr algn="l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设计文档与迭代日志》</a:t>
            </a:r>
            <a:endParaRPr lang="en-US" sz="703" dirty="0"/>
          </a:p>
        </p:txBody>
      </p:sp>
      <p:sp>
        <p:nvSpPr>
          <p:cNvPr id="42" name="Text 37"/>
          <p:cNvSpPr/>
          <p:nvPr/>
        </p:nvSpPr>
        <p:spPr>
          <a:xfrm>
            <a:off x="5872163" y="251348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6475" y="1368698"/>
            <a:ext cx="2600325" cy="2503884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6090047" y="1372270"/>
            <a:ext cx="2593181" cy="2496741"/>
          </a:xfrm>
          <a:prstGeom prst="roundRect">
            <a:avLst>
              <a:gd name="adj" fmla="val 5341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6250781" y="1573188"/>
            <a:ext cx="550605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FFFFFF">
                    <a:alpha val="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2250" dirty="0"/>
          </a:p>
        </p:txBody>
      </p:sp>
      <p:sp>
        <p:nvSpPr>
          <p:cNvPr id="46" name="Text 40"/>
          <p:cNvSpPr/>
          <p:nvPr/>
        </p:nvSpPr>
        <p:spPr>
          <a:xfrm>
            <a:off x="6680634" y="1508537"/>
            <a:ext cx="411547" cy="190024"/>
          </a:xfrm>
          <a:prstGeom prst="roundRect">
            <a:avLst>
              <a:gd name="adj" fmla="val 5007512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6680634" y="1518717"/>
            <a:ext cx="411547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W9–10</a:t>
            </a:r>
            <a:endParaRPr lang="en-US" sz="800" dirty="0"/>
          </a:p>
        </p:txBody>
      </p:sp>
      <p:sp>
        <p:nvSpPr>
          <p:cNvPr id="48" name="Text 42"/>
          <p:cNvSpPr/>
          <p:nvPr/>
        </p:nvSpPr>
        <p:spPr>
          <a:xfrm>
            <a:off x="7149331" y="1547292"/>
            <a:ext cx="446484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42" kern="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阶段六</a:t>
            </a:r>
            <a:endParaRPr lang="en-US" sz="700" dirty="0"/>
          </a:p>
        </p:txBody>
      </p:sp>
      <p:sp>
        <p:nvSpPr>
          <p:cNvPr id="49" name="Text 43"/>
          <p:cNvSpPr/>
          <p:nvPr/>
        </p:nvSpPr>
        <p:spPr>
          <a:xfrm>
            <a:off x="6680634" y="1709812"/>
            <a:ext cx="1181445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进化</a:t>
            </a:r>
            <a:endParaRPr lang="en-US" sz="1069" dirty="0"/>
          </a:p>
        </p:txBody>
      </p:sp>
      <p:sp>
        <p:nvSpPr>
          <p:cNvPr id="50" name="Text 44"/>
          <p:cNvSpPr/>
          <p:nvPr/>
        </p:nvSpPr>
        <p:spPr>
          <a:xfrm>
            <a:off x="6250781" y="2006278"/>
            <a:ext cx="2271713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77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</a:t>
            </a:r>
            <a:endParaRPr lang="en-US" sz="700" dirty="0"/>
          </a:p>
        </p:txBody>
      </p:sp>
      <p:sp>
        <p:nvSpPr>
          <p:cNvPr id="51" name="Text 45"/>
          <p:cNvSpPr/>
          <p:nvPr/>
        </p:nvSpPr>
        <p:spPr>
          <a:xfrm>
            <a:off x="6976318" y="2168798"/>
            <a:ext cx="986619" cy="166539"/>
          </a:xfrm>
          <a:prstGeom prst="roundRect">
            <a:avLst>
              <a:gd name="adj" fmla="val 34316"/>
            </a:avLst>
          </a:prstGeom>
          <a:solidFill>
            <a:srgbClr val="22D3EE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6"/>
          <p:cNvSpPr/>
          <p:nvPr/>
        </p:nvSpPr>
        <p:spPr>
          <a:xfrm>
            <a:off x="6250781" y="2335337"/>
            <a:ext cx="1077032" cy="166539"/>
          </a:xfrm>
          <a:prstGeom prst="roundRect">
            <a:avLst>
              <a:gd name="adj" fmla="val 34316"/>
            </a:avLst>
          </a:prstGeom>
          <a:solidFill>
            <a:srgbClr val="22D3EE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7"/>
          <p:cNvSpPr/>
          <p:nvPr/>
        </p:nvSpPr>
        <p:spPr>
          <a:xfrm>
            <a:off x="6250781" y="2168798"/>
            <a:ext cx="2271713" cy="359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精读 </a:t>
            </a:r>
            <a:pPr algn="l" indent="0" marL="0">
              <a:lnSpc>
                <a:spcPts val="1320"/>
              </a:lnSpc>
              <a:buNone/>
            </a:pPr>
            <a:r>
              <a:rPr lang="en-US" sz="800" dirty="0">
                <a:solidFill>
                  <a:srgbClr val="F5F1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ch9/10</a:t>
            </a:r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，跑 </a:t>
            </a:r>
            <a:pPr algn="l" indent="0" marL="0">
              <a:lnSpc>
                <a:spcPts val="1320"/>
              </a:lnSpc>
              <a:buNone/>
            </a:pPr>
            <a:r>
              <a:rPr lang="en-US" sz="800" dirty="0">
                <a:solidFill>
                  <a:srgbClr val="67E8F9"/>
                </a:solidFill>
                <a:highlight>
                  <a:srgbClr val="22D3E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trajectory-verifier</a:t>
            </a:r>
            <a:pPr algn="l" indent="0" marL="0">
              <a:lnSpc>
                <a:spcPts val="132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320"/>
              </a:lnSpc>
              <a:buNone/>
            </a:pPr>
            <a:r>
              <a:rPr lang="en-US" sz="800" dirty="0">
                <a:solidFill>
                  <a:srgbClr val="67E8F9"/>
                </a:solidFill>
                <a:highlight>
                  <a:srgbClr val="22D3E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parallel-web-research</a:t>
            </a:r>
            <a:endParaRPr lang="en-US" sz="703" dirty="0"/>
          </a:p>
        </p:txBody>
      </p:sp>
      <p:sp>
        <p:nvSpPr>
          <p:cNvPr id="54" name="Text 48"/>
          <p:cNvSpPr/>
          <p:nvPr/>
        </p:nvSpPr>
        <p:spPr>
          <a:xfrm>
            <a:off x="6250781" y="2594744"/>
            <a:ext cx="2271713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77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</a:t>
            </a:r>
            <a:endParaRPr lang="en-US" sz="700" dirty="0"/>
          </a:p>
        </p:txBody>
      </p:sp>
      <p:sp>
        <p:nvSpPr>
          <p:cNvPr id="55" name="Text 49"/>
          <p:cNvSpPr/>
          <p:nvPr/>
        </p:nvSpPr>
        <p:spPr>
          <a:xfrm>
            <a:off x="6250781" y="2757264"/>
            <a:ext cx="2271713" cy="31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 </a:t>
            </a:r>
            <a:pPr algn="l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mini</a:t>
            </a:r>
            <a:pPr algn="l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</a:t>
            </a:r>
            <a:pPr algn="l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挂上『经验→知识/指令/程序』受控更新回路（提案→审核→灰度→回滚演练）</a:t>
            </a:r>
            <a:endParaRPr lang="en-US" sz="703" dirty="0"/>
          </a:p>
        </p:txBody>
      </p:sp>
      <p:sp>
        <p:nvSpPr>
          <p:cNvPr id="56" name="Text 50"/>
          <p:cNvSpPr/>
          <p:nvPr/>
        </p:nvSpPr>
        <p:spPr>
          <a:xfrm>
            <a:off x="6250781" y="3412703"/>
            <a:ext cx="2271713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77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</a:t>
            </a:r>
            <a:endParaRPr lang="en-US" sz="700" dirty="0"/>
          </a:p>
        </p:txBody>
      </p:sp>
      <p:sp>
        <p:nvSpPr>
          <p:cNvPr id="57" name="Text 51"/>
          <p:cNvSpPr/>
          <p:nvPr/>
        </p:nvSpPr>
        <p:spPr>
          <a:xfrm>
            <a:off x="6250781" y="3575224"/>
            <a:ext cx="2271713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《持续进化闭环设计》</a:t>
            </a:r>
            <a:endParaRPr lang="en-US" sz="703" dirty="0"/>
          </a:p>
        </p:txBody>
      </p:sp>
      <p:pic>
        <p:nvPicPr>
          <p:cNvPr id="5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044032"/>
            <a:ext cx="8229600" cy="989409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460772" y="4047604"/>
            <a:ext cx="8222456" cy="982266"/>
          </a:xfrm>
          <a:prstGeom prst="roundRect">
            <a:avLst>
              <a:gd name="adj" fmla="val 13576"/>
            </a:avLst>
          </a:prstGeom>
          <a:noFill/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3"/>
          <p:cNvSpPr/>
          <p:nvPr/>
        </p:nvSpPr>
        <p:spPr>
          <a:xfrm>
            <a:off x="650081" y="422441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61" name="Text 54"/>
          <p:cNvSpPr/>
          <p:nvPr/>
        </p:nvSpPr>
        <p:spPr>
          <a:xfrm>
            <a:off x="864394" y="4194051"/>
            <a:ext cx="7629525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主线自查清单</a:t>
            </a:r>
            <a:endParaRPr lang="en-US" sz="1069" dirty="0"/>
          </a:p>
        </p:txBody>
      </p:sp>
      <p:sp>
        <p:nvSpPr>
          <p:cNvPr id="62" name="Text 55"/>
          <p:cNvSpPr/>
          <p:nvPr/>
        </p:nvSpPr>
        <p:spPr>
          <a:xfrm>
            <a:off x="644053" y="4497660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63" name="Text 56"/>
          <p:cNvSpPr/>
          <p:nvPr/>
        </p:nvSpPr>
        <p:spPr>
          <a:xfrm>
            <a:off x="829121" y="4497660"/>
            <a:ext cx="2292697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改动的是公式哪个部件？</a:t>
            </a:r>
            <a:endParaRPr lang="en-US" sz="703" dirty="0"/>
          </a:p>
        </p:txBody>
      </p:sp>
      <p:sp>
        <p:nvSpPr>
          <p:cNvPr id="64" name="Text 57"/>
          <p:cNvSpPr/>
          <p:nvPr/>
        </p:nvSpPr>
        <p:spPr>
          <a:xfrm>
            <a:off x="3330103" y="4497660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65" name="Text 58"/>
          <p:cNvSpPr/>
          <p:nvPr/>
        </p:nvSpPr>
        <p:spPr>
          <a:xfrm>
            <a:off x="3515171" y="4497660"/>
            <a:ext cx="2292697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属于哪条更新路径？可回滚与风险匹配吗？</a:t>
            </a:r>
            <a:endParaRPr lang="en-US" sz="703" dirty="0"/>
          </a:p>
        </p:txBody>
      </p:sp>
      <p:sp>
        <p:nvSpPr>
          <p:cNvPr id="66" name="Text 59"/>
          <p:cNvSpPr/>
          <p:nvPr/>
        </p:nvSpPr>
        <p:spPr>
          <a:xfrm>
            <a:off x="6016153" y="4497660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67" name="Text 60"/>
          <p:cNvSpPr/>
          <p:nvPr/>
        </p:nvSpPr>
        <p:spPr>
          <a:xfrm>
            <a:off x="6201221" y="4497660"/>
            <a:ext cx="2292697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五个设计模式出现了哪几个？</a:t>
            </a:r>
            <a:endParaRPr lang="en-US" sz="703" dirty="0"/>
          </a:p>
        </p:txBody>
      </p:sp>
      <p:sp>
        <p:nvSpPr>
          <p:cNvPr id="68" name="Text 61"/>
          <p:cNvSpPr/>
          <p:nvPr/>
        </p:nvSpPr>
        <p:spPr>
          <a:xfrm>
            <a:off x="644053" y="4740548"/>
            <a:ext cx="18422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69" name="Text 62"/>
          <p:cNvSpPr/>
          <p:nvPr/>
        </p:nvSpPr>
        <p:spPr>
          <a:xfrm>
            <a:off x="829121" y="4740548"/>
            <a:ext cx="229269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边界集 + 保留集都测了吗？</a:t>
            </a:r>
            <a:endParaRPr lang="en-US" sz="703" dirty="0"/>
          </a:p>
        </p:txBody>
      </p:sp>
      <p:sp>
        <p:nvSpPr>
          <p:cNvPr id="70" name="Text 63"/>
          <p:cNvSpPr/>
          <p:nvPr/>
        </p:nvSpPr>
        <p:spPr>
          <a:xfrm>
            <a:off x="3330103" y="4740548"/>
            <a:ext cx="18422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71" name="Text 64"/>
          <p:cNvSpPr/>
          <p:nvPr/>
        </p:nvSpPr>
        <p:spPr>
          <a:xfrm>
            <a:off x="3515171" y="4740548"/>
            <a:ext cx="229269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结论有数据支撑吗？</a:t>
            </a:r>
            <a:endParaRPr lang="en-US" sz="703" dirty="0"/>
          </a:p>
        </p:txBody>
      </p:sp>
      <p:sp>
        <p:nvSpPr>
          <p:cNvPr id="72" name="Text 65"/>
          <p:cNvSpPr/>
          <p:nvPr/>
        </p:nvSpPr>
        <p:spPr>
          <a:xfrm>
            <a:off x="6016153" y="4740548"/>
            <a:ext cx="18422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73" name="Text 66"/>
          <p:cNvSpPr/>
          <p:nvPr/>
        </p:nvSpPr>
        <p:spPr>
          <a:xfrm>
            <a:off x="6201221" y="4740548"/>
            <a:ext cx="229269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安全三层是否被波及？</a:t>
            </a:r>
            <a:endParaRPr lang="en-US" sz="70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406" y="2486695"/>
            <a:ext cx="2498638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406" y="3129632"/>
            <a:ext cx="2498638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1500" y="1183965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145567"/>
            <a:ext cx="96029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spc="225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开始行动</a:t>
            </a:r>
            <a:endParaRPr lang="en-US" sz="703" dirty="0"/>
          </a:p>
        </p:txBody>
      </p:sp>
      <p:sp>
        <p:nvSpPr>
          <p:cNvPr id="6" name="Text 4"/>
          <p:cNvSpPr/>
          <p:nvPr/>
        </p:nvSpPr>
        <p:spPr>
          <a:xfrm>
            <a:off x="571500" y="1441140"/>
            <a:ext cx="5015325" cy="109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10"/>
              </a:lnSpc>
              <a:buNone/>
            </a:pPr>
            <a:r>
              <a:rPr lang="en-US" sz="3038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</a:t>
            </a:r>
            <a:pPr algn="l" indent="0" marL="0">
              <a:lnSpc>
                <a:spcPts val="4010"/>
              </a:lnSpc>
              <a:buNone/>
            </a:pPr>
            <a:r>
              <a:rPr lang="en-US" sz="3038" b="1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一个实验</a:t>
            </a:r>
            <a:pPr algn="l" indent="0" marL="0">
              <a:lnSpc>
                <a:spcPts val="4010"/>
              </a:lnSpc>
              <a:buNone/>
            </a:pPr>
            <a:r>
              <a:rPr lang="en-US" sz="3038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开始，</a:t>
            </a:r>
            <a:endParaRPr lang="en-US" sz="3038" dirty="0"/>
          </a:p>
          <a:p>
            <a:pPr algn="l" indent="0" marL="0">
              <a:lnSpc>
                <a:spcPts val="4010"/>
              </a:lnSpc>
              <a:buNone/>
            </a:pPr>
            <a:r>
              <a:rPr lang="en-US" sz="3038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而不是从第十章开始。</a:t>
            </a:r>
            <a:endParaRPr lang="en-US" sz="3038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630798"/>
            <a:ext cx="942975" cy="14288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859398"/>
            <a:ext cx="2993343" cy="5500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5072" y="2862969"/>
            <a:ext cx="2986199" cy="542925"/>
          </a:xfrm>
          <a:prstGeom prst="roundRect">
            <a:avLst>
              <a:gd name="adj" fmla="val 24561"/>
            </a:avLst>
          </a:prstGeom>
          <a:noFill/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764381" y="3041563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828" dirty="0"/>
          </a:p>
        </p:txBody>
      </p:sp>
      <p:sp>
        <p:nvSpPr>
          <p:cNvPr id="11" name="Text 7"/>
          <p:cNvSpPr/>
          <p:nvPr/>
        </p:nvSpPr>
        <p:spPr>
          <a:xfrm>
            <a:off x="1050131" y="2995129"/>
            <a:ext cx="232183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『没有评估，就没有进步。』</a:t>
            </a:r>
            <a:endParaRPr lang="en-US" sz="1463" dirty="0"/>
          </a:p>
        </p:txBody>
      </p:sp>
      <p:sp>
        <p:nvSpPr>
          <p:cNvPr id="12" name="Text 8"/>
          <p:cNvSpPr/>
          <p:nvPr/>
        </p:nvSpPr>
        <p:spPr>
          <a:xfrm>
            <a:off x="571500" y="3609491"/>
            <a:ext cx="4559387" cy="329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上游书仓 </a:t>
            </a:r>
            <a:pPr algn="l" indent="0" marL="0">
              <a:lnSpc>
                <a:spcPts val="1406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github</a:t>
            </a:r>
            <a:pPr algn="l" indent="0" marL="0">
              <a:lnSpc>
                <a:spcPts val="1406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</a:t>
            </a:r>
            <a:pPr algn="l" indent="0" marL="0">
              <a:lnSpc>
                <a:spcPts val="1406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</a:t>
            </a:r>
            <a:pPr algn="l" indent="0" marL="0">
              <a:lnSpc>
                <a:spcPts val="1406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pPr algn="l" indent="0" marL="0">
              <a:lnSpc>
                <a:spcPts val="1406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bojieli</a:t>
            </a:r>
            <a:pPr algn="l" indent="0" marL="0">
              <a:lnSpc>
                <a:spcPts val="1406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pPr algn="l" indent="0" marL="0">
              <a:lnSpc>
                <a:spcPts val="1406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ai-agent-book</a:t>
            </a:r>
            <a:pPr algn="l" indent="0" marL="0">
              <a:lnSpc>
                <a:spcPts val="1406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｜ 学习仓库 </a:t>
            </a:r>
            <a:pPr algn="l" indent="0" marL="0">
              <a:lnSpc>
                <a:spcPts val="1406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github</a:t>
            </a:r>
            <a:pPr algn="l" indent="0" marL="0">
              <a:lnSpc>
                <a:spcPts val="1406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</a:t>
            </a:r>
            <a:pPr algn="l" indent="0" marL="0">
              <a:lnSpc>
                <a:spcPts val="1406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</a:t>
            </a:r>
            <a:pPr algn="l" indent="0" marL="0">
              <a:lnSpc>
                <a:spcPts val="1406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pPr algn="l" indent="0" marL="0">
              <a:lnSpc>
                <a:spcPts val="1406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dongf9527/ai-agent-book</a:t>
            </a:r>
            <a:endParaRPr lang="en-US" sz="703" dirty="0"/>
          </a:p>
        </p:txBody>
      </p:sp>
      <p:sp>
        <p:nvSpPr>
          <p:cNvPr id="13" name="Text 9"/>
          <p:cNvSpPr/>
          <p:nvPr/>
        </p:nvSpPr>
        <p:spPr>
          <a:xfrm>
            <a:off x="571500" y="3966679"/>
            <a:ext cx="4559387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凭据提醒：</a:t>
            </a:r>
            <a:pPr algn="l" indent="0" marL="0">
              <a:lnSpc>
                <a:spcPts val="160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GitHub</a:t>
            </a:r>
            <a:pPr algn="l" indent="0" marL="0">
              <a:lnSpc>
                <a:spcPts val="160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60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Token</a:t>
            </a:r>
            <a:pPr algn="l" indent="0" marL="0">
              <a:lnSpc>
                <a:spcPts val="160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有效期至 </a:t>
            </a:r>
            <a:pPr algn="l" indent="0" marL="0">
              <a:lnSpc>
                <a:spcPts val="1600"/>
              </a:lnSpc>
              <a:buNone/>
            </a:pPr>
            <a:r>
              <a:rPr lang="en-US" sz="800" dirty="0">
                <a:solidFill>
                  <a:srgbClr val="67E8F9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2026-11-23</a:t>
            </a:r>
            <a:pPr algn="l" indent="0" marL="0">
              <a:lnSpc>
                <a:spcPts val="160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，到期前更换（.</a:t>
            </a:r>
            <a:pPr algn="l" indent="0" marL="0">
              <a:lnSpc>
                <a:spcPts val="160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env</a:t>
            </a:r>
            <a:pPr algn="l" indent="0" marL="0">
              <a:lnSpc>
                <a:spcPts val="1600"/>
              </a:lnSpc>
              <a:buNone/>
            </a:pPr>
            <a:r>
              <a:rPr lang="en-US" sz="703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与凭据文件不入库）</a:t>
            </a:r>
            <a:endParaRPr lang="en-US" sz="703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949" y="1395933"/>
            <a:ext cx="2941551" cy="246593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34521" y="1399505"/>
            <a:ext cx="2934407" cy="2458789"/>
          </a:xfrm>
          <a:prstGeom prst="roundRect">
            <a:avLst>
              <a:gd name="adj" fmla="val 5423"/>
            </a:avLst>
          </a:prstGeom>
          <a:noFill/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5852406" y="166382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547" dirty="0"/>
          </a:p>
        </p:txBody>
      </p:sp>
      <p:sp>
        <p:nvSpPr>
          <p:cNvPr id="17" name="Text 12"/>
          <p:cNvSpPr/>
          <p:nvPr/>
        </p:nvSpPr>
        <p:spPr>
          <a:xfrm>
            <a:off x="6081006" y="1603102"/>
            <a:ext cx="2270038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本周行动</a:t>
            </a:r>
            <a:endParaRPr lang="en-US" sz="1463" dirty="0"/>
          </a:p>
        </p:txBody>
      </p:sp>
      <p:sp>
        <p:nvSpPr>
          <p:cNvPr id="18" name="Text 13"/>
          <p:cNvSpPr/>
          <p:nvPr/>
        </p:nvSpPr>
        <p:spPr>
          <a:xfrm>
            <a:off x="5852406" y="1996008"/>
            <a:ext cx="2498638" cy="7144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5852406" y="2188890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16200000">
              <a:srgbClr val="22D3EE">
                <a:alpha val="5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6009568" y="2131740"/>
            <a:ext cx="357902" cy="24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463" dirty="0"/>
          </a:p>
        </p:txBody>
      </p:sp>
      <p:sp>
        <p:nvSpPr>
          <p:cNvPr id="21" name="Text 16"/>
          <p:cNvSpPr/>
          <p:nvPr/>
        </p:nvSpPr>
        <p:spPr>
          <a:xfrm>
            <a:off x="6333269" y="2131740"/>
            <a:ext cx="2017775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精读第 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F5F1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章与引言，写下公式三层理解</a:t>
            </a:r>
            <a:endParaRPr lang="en-US" sz="844" dirty="0"/>
          </a:p>
        </p:txBody>
      </p:sp>
      <p:sp>
        <p:nvSpPr>
          <p:cNvPr id="22" name="Text 17"/>
          <p:cNvSpPr/>
          <p:nvPr/>
        </p:nvSpPr>
        <p:spPr>
          <a:xfrm>
            <a:off x="5852406" y="2676004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16200000">
              <a:srgbClr val="22D3EE">
                <a:alpha val="5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6009568" y="2618854"/>
            <a:ext cx="357902" cy="24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463" dirty="0"/>
          </a:p>
        </p:txBody>
      </p:sp>
      <p:sp>
        <p:nvSpPr>
          <p:cNvPr id="24" name="Text 19"/>
          <p:cNvSpPr/>
          <p:nvPr/>
        </p:nvSpPr>
        <p:spPr>
          <a:xfrm>
            <a:off x="6333269" y="2618854"/>
            <a:ext cx="2017775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跑通 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F5F1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chapter1/context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，标出 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Harness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五要素对应的代码行</a:t>
            </a:r>
            <a:endParaRPr lang="en-US" sz="844" dirty="0"/>
          </a:p>
        </p:txBody>
      </p:sp>
      <p:sp>
        <p:nvSpPr>
          <p:cNvPr id="25" name="Text 20"/>
          <p:cNvSpPr/>
          <p:nvPr/>
        </p:nvSpPr>
        <p:spPr>
          <a:xfrm>
            <a:off x="5852406" y="3318942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16200000">
              <a:srgbClr val="22D3EE">
                <a:alpha val="5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6009568" y="3261792"/>
            <a:ext cx="357902" cy="24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463" dirty="0"/>
          </a:p>
        </p:txBody>
      </p:sp>
      <p:sp>
        <p:nvSpPr>
          <p:cNvPr id="27" name="Text 22"/>
          <p:cNvSpPr/>
          <p:nvPr/>
        </p:nvSpPr>
        <p:spPr>
          <a:xfrm>
            <a:off x="6333269" y="3261792"/>
            <a:ext cx="2017775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docs: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前缀提交首篇精读笔记到 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目录</a:t>
            </a:r>
            <a:endParaRPr lang="en-US" sz="844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29213"/>
            <a:ext cx="9144000" cy="142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2026-10-24T16:30:39Z</dcterms:created>
  <dcterms:modified xsi:type="dcterms:W3CDTF">2026-10-24T16:30:39Z</dcterms:modified>
</cp:coreProperties>
</file>